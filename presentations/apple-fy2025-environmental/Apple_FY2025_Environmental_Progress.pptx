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strategic framing — environmental leadership is not a cost center but a revenue and risk-mitigation engine for premium positioning and enterprise procurement.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year marks a critical inflection point. We have proven that aggressive environmental targets do not stifle growth. In fact, a 60% reduction in gross emissions has occurred alongside sustained revenue growth. These metrics are now key differentiators in both consumer retail and enterprise procurement.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eliminated direct operational carbon risk. Our focus is now on the value chain. Achieving 60% progress toward 2030 neutrality ensures we are ahead of impending global regulatory frameworks regarding Scope 3 emissions reporting.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clients are under immense pressure to reduce their own Scope 3 emissions. By purchasing Apple hardware made with 100% recycled key minerals, our B2B clients instantly lower their procurement footprint. This is a powerful closing tool for our enterprise sales teams.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scarcity and waste disposal are significant operational risks and costs in manufacturing regions. Saving 17 billion gallons and achieving zero waste at final assembly sites secures our supply chain against climate disruptions and reduces utility overhead.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 of our footprint comes from "Product Use"—the energy our customers consume. Through Apple Silicon efficiency, we are drastically lowering the energy bills and downstream emissions for our users. We don't just sell a device; we sell long-term energy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environmental strategy is heavily self-funded and leveraged through favorable green finance instruments. The $4.7B in green bonds not only funds necessary infrastructure but also strengthens our ESG ratings, appealing to institutional investors and lowering our cost of capital.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directing Sales and Marketing to immediately integrate these FY25 wins into their Q3 and Q4 go-to-market strategies. We need to empower our enterprise reps to use our recycled material stats to win RFPs, and equip our retail teams to connect emotionally with consumers.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1097280"/>
            <a:ext cx="10332720" cy="365760"/>
          </a:xfrm>
          <a:prstGeom prst="rect">
            <a:avLst/>
          </a:prstGeom>
          <a:noFill/>
        </p:spPr>
        <p:txBody>
          <a:bodyPr wrap="square">
            <a:spAutoFit/>
          </a:bodyPr>
          <a:lstStyle/>
          <a:p>
            <a:pPr algn="ctr">
              <a:defRPr sz="1200" b="1">
                <a:solidFill>
                  <a:srgbClr val="1A7F37"/>
                </a:solidFill>
              </a:defRPr>
            </a:pPr>
            <a:r>
              <a:t>APPLE 2030</a:t>
            </a:r>
          </a:p>
        </p:txBody>
      </p:sp>
      <p:sp>
        <p:nvSpPr>
          <p:cNvPr id="3" name="TextBox 2"/>
          <p:cNvSpPr txBox="1"/>
          <p:nvPr/>
        </p:nvSpPr>
        <p:spPr>
          <a:xfrm>
            <a:off x="731520" y="1828800"/>
            <a:ext cx="10698480" cy="2011680"/>
          </a:xfrm>
          <a:prstGeom prst="rect">
            <a:avLst/>
          </a:prstGeom>
          <a:noFill/>
        </p:spPr>
        <p:txBody>
          <a:bodyPr wrap="square">
            <a:spAutoFit/>
          </a:bodyPr>
          <a:lstStyle/>
          <a:p>
            <a:pPr algn="ctr">
              <a:defRPr sz="3600" b="1">
                <a:solidFill>
                  <a:srgbClr val="1D1D1F"/>
                </a:solidFill>
              </a:defRPr>
            </a:pPr>
            <a:r>
              <a:t>Apple FY2025:</a:t>
            </a:r>
            <a:br/>
            <a:r>
              <a:t>Environmental Progress as a Business &amp; Sales Driver</a:t>
            </a:r>
          </a:p>
        </p:txBody>
      </p:sp>
      <p:sp>
        <p:nvSpPr>
          <p:cNvPr id="4" name="TextBox 3"/>
          <p:cNvSpPr txBox="1"/>
          <p:nvPr/>
        </p:nvSpPr>
        <p:spPr>
          <a:xfrm>
            <a:off x="914400" y="4114800"/>
            <a:ext cx="10332720" cy="548640"/>
          </a:xfrm>
          <a:prstGeom prst="rect">
            <a:avLst/>
          </a:prstGeom>
          <a:noFill/>
        </p:spPr>
        <p:txBody>
          <a:bodyPr wrap="square">
            <a:spAutoFit/>
          </a:bodyPr>
          <a:lstStyle/>
          <a:p>
            <a:pPr algn="ctr">
              <a:defRPr sz="2200" b="0">
                <a:solidFill>
                  <a:srgbClr val="6E6E73"/>
                </a:solidFill>
              </a:defRPr>
            </a:pPr>
            <a:r>
              <a:t>Decoupling Business Growth from Emissions</a:t>
            </a:r>
          </a:p>
        </p:txBody>
      </p:sp>
      <p:sp>
        <p:nvSpPr>
          <p:cNvPr id="5" name="TextBox 4"/>
          <p:cNvSpPr txBox="1"/>
          <p:nvPr/>
        </p:nvSpPr>
        <p:spPr>
          <a:xfrm>
            <a:off x="457200" y="6400800"/>
            <a:ext cx="11247120" cy="320040"/>
          </a:xfrm>
          <a:prstGeom prst="rect">
            <a:avLst/>
          </a:prstGeom>
          <a:noFill/>
        </p:spPr>
        <p:txBody>
          <a:bodyPr wrap="square">
            <a:spAutoFit/>
          </a:bodyPr>
          <a:lstStyle/>
          <a:p>
            <a:pPr algn="ctr">
              <a:defRPr sz="900" b="0">
                <a:solidFill>
                  <a:srgbClr val="6E6E73"/>
                </a:solidFill>
              </a:defRPr>
            </a:pPr>
            <a:r>
              <a:t>Confidential | Board of Directors &amp; Sales Leadership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731520"/>
          </a:xfrm>
          <a:prstGeom prst="rect">
            <a:avLst/>
          </a:prstGeom>
          <a:noFill/>
        </p:spPr>
        <p:txBody>
          <a:bodyPr wrap="square">
            <a:spAutoFit/>
          </a:bodyPr>
          <a:lstStyle/>
          <a:p>
            <a:pPr algn="l">
              <a:defRPr sz="2800" b="1">
                <a:solidFill>
                  <a:srgbClr val="1D1D1F"/>
                </a:solidFill>
              </a:defRPr>
            </a:pPr>
            <a:r>
              <a:t>FY25 Snapshot: Turning Sustainability into Shareholder Value</a:t>
            </a:r>
          </a:p>
        </p:txBody>
      </p:sp>
      <p:sp>
        <p:nvSpPr>
          <p:cNvPr id="3" name="Rounded Rectangle 2"/>
          <p:cNvSpPr/>
          <p:nvPr/>
        </p:nvSpPr>
        <p:spPr>
          <a:xfrm>
            <a:off x="640080" y="1463040"/>
            <a:ext cx="5303520" cy="192024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4754880" cy="822960"/>
          </a:xfrm>
          <a:prstGeom prst="rect">
            <a:avLst/>
          </a:prstGeom>
          <a:noFill/>
        </p:spPr>
        <p:txBody>
          <a:bodyPr wrap="square">
            <a:spAutoFit/>
          </a:bodyPr>
          <a:lstStyle/>
          <a:p>
            <a:pPr algn="l">
              <a:defRPr sz="4400" b="1">
                <a:solidFill>
                  <a:srgbClr val="1A7F37"/>
                </a:solidFill>
              </a:defRPr>
            </a:pPr>
            <a:r>
              <a:t>60%</a:t>
            </a:r>
          </a:p>
        </p:txBody>
      </p:sp>
      <p:sp>
        <p:nvSpPr>
          <p:cNvPr id="5" name="TextBox 4"/>
          <p:cNvSpPr txBox="1"/>
          <p:nvPr/>
        </p:nvSpPr>
        <p:spPr>
          <a:xfrm>
            <a:off x="914400" y="2468880"/>
            <a:ext cx="4754880" cy="731520"/>
          </a:xfrm>
          <a:prstGeom prst="rect">
            <a:avLst/>
          </a:prstGeom>
          <a:noFill/>
        </p:spPr>
        <p:txBody>
          <a:bodyPr wrap="square">
            <a:spAutoFit/>
          </a:bodyPr>
          <a:lstStyle/>
          <a:p>
            <a:pPr algn="l">
              <a:defRPr sz="1400" b="0">
                <a:solidFill>
                  <a:srgbClr val="1D1D1F"/>
                </a:solidFill>
              </a:defRPr>
            </a:pPr>
            <a:r>
              <a:t>Reduction in gross emissions vs. 2015 baseline — sustained through business growth.</a:t>
            </a:r>
          </a:p>
        </p:txBody>
      </p:sp>
      <p:sp>
        <p:nvSpPr>
          <p:cNvPr id="6" name="Rounded Rectangle 5"/>
          <p:cNvSpPr/>
          <p:nvPr/>
        </p:nvSpPr>
        <p:spPr>
          <a:xfrm>
            <a:off x="6217920" y="1463040"/>
            <a:ext cx="5303520" cy="192024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91640"/>
            <a:ext cx="4754880" cy="822960"/>
          </a:xfrm>
          <a:prstGeom prst="rect">
            <a:avLst/>
          </a:prstGeom>
          <a:noFill/>
        </p:spPr>
        <p:txBody>
          <a:bodyPr wrap="square">
            <a:spAutoFit/>
          </a:bodyPr>
          <a:lstStyle/>
          <a:p>
            <a:pPr algn="l">
              <a:defRPr sz="4400" b="1">
                <a:solidFill>
                  <a:srgbClr val="1A7F37"/>
                </a:solidFill>
              </a:defRPr>
            </a:pPr>
            <a:r>
              <a:t>30%</a:t>
            </a:r>
          </a:p>
        </p:txBody>
      </p:sp>
      <p:sp>
        <p:nvSpPr>
          <p:cNvPr id="8" name="TextBox 7"/>
          <p:cNvSpPr txBox="1"/>
          <p:nvPr/>
        </p:nvSpPr>
        <p:spPr>
          <a:xfrm>
            <a:off x="6492240" y="2468880"/>
            <a:ext cx="4754880" cy="731520"/>
          </a:xfrm>
          <a:prstGeom prst="rect">
            <a:avLst/>
          </a:prstGeom>
          <a:noFill/>
        </p:spPr>
        <p:txBody>
          <a:bodyPr wrap="square">
            <a:spAutoFit/>
          </a:bodyPr>
          <a:lstStyle/>
          <a:p>
            <a:pPr algn="l">
              <a:defRPr sz="1400" b="0">
                <a:solidFill>
                  <a:srgbClr val="1D1D1F"/>
                </a:solidFill>
              </a:defRPr>
            </a:pPr>
            <a:r>
              <a:t>Of total materials shipped are now recycled or renewable.</a:t>
            </a:r>
          </a:p>
        </p:txBody>
      </p:sp>
      <p:sp>
        <p:nvSpPr>
          <p:cNvPr id="9" name="Rounded Rectangle 8"/>
          <p:cNvSpPr/>
          <p:nvPr/>
        </p:nvSpPr>
        <p:spPr>
          <a:xfrm>
            <a:off x="640080" y="3657600"/>
            <a:ext cx="5303520" cy="192024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86200"/>
            <a:ext cx="4754880" cy="822960"/>
          </a:xfrm>
          <a:prstGeom prst="rect">
            <a:avLst/>
          </a:prstGeom>
          <a:noFill/>
        </p:spPr>
        <p:txBody>
          <a:bodyPr wrap="square">
            <a:spAutoFit/>
          </a:bodyPr>
          <a:lstStyle/>
          <a:p>
            <a:pPr algn="l">
              <a:defRPr sz="4400" b="1">
                <a:solidFill>
                  <a:srgbClr val="1A7F37"/>
                </a:solidFill>
              </a:defRPr>
            </a:pPr>
            <a:r>
              <a:t>100%</a:t>
            </a:r>
          </a:p>
        </p:txBody>
      </p:sp>
      <p:sp>
        <p:nvSpPr>
          <p:cNvPr id="11" name="TextBox 10"/>
          <p:cNvSpPr txBox="1"/>
          <p:nvPr/>
        </p:nvSpPr>
        <p:spPr>
          <a:xfrm>
            <a:off x="914400" y="4663440"/>
            <a:ext cx="4754880" cy="731520"/>
          </a:xfrm>
          <a:prstGeom prst="rect">
            <a:avLst/>
          </a:prstGeom>
          <a:noFill/>
        </p:spPr>
        <p:txBody>
          <a:bodyPr wrap="square">
            <a:spAutoFit/>
          </a:bodyPr>
          <a:lstStyle/>
          <a:p>
            <a:pPr algn="l">
              <a:defRPr sz="1400" b="0">
                <a:solidFill>
                  <a:srgbClr val="1D1D1F"/>
                </a:solidFill>
              </a:defRPr>
            </a:pPr>
            <a:r>
              <a:t>Plastic-free product packaging — fully fiber-based.</a:t>
            </a:r>
          </a:p>
        </p:txBody>
      </p:sp>
      <p:sp>
        <p:nvSpPr>
          <p:cNvPr id="12" name="Rounded Rectangle 11"/>
          <p:cNvSpPr/>
          <p:nvPr/>
        </p:nvSpPr>
        <p:spPr>
          <a:xfrm>
            <a:off x="6217920" y="3657600"/>
            <a:ext cx="5303520" cy="192024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886200"/>
            <a:ext cx="4754880" cy="822960"/>
          </a:xfrm>
          <a:prstGeom prst="rect">
            <a:avLst/>
          </a:prstGeom>
          <a:noFill/>
        </p:spPr>
        <p:txBody>
          <a:bodyPr wrap="square">
            <a:spAutoFit/>
          </a:bodyPr>
          <a:lstStyle/>
          <a:p>
            <a:pPr algn="l">
              <a:defRPr sz="4400" b="1">
                <a:solidFill>
                  <a:srgbClr val="1A7F37"/>
                </a:solidFill>
              </a:defRPr>
            </a:pPr>
            <a:r>
              <a:t>$4.7B</a:t>
            </a:r>
          </a:p>
        </p:txBody>
      </p:sp>
      <p:sp>
        <p:nvSpPr>
          <p:cNvPr id="14" name="TextBox 13"/>
          <p:cNvSpPr txBox="1"/>
          <p:nvPr/>
        </p:nvSpPr>
        <p:spPr>
          <a:xfrm>
            <a:off x="6492240" y="4663440"/>
            <a:ext cx="4754880" cy="731520"/>
          </a:xfrm>
          <a:prstGeom prst="rect">
            <a:avLst/>
          </a:prstGeom>
          <a:noFill/>
        </p:spPr>
        <p:txBody>
          <a:bodyPr wrap="square">
            <a:spAutoFit/>
          </a:bodyPr>
          <a:lstStyle/>
          <a:p>
            <a:pPr algn="l">
              <a:defRPr sz="1400" b="0">
                <a:solidFill>
                  <a:srgbClr val="1D1D1F"/>
                </a:solidFill>
              </a:defRPr>
            </a:pPr>
            <a:r>
              <a:t>Issued in green bonds to fund supply chain transformation.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5486400" cy="1097280"/>
          </a:xfrm>
          <a:prstGeom prst="rect">
            <a:avLst/>
          </a:prstGeom>
          <a:noFill/>
        </p:spPr>
        <p:txBody>
          <a:bodyPr wrap="square">
            <a:spAutoFit/>
          </a:bodyPr>
          <a:lstStyle/>
          <a:p>
            <a:pPr algn="l">
              <a:defRPr sz="2400" b="1">
                <a:solidFill>
                  <a:srgbClr val="1D1D1F"/>
                </a:solidFill>
              </a:defRPr>
            </a:pPr>
            <a:r>
              <a:t>De-risking the Business:</a:t>
            </a:r>
            <a:br/>
            <a:r>
              <a:t>Progress Toward Total Carbon Neutrality</a:t>
            </a:r>
          </a:p>
        </p:txBody>
      </p:sp>
      <p:sp>
        <p:nvSpPr>
          <p:cNvPr id="3" name="TextBox 2"/>
          <p:cNvSpPr txBox="1"/>
          <p:nvPr/>
        </p:nvSpPr>
        <p:spPr>
          <a:xfrm>
            <a:off x="822960" y="1828800"/>
            <a:ext cx="5029200" cy="548640"/>
          </a:xfrm>
          <a:prstGeom prst="rect">
            <a:avLst/>
          </a:prstGeom>
          <a:noFill/>
        </p:spPr>
        <p:txBody>
          <a:bodyPr wrap="square">
            <a:spAutoFit/>
          </a:bodyPr>
          <a:lstStyle/>
          <a:p>
            <a:pPr algn="l">
              <a:defRPr sz="1500" b="0">
                <a:solidFill>
                  <a:srgbClr val="1D1D1F"/>
                </a:solidFill>
              </a:defRPr>
            </a:pPr>
            <a:r>
              <a:t>•  Corporate Operations: 100% Carbon Neutral (Achieved)</a:t>
            </a:r>
          </a:p>
        </p:txBody>
      </p:sp>
      <p:sp>
        <p:nvSpPr>
          <p:cNvPr id="4" name="TextBox 3"/>
          <p:cNvSpPr txBox="1"/>
          <p:nvPr/>
        </p:nvSpPr>
        <p:spPr>
          <a:xfrm>
            <a:off x="822960" y="2468880"/>
            <a:ext cx="5029200" cy="548640"/>
          </a:xfrm>
          <a:prstGeom prst="rect">
            <a:avLst/>
          </a:prstGeom>
          <a:noFill/>
        </p:spPr>
        <p:txBody>
          <a:bodyPr wrap="square">
            <a:spAutoFit/>
          </a:bodyPr>
          <a:lstStyle/>
          <a:p>
            <a:pPr algn="l">
              <a:defRPr sz="1500" b="0">
                <a:solidFill>
                  <a:srgbClr val="1D1D1F"/>
                </a:solidFill>
              </a:defRPr>
            </a:pPr>
            <a:r>
              <a:t>•  Full Value Chain: 60% progress toward 2030 neutrality</a:t>
            </a:r>
          </a:p>
        </p:txBody>
      </p:sp>
      <p:sp>
        <p:nvSpPr>
          <p:cNvPr id="5" name="TextBox 4"/>
          <p:cNvSpPr txBox="1"/>
          <p:nvPr/>
        </p:nvSpPr>
        <p:spPr>
          <a:xfrm>
            <a:off x="822960" y="3108960"/>
            <a:ext cx="5029200" cy="548640"/>
          </a:xfrm>
          <a:prstGeom prst="rect">
            <a:avLst/>
          </a:prstGeom>
          <a:noFill/>
        </p:spPr>
        <p:txBody>
          <a:bodyPr wrap="square">
            <a:spAutoFit/>
          </a:bodyPr>
          <a:lstStyle/>
          <a:p>
            <a:pPr algn="l">
              <a:defRPr sz="1500" b="0">
                <a:solidFill>
                  <a:srgbClr val="1D1D1F"/>
                </a:solidFill>
              </a:defRPr>
            </a:pPr>
            <a:r>
              <a:t>•  Data Centers: 100% certified to AWS Standard (8/8 facilities)</a:t>
            </a:r>
          </a:p>
        </p:txBody>
      </p:sp>
      <p:sp>
        <p:nvSpPr>
          <p:cNvPr id="6" name="Oval 5"/>
          <p:cNvSpPr/>
          <p:nvPr/>
        </p:nvSpPr>
        <p:spPr>
          <a:xfrm>
            <a:off x="7772400" y="2286000"/>
            <a:ext cx="1463040" cy="1463040"/>
          </a:xfrm>
          <a:prstGeom prst="ellipse">
            <a:avLst/>
          </a:prstGeom>
          <a:noFill/>
          <a:ln w="10160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743200"/>
            <a:ext cx="1463040" cy="457200"/>
          </a:xfrm>
          <a:prstGeom prst="rect">
            <a:avLst/>
          </a:prstGeom>
          <a:noFill/>
        </p:spPr>
        <p:txBody>
          <a:bodyPr wrap="square">
            <a:spAutoFit/>
          </a:bodyPr>
          <a:lstStyle/>
          <a:p>
            <a:pPr algn="ctr">
              <a:defRPr sz="2200" b="1">
                <a:solidFill>
                  <a:srgbClr val="1D1D1F"/>
                </a:solidFill>
              </a:defRPr>
            </a:pPr>
            <a:r>
              <a:t>100%</a:t>
            </a:r>
          </a:p>
        </p:txBody>
      </p:sp>
      <p:sp>
        <p:nvSpPr>
          <p:cNvPr id="8" name="TextBox 7"/>
          <p:cNvSpPr txBox="1"/>
          <p:nvPr/>
        </p:nvSpPr>
        <p:spPr>
          <a:xfrm>
            <a:off x="7772400" y="3840480"/>
            <a:ext cx="1463040" cy="365760"/>
          </a:xfrm>
          <a:prstGeom prst="rect">
            <a:avLst/>
          </a:prstGeom>
          <a:noFill/>
        </p:spPr>
        <p:txBody>
          <a:bodyPr wrap="square">
            <a:spAutoFit/>
          </a:bodyPr>
          <a:lstStyle/>
          <a:p>
            <a:pPr algn="ctr">
              <a:defRPr sz="1100" b="0">
                <a:solidFill>
                  <a:srgbClr val="6E6E73"/>
                </a:solidFill>
              </a:defRPr>
            </a:pPr>
            <a:r>
              <a:t>Operations</a:t>
            </a:r>
          </a:p>
        </p:txBody>
      </p:sp>
      <p:sp>
        <p:nvSpPr>
          <p:cNvPr id="9" name="Oval 8"/>
          <p:cNvSpPr/>
          <p:nvPr/>
        </p:nvSpPr>
        <p:spPr>
          <a:xfrm>
            <a:off x="9601200" y="2286000"/>
            <a:ext cx="1463040" cy="1463040"/>
          </a:xfrm>
          <a:prstGeom prst="ellipse">
            <a:avLst/>
          </a:prstGeom>
          <a:noFill/>
          <a:ln w="1016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2743200"/>
            <a:ext cx="1463040" cy="457200"/>
          </a:xfrm>
          <a:prstGeom prst="rect">
            <a:avLst/>
          </a:prstGeom>
          <a:noFill/>
        </p:spPr>
        <p:txBody>
          <a:bodyPr wrap="square">
            <a:spAutoFit/>
          </a:bodyPr>
          <a:lstStyle/>
          <a:p>
            <a:pPr algn="ctr">
              <a:defRPr sz="2200" b="1">
                <a:solidFill>
                  <a:srgbClr val="1D1D1F"/>
                </a:solidFill>
              </a:defRPr>
            </a:pPr>
            <a:r>
              <a:t>60%</a:t>
            </a:r>
          </a:p>
        </p:txBody>
      </p:sp>
      <p:sp>
        <p:nvSpPr>
          <p:cNvPr id="11" name="TextBox 10"/>
          <p:cNvSpPr txBox="1"/>
          <p:nvPr/>
        </p:nvSpPr>
        <p:spPr>
          <a:xfrm>
            <a:off x="9601200" y="3840480"/>
            <a:ext cx="1463040" cy="365760"/>
          </a:xfrm>
          <a:prstGeom prst="rect">
            <a:avLst/>
          </a:prstGeom>
          <a:noFill/>
        </p:spPr>
        <p:txBody>
          <a:bodyPr wrap="square">
            <a:spAutoFit/>
          </a:bodyPr>
          <a:lstStyle/>
          <a:p>
            <a:pPr algn="ctr">
              <a:defRPr sz="1100" b="0">
                <a:solidFill>
                  <a:srgbClr val="6E6E73"/>
                </a:solidFill>
              </a:defRPr>
            </a:pPr>
            <a:r>
              <a:t>Value Chain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5486400" cy="1097280"/>
          </a:xfrm>
          <a:prstGeom prst="rect">
            <a:avLst/>
          </a:prstGeom>
          <a:noFill/>
        </p:spPr>
        <p:txBody>
          <a:bodyPr wrap="square">
            <a:spAutoFit/>
          </a:bodyPr>
          <a:lstStyle/>
          <a:p>
            <a:pPr algn="l">
              <a:defRPr sz="2400" b="1">
                <a:solidFill>
                  <a:srgbClr val="1D1D1F"/>
                </a:solidFill>
              </a:defRPr>
            </a:pPr>
            <a:r>
              <a:t>Premium Products, Premium Ethics:</a:t>
            </a:r>
            <a:br/>
            <a:r>
              <a:t>The "Recycled" Advantage</a:t>
            </a:r>
          </a:p>
        </p:txBody>
      </p:sp>
      <p:sp>
        <p:nvSpPr>
          <p:cNvPr id="3" name="TextBox 2"/>
          <p:cNvSpPr txBox="1"/>
          <p:nvPr/>
        </p:nvSpPr>
        <p:spPr>
          <a:xfrm>
            <a:off x="822960" y="2011680"/>
            <a:ext cx="5303520" cy="731520"/>
          </a:xfrm>
          <a:prstGeom prst="rect">
            <a:avLst/>
          </a:prstGeom>
          <a:noFill/>
        </p:spPr>
        <p:txBody>
          <a:bodyPr wrap="square">
            <a:spAutoFit/>
          </a:bodyPr>
          <a:lstStyle/>
          <a:p>
            <a:pPr algn="l">
              <a:defRPr sz="1400" b="0">
                <a:solidFill>
                  <a:srgbClr val="1D1D1F"/>
                </a:solidFill>
              </a:defRPr>
            </a:pPr>
            <a:r>
              <a:t>•  100% Recycled: Cobalt, Gold, Tin, and Rare Earth Elements in select components and batteries.</a:t>
            </a:r>
          </a:p>
        </p:txBody>
      </p:sp>
      <p:sp>
        <p:nvSpPr>
          <p:cNvPr id="4" name="TextBox 3"/>
          <p:cNvSpPr txBox="1"/>
          <p:nvPr/>
        </p:nvSpPr>
        <p:spPr>
          <a:xfrm>
            <a:off x="822960" y="2834640"/>
            <a:ext cx="5303520" cy="731520"/>
          </a:xfrm>
          <a:prstGeom prst="rect">
            <a:avLst/>
          </a:prstGeom>
          <a:noFill/>
        </p:spPr>
        <p:txBody>
          <a:bodyPr wrap="square">
            <a:spAutoFit/>
          </a:bodyPr>
          <a:lstStyle/>
          <a:p>
            <a:pPr algn="l">
              <a:defRPr sz="1400" b="0">
                <a:solidFill>
                  <a:srgbClr val="1D1D1F"/>
                </a:solidFill>
              </a:defRPr>
            </a:pPr>
            <a:r>
              <a:t>•  The Unboxing Experience: 100% fiber-based packaging — plastics completely eliminated.</a:t>
            </a:r>
          </a:p>
        </p:txBody>
      </p:sp>
      <p:sp>
        <p:nvSpPr>
          <p:cNvPr id="5" name="Rounded Rectangle 4"/>
          <p:cNvSpPr/>
          <p:nvPr/>
        </p:nvSpPr>
        <p:spPr>
          <a:xfrm>
            <a:off x="7315200" y="1645920"/>
            <a:ext cx="2286000" cy="3657600"/>
          </a:xfrm>
          <a:prstGeom prst="roundRect">
            <a:avLst/>
          </a:prstGeom>
          <a:solidFill>
            <a:srgbClr val="D2D2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0" y="2011680"/>
            <a:ext cx="2011680" cy="640080"/>
          </a:xfrm>
          <a:prstGeom prst="rect">
            <a:avLst/>
          </a:prstGeom>
          <a:noFill/>
        </p:spPr>
        <p:txBody>
          <a:bodyPr wrap="square">
            <a:spAutoFit/>
          </a:bodyPr>
          <a:lstStyle/>
          <a:p>
            <a:pPr algn="l">
              <a:defRPr sz="1000" b="0">
                <a:solidFill>
                  <a:srgbClr val="1D1D1F"/>
                </a:solidFill>
              </a:defRPr>
            </a:pPr>
            <a:r>
              <a:t>Battery</a:t>
            </a:r>
            <a:br/>
            <a:r>
              <a:t>100% recycled cobalt</a:t>
            </a:r>
          </a:p>
        </p:txBody>
      </p:sp>
      <p:sp>
        <p:nvSpPr>
          <p:cNvPr id="7" name="TextBox 6"/>
          <p:cNvSpPr txBox="1"/>
          <p:nvPr/>
        </p:nvSpPr>
        <p:spPr>
          <a:xfrm>
            <a:off x="9875520" y="3474720"/>
            <a:ext cx="2011680" cy="640080"/>
          </a:xfrm>
          <a:prstGeom prst="rect">
            <a:avLst/>
          </a:prstGeom>
          <a:noFill/>
        </p:spPr>
        <p:txBody>
          <a:bodyPr wrap="square">
            <a:spAutoFit/>
          </a:bodyPr>
          <a:lstStyle/>
          <a:p>
            <a:pPr algn="l">
              <a:defRPr sz="1000" b="0">
                <a:solidFill>
                  <a:srgbClr val="1D1D1F"/>
                </a:solidFill>
              </a:defRPr>
            </a:pPr>
            <a:r>
              <a:t>Logic Board</a:t>
            </a:r>
            <a:br/>
            <a:r>
              <a:t>100% recycled tin &amp; gold</a:t>
            </a:r>
          </a:p>
        </p:txBody>
      </p:sp>
      <p:sp>
        <p:nvSpPr>
          <p:cNvPr id="8" name="TextBox 7"/>
          <p:cNvSpPr txBox="1"/>
          <p:nvPr/>
        </p:nvSpPr>
        <p:spPr>
          <a:xfrm>
            <a:off x="9875520" y="1371600"/>
            <a:ext cx="2011680" cy="640080"/>
          </a:xfrm>
          <a:prstGeom prst="rect">
            <a:avLst/>
          </a:prstGeom>
          <a:noFill/>
        </p:spPr>
        <p:txBody>
          <a:bodyPr wrap="square">
            <a:spAutoFit/>
          </a:bodyPr>
          <a:lstStyle/>
          <a:p>
            <a:pPr algn="l">
              <a:defRPr sz="1000" b="0">
                <a:solidFill>
                  <a:srgbClr val="1D1D1F"/>
                </a:solidFill>
              </a:defRPr>
            </a:pPr>
            <a:r>
              <a:t>Magnets</a:t>
            </a:r>
            <a:br/>
            <a:r>
              <a:t>100% recycled rare earths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731520"/>
          </a:xfrm>
          <a:prstGeom prst="rect">
            <a:avLst/>
          </a:prstGeom>
          <a:noFill/>
        </p:spPr>
        <p:txBody>
          <a:bodyPr wrap="square">
            <a:spAutoFit/>
          </a:bodyPr>
          <a:lstStyle/>
          <a:p>
            <a:pPr algn="l">
              <a:defRPr sz="2600" b="1">
                <a:solidFill>
                  <a:srgbClr val="1D1D1F"/>
                </a:solidFill>
              </a:defRPr>
            </a:pPr>
            <a:r>
              <a:t>Operational Efficiency: Stewarding Resources to Protect Margins</a:t>
            </a:r>
          </a:p>
        </p:txBody>
      </p:sp>
      <p:sp>
        <p:nvSpPr>
          <p:cNvPr id="3" name="Rounded Rectangle 2"/>
          <p:cNvSpPr/>
          <p:nvPr/>
        </p:nvSpPr>
        <p:spPr>
          <a:xfrm>
            <a:off x="640080" y="1828800"/>
            <a:ext cx="3474720" cy="320040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60320"/>
            <a:ext cx="2926080" cy="731520"/>
          </a:xfrm>
          <a:prstGeom prst="rect">
            <a:avLst/>
          </a:prstGeom>
          <a:noFill/>
        </p:spPr>
        <p:txBody>
          <a:bodyPr wrap="square">
            <a:spAutoFit/>
          </a:bodyPr>
          <a:lstStyle/>
          <a:p>
            <a:pPr algn="ctr">
              <a:defRPr sz="4000" b="1">
                <a:solidFill>
                  <a:srgbClr val="1A7F37"/>
                </a:solidFill>
              </a:defRPr>
            </a:pPr>
            <a:r>
              <a:t>17B</a:t>
            </a:r>
          </a:p>
        </p:txBody>
      </p:sp>
      <p:sp>
        <p:nvSpPr>
          <p:cNvPr id="5" name="TextBox 4"/>
          <p:cNvSpPr txBox="1"/>
          <p:nvPr/>
        </p:nvSpPr>
        <p:spPr>
          <a:xfrm>
            <a:off x="914400" y="3474720"/>
            <a:ext cx="2926080" cy="1097280"/>
          </a:xfrm>
          <a:prstGeom prst="rect">
            <a:avLst/>
          </a:prstGeom>
          <a:noFill/>
        </p:spPr>
        <p:txBody>
          <a:bodyPr wrap="square">
            <a:spAutoFit/>
          </a:bodyPr>
          <a:lstStyle/>
          <a:p>
            <a:pPr algn="ctr">
              <a:defRPr sz="1300" b="0">
                <a:solidFill>
                  <a:srgbClr val="1D1D1F"/>
                </a:solidFill>
              </a:defRPr>
            </a:pPr>
            <a:r>
              <a:t>Gallons of freshwater saved across the supply chain in FY25.</a:t>
            </a:r>
          </a:p>
        </p:txBody>
      </p:sp>
      <p:sp>
        <p:nvSpPr>
          <p:cNvPr id="6" name="Rounded Rectangle 5"/>
          <p:cNvSpPr/>
          <p:nvPr/>
        </p:nvSpPr>
        <p:spPr>
          <a:xfrm>
            <a:off x="4480560" y="1828800"/>
            <a:ext cx="3474720" cy="320040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2560320"/>
            <a:ext cx="2926080" cy="731520"/>
          </a:xfrm>
          <a:prstGeom prst="rect">
            <a:avLst/>
          </a:prstGeom>
          <a:noFill/>
        </p:spPr>
        <p:txBody>
          <a:bodyPr wrap="square">
            <a:spAutoFit/>
          </a:bodyPr>
          <a:lstStyle/>
          <a:p>
            <a:pPr algn="ctr">
              <a:defRPr sz="4000" b="1">
                <a:solidFill>
                  <a:srgbClr val="1A7F37"/>
                </a:solidFill>
              </a:defRPr>
            </a:pPr>
            <a:r>
              <a:t>100%</a:t>
            </a:r>
          </a:p>
        </p:txBody>
      </p:sp>
      <p:sp>
        <p:nvSpPr>
          <p:cNvPr id="8" name="TextBox 7"/>
          <p:cNvSpPr txBox="1"/>
          <p:nvPr/>
        </p:nvSpPr>
        <p:spPr>
          <a:xfrm>
            <a:off x="4754880" y="3474720"/>
            <a:ext cx="2926080" cy="1097280"/>
          </a:xfrm>
          <a:prstGeom prst="rect">
            <a:avLst/>
          </a:prstGeom>
          <a:noFill/>
        </p:spPr>
        <p:txBody>
          <a:bodyPr wrap="square">
            <a:spAutoFit/>
          </a:bodyPr>
          <a:lstStyle/>
          <a:p>
            <a:pPr algn="ctr">
              <a:defRPr sz="1300" b="0">
                <a:solidFill>
                  <a:srgbClr val="1D1D1F"/>
                </a:solidFill>
              </a:defRPr>
            </a:pPr>
            <a:r>
              <a:t>Zero waste to landfill at all final assembly sites.</a:t>
            </a:r>
          </a:p>
        </p:txBody>
      </p:sp>
      <p:sp>
        <p:nvSpPr>
          <p:cNvPr id="9" name="Rounded Rectangle 8"/>
          <p:cNvSpPr/>
          <p:nvPr/>
        </p:nvSpPr>
        <p:spPr>
          <a:xfrm>
            <a:off x="8321040" y="1828800"/>
            <a:ext cx="3474720" cy="320040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2560320"/>
            <a:ext cx="2926080" cy="731520"/>
          </a:xfrm>
          <a:prstGeom prst="rect">
            <a:avLst/>
          </a:prstGeom>
          <a:noFill/>
        </p:spPr>
        <p:txBody>
          <a:bodyPr wrap="square">
            <a:spAutoFit/>
          </a:bodyPr>
          <a:lstStyle/>
          <a:p>
            <a:pPr algn="ctr">
              <a:defRPr sz="4000" b="1">
                <a:solidFill>
                  <a:srgbClr val="1A7F37"/>
                </a:solidFill>
              </a:defRPr>
            </a:pPr>
            <a:r>
              <a:t>55%</a:t>
            </a:r>
          </a:p>
        </p:txBody>
      </p:sp>
      <p:sp>
        <p:nvSpPr>
          <p:cNvPr id="11" name="TextBox 10"/>
          <p:cNvSpPr txBox="1"/>
          <p:nvPr/>
        </p:nvSpPr>
        <p:spPr>
          <a:xfrm>
            <a:off x="8595360" y="3474720"/>
            <a:ext cx="2926080" cy="1097280"/>
          </a:xfrm>
          <a:prstGeom prst="rect">
            <a:avLst/>
          </a:prstGeom>
          <a:noFill/>
        </p:spPr>
        <p:txBody>
          <a:bodyPr wrap="square">
            <a:spAutoFit/>
          </a:bodyPr>
          <a:lstStyle/>
          <a:p>
            <a:pPr algn="ctr">
              <a:defRPr sz="1300" b="0">
                <a:solidFill>
                  <a:srgbClr val="1D1D1F"/>
                </a:solidFill>
              </a:defRPr>
            </a:pPr>
            <a:r>
              <a:t>Progress toward our 2030 freshwater replenishment goal.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5486400" cy="914400"/>
          </a:xfrm>
          <a:prstGeom prst="rect">
            <a:avLst/>
          </a:prstGeom>
          <a:noFill/>
        </p:spPr>
        <p:txBody>
          <a:bodyPr wrap="square">
            <a:spAutoFit/>
          </a:bodyPr>
          <a:lstStyle/>
          <a:p>
            <a:pPr algn="l">
              <a:defRPr sz="2400" b="1">
                <a:solidFill>
                  <a:srgbClr val="1D1D1F"/>
                </a:solidFill>
              </a:defRPr>
            </a:pPr>
            <a:r>
              <a:t>Targeting Emissions Where They Matter to the Customer</a:t>
            </a:r>
          </a:p>
        </p:txBody>
      </p:sp>
      <p:sp>
        <p:nvSpPr>
          <p:cNvPr id="3" name="TextBox 2"/>
          <p:cNvSpPr txBox="1"/>
          <p:nvPr/>
        </p:nvSpPr>
        <p:spPr>
          <a:xfrm>
            <a:off x="822960" y="1645920"/>
            <a:ext cx="5029200" cy="457200"/>
          </a:xfrm>
          <a:prstGeom prst="rect">
            <a:avLst/>
          </a:prstGeom>
          <a:noFill/>
        </p:spPr>
        <p:txBody>
          <a:bodyPr wrap="square">
            <a:spAutoFit/>
          </a:bodyPr>
          <a:lstStyle/>
          <a:p>
            <a:pPr algn="l">
              <a:defRPr sz="1600" b="1">
                <a:solidFill>
                  <a:srgbClr val="1D1D1F"/>
                </a:solidFill>
              </a:defRPr>
            </a:pPr>
            <a:r>
              <a:t>●  53%  Manufacturing (Scope 3)</a:t>
            </a:r>
          </a:p>
        </p:txBody>
      </p:sp>
      <p:sp>
        <p:nvSpPr>
          <p:cNvPr id="4" name="TextBox 3"/>
          <p:cNvSpPr txBox="1"/>
          <p:nvPr/>
        </p:nvSpPr>
        <p:spPr>
          <a:xfrm>
            <a:off x="822960" y="2240280"/>
            <a:ext cx="5029200" cy="457200"/>
          </a:xfrm>
          <a:prstGeom prst="rect">
            <a:avLst/>
          </a:prstGeom>
          <a:noFill/>
        </p:spPr>
        <p:txBody>
          <a:bodyPr wrap="square">
            <a:spAutoFit/>
          </a:bodyPr>
          <a:lstStyle/>
          <a:p>
            <a:pPr algn="l">
              <a:defRPr sz="1400" b="0">
                <a:solidFill>
                  <a:srgbClr val="1D1D1F"/>
                </a:solidFill>
              </a:defRPr>
            </a:pPr>
            <a:r>
              <a:t>●  27%  Product Use (Scope 3 — Customer devices)</a:t>
            </a:r>
          </a:p>
        </p:txBody>
      </p:sp>
      <p:sp>
        <p:nvSpPr>
          <p:cNvPr id="5" name="TextBox 4"/>
          <p:cNvSpPr txBox="1"/>
          <p:nvPr/>
        </p:nvSpPr>
        <p:spPr>
          <a:xfrm>
            <a:off x="822960" y="2834640"/>
            <a:ext cx="5029200" cy="457200"/>
          </a:xfrm>
          <a:prstGeom prst="rect">
            <a:avLst/>
          </a:prstGeom>
          <a:noFill/>
        </p:spPr>
        <p:txBody>
          <a:bodyPr wrap="square">
            <a:spAutoFit/>
          </a:bodyPr>
          <a:lstStyle/>
          <a:p>
            <a:pPr algn="l">
              <a:defRPr sz="1400" b="0">
                <a:solidFill>
                  <a:srgbClr val="1D1D1F"/>
                </a:solidFill>
              </a:defRPr>
            </a:pPr>
            <a:r>
              <a:t>●  16%  Product Transport (Scope 3)</a:t>
            </a:r>
          </a:p>
        </p:txBody>
      </p:sp>
      <p:sp>
        <p:nvSpPr>
          <p:cNvPr id="6" name="TextBox 5"/>
          <p:cNvSpPr txBox="1"/>
          <p:nvPr/>
        </p:nvSpPr>
        <p:spPr>
          <a:xfrm>
            <a:off x="822960" y="3429000"/>
            <a:ext cx="5029200" cy="457200"/>
          </a:xfrm>
          <a:prstGeom prst="rect">
            <a:avLst/>
          </a:prstGeom>
          <a:noFill/>
        </p:spPr>
        <p:txBody>
          <a:bodyPr wrap="square">
            <a:spAutoFit/>
          </a:bodyPr>
          <a:lstStyle/>
          <a:p>
            <a:pPr algn="l">
              <a:defRPr sz="1400" b="0">
                <a:solidFill>
                  <a:srgbClr val="1D1D1F"/>
                </a:solidFill>
              </a:defRPr>
            </a:pPr>
            <a:r>
              <a:t>●  4%  Business Operations (Scopes 1–2)</a:t>
            </a:r>
          </a:p>
        </p:txBody>
      </p:sp>
      <p:sp>
        <p:nvSpPr>
          <p:cNvPr id="7" name="Donut 6"/>
          <p:cNvSpPr/>
          <p:nvPr/>
        </p:nvSpPr>
        <p:spPr>
          <a:xfrm>
            <a:off x="7315200" y="1645920"/>
            <a:ext cx="3200400" cy="3200400"/>
          </a:xfrm>
          <a:prstGeom prst="donu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2743200"/>
            <a:ext cx="2286000" cy="731520"/>
          </a:xfrm>
          <a:prstGeom prst="rect">
            <a:avLst/>
          </a:prstGeom>
          <a:noFill/>
        </p:spPr>
        <p:txBody>
          <a:bodyPr wrap="square">
            <a:spAutoFit/>
          </a:bodyPr>
          <a:lstStyle/>
          <a:p>
            <a:pPr algn="ctr">
              <a:defRPr sz="1800" b="1">
                <a:solidFill>
                  <a:srgbClr val="FFFFFF"/>
                </a:solidFill>
              </a:defRPr>
            </a:pPr>
            <a:r>
              <a:t>Scope 3</a:t>
            </a:r>
            <a:br/>
            <a:r>
              <a:t>96%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5486400" cy="914400"/>
          </a:xfrm>
          <a:prstGeom prst="rect">
            <a:avLst/>
          </a:prstGeom>
          <a:noFill/>
        </p:spPr>
        <p:txBody>
          <a:bodyPr wrap="square">
            <a:spAutoFit/>
          </a:bodyPr>
          <a:lstStyle/>
          <a:p>
            <a:pPr algn="l">
              <a:defRPr sz="2400" b="1">
                <a:solidFill>
                  <a:srgbClr val="1D1D1F"/>
                </a:solidFill>
              </a:defRPr>
            </a:pPr>
            <a:r>
              <a:t>Funding the Transition: ROI on Environmental Programs</a:t>
            </a:r>
          </a:p>
        </p:txBody>
      </p:sp>
      <p:sp>
        <p:nvSpPr>
          <p:cNvPr id="3" name="TextBox 2"/>
          <p:cNvSpPr txBox="1"/>
          <p:nvPr/>
        </p:nvSpPr>
        <p:spPr>
          <a:xfrm>
            <a:off x="640080" y="1645920"/>
            <a:ext cx="5029200" cy="1371600"/>
          </a:xfrm>
          <a:prstGeom prst="rect">
            <a:avLst/>
          </a:prstGeom>
          <a:noFill/>
        </p:spPr>
        <p:txBody>
          <a:bodyPr wrap="square">
            <a:spAutoFit/>
          </a:bodyPr>
          <a:lstStyle/>
          <a:p>
            <a:pPr algn="l">
              <a:defRPr sz="7200" b="1">
                <a:solidFill>
                  <a:srgbClr val="1A7F37"/>
                </a:solidFill>
              </a:defRPr>
            </a:pPr>
            <a:r>
              <a:t>43M</a:t>
            </a:r>
          </a:p>
        </p:txBody>
      </p:sp>
      <p:sp>
        <p:nvSpPr>
          <p:cNvPr id="4" name="TextBox 3"/>
          <p:cNvSpPr txBox="1"/>
          <p:nvPr/>
        </p:nvSpPr>
        <p:spPr>
          <a:xfrm>
            <a:off x="640080" y="2926080"/>
            <a:ext cx="5029200" cy="365760"/>
          </a:xfrm>
          <a:prstGeom prst="rect">
            <a:avLst/>
          </a:prstGeom>
          <a:noFill/>
        </p:spPr>
        <p:txBody>
          <a:bodyPr wrap="square">
            <a:spAutoFit/>
          </a:bodyPr>
          <a:lstStyle/>
          <a:p>
            <a:pPr algn="l">
              <a:defRPr sz="1800" b="1">
                <a:solidFill>
                  <a:srgbClr val="1D1D1F"/>
                </a:solidFill>
              </a:defRPr>
            </a:pPr>
            <a:r>
              <a:t>Metric Tons</a:t>
            </a:r>
          </a:p>
        </p:txBody>
      </p:sp>
      <p:sp>
        <p:nvSpPr>
          <p:cNvPr id="5" name="TextBox 4"/>
          <p:cNvSpPr txBox="1"/>
          <p:nvPr/>
        </p:nvSpPr>
        <p:spPr>
          <a:xfrm>
            <a:off x="640080" y="3383280"/>
            <a:ext cx="5029200" cy="457200"/>
          </a:xfrm>
          <a:prstGeom prst="rect">
            <a:avLst/>
          </a:prstGeom>
          <a:noFill/>
        </p:spPr>
        <p:txBody>
          <a:bodyPr wrap="square">
            <a:spAutoFit/>
          </a:bodyPr>
          <a:lstStyle/>
          <a:p>
            <a:pPr algn="l">
              <a:defRPr sz="1400" b="0">
                <a:solidFill>
                  <a:srgbClr val="6E6E73"/>
                </a:solidFill>
              </a:defRPr>
            </a:pPr>
            <a:r>
              <a:t>Estimated emissions avoided by FY25 programs.</a:t>
            </a:r>
          </a:p>
        </p:txBody>
      </p:sp>
      <p:sp>
        <p:nvSpPr>
          <p:cNvPr id="6" name="TextBox 5"/>
          <p:cNvSpPr txBox="1"/>
          <p:nvPr/>
        </p:nvSpPr>
        <p:spPr>
          <a:xfrm>
            <a:off x="640080" y="4206240"/>
            <a:ext cx="5029200" cy="640080"/>
          </a:xfrm>
          <a:prstGeom prst="rect">
            <a:avLst/>
          </a:prstGeom>
          <a:noFill/>
        </p:spPr>
        <p:txBody>
          <a:bodyPr wrap="square">
            <a:spAutoFit/>
          </a:bodyPr>
          <a:lstStyle/>
          <a:p>
            <a:pPr algn="l">
              <a:defRPr sz="3600" b="1">
                <a:solidFill>
                  <a:srgbClr val="1A7F37"/>
                </a:solidFill>
              </a:defRPr>
            </a:pPr>
            <a:r>
              <a:t>$4.7B</a:t>
            </a:r>
          </a:p>
        </p:txBody>
      </p:sp>
      <p:sp>
        <p:nvSpPr>
          <p:cNvPr id="7" name="TextBox 6"/>
          <p:cNvSpPr txBox="1"/>
          <p:nvPr/>
        </p:nvSpPr>
        <p:spPr>
          <a:xfrm>
            <a:off x="640080" y="4846320"/>
            <a:ext cx="5029200" cy="365760"/>
          </a:xfrm>
          <a:prstGeom prst="rect">
            <a:avLst/>
          </a:prstGeom>
          <a:noFill/>
        </p:spPr>
        <p:txBody>
          <a:bodyPr wrap="square">
            <a:spAutoFit/>
          </a:bodyPr>
          <a:lstStyle/>
          <a:p>
            <a:pPr algn="l">
              <a:defRPr sz="1400" b="0">
                <a:solidFill>
                  <a:srgbClr val="6E6E73"/>
                </a:solidFill>
              </a:defRPr>
            </a:pPr>
            <a:r>
              <a:t>Successfully issued in green bonds.</a:t>
            </a:r>
          </a:p>
        </p:txBody>
      </p:sp>
      <p:sp>
        <p:nvSpPr>
          <p:cNvPr id="8" name="Rounded Rectangle 7"/>
          <p:cNvSpPr/>
          <p:nvPr/>
        </p:nvSpPr>
        <p:spPr>
          <a:xfrm>
            <a:off x="6858000" y="1828800"/>
            <a:ext cx="4114800" cy="3200400"/>
          </a:xfrm>
          <a:prstGeom prst="roundRect">
            <a:avLst/>
          </a:prstGeom>
          <a:solidFill>
            <a:srgbClr val="F0FAF2"/>
          </a:solidFill>
          <a:ln w="2540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4114800"/>
            <a:ext cx="2286000" cy="365760"/>
          </a:xfrm>
          <a:prstGeom prst="rect">
            <a:avLst/>
          </a:prstGeom>
          <a:noFill/>
        </p:spPr>
        <p:txBody>
          <a:bodyPr wrap="square">
            <a:spAutoFit/>
          </a:bodyPr>
          <a:lstStyle/>
          <a:p>
            <a:pPr algn="ctr">
              <a:defRPr sz="1200" b="1">
                <a:solidFill>
                  <a:srgbClr val="1A7F37"/>
                </a:solidFill>
              </a:defRPr>
            </a:pPr>
            <a:r>
              <a:t>GREEN BOND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731520"/>
          </a:xfrm>
          <a:prstGeom prst="rect">
            <a:avLst/>
          </a:prstGeom>
          <a:noFill/>
        </p:spPr>
        <p:txBody>
          <a:bodyPr wrap="square">
            <a:spAutoFit/>
          </a:bodyPr>
          <a:lstStyle/>
          <a:p>
            <a:pPr algn="l">
              <a:defRPr sz="2600" b="1">
                <a:solidFill>
                  <a:srgbClr val="1D1D1F"/>
                </a:solidFill>
              </a:defRPr>
            </a:pPr>
            <a:r>
              <a:t>Leveraging FY25 Wins in the Market (Action Plan)</a:t>
            </a:r>
          </a:p>
        </p:txBody>
      </p:sp>
      <p:sp>
        <p:nvSpPr>
          <p:cNvPr id="3" name="Rounded Rectangle 2"/>
          <p:cNvSpPr/>
          <p:nvPr/>
        </p:nvSpPr>
        <p:spPr>
          <a:xfrm>
            <a:off x="640080" y="1828800"/>
            <a:ext cx="3474720" cy="347472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2103120"/>
            <a:ext cx="457200" cy="457200"/>
          </a:xfrm>
          <a:prstGeom prst="ellipse">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48840"/>
            <a:ext cx="457200" cy="365760"/>
          </a:xfrm>
          <a:prstGeom prst="rect">
            <a:avLst/>
          </a:prstGeom>
          <a:noFill/>
        </p:spPr>
        <p:txBody>
          <a:bodyPr wrap="square">
            <a:spAutoFit/>
          </a:bodyPr>
          <a:lstStyle/>
          <a:p>
            <a:pPr algn="ctr">
              <a:defRPr sz="1400" b="1">
                <a:solidFill>
                  <a:srgbClr val="FFFFFF"/>
                </a:solidFill>
              </a:defRPr>
            </a:pPr>
            <a:r>
              <a:t>1</a:t>
            </a:r>
          </a:p>
        </p:txBody>
      </p:sp>
      <p:sp>
        <p:nvSpPr>
          <p:cNvPr id="6" name="TextBox 5"/>
          <p:cNvSpPr txBox="1"/>
          <p:nvPr/>
        </p:nvSpPr>
        <p:spPr>
          <a:xfrm>
            <a:off x="914400" y="2743200"/>
            <a:ext cx="2926080" cy="457200"/>
          </a:xfrm>
          <a:prstGeom prst="rect">
            <a:avLst/>
          </a:prstGeom>
          <a:noFill/>
        </p:spPr>
        <p:txBody>
          <a:bodyPr wrap="square">
            <a:spAutoFit/>
          </a:bodyPr>
          <a:lstStyle/>
          <a:p>
            <a:pPr algn="l">
              <a:defRPr sz="1600" b="1">
                <a:solidFill>
                  <a:srgbClr val="1D1D1F"/>
                </a:solidFill>
              </a:defRPr>
            </a:pPr>
            <a:r>
              <a:t>Enterprise Pitch Decks</a:t>
            </a:r>
          </a:p>
        </p:txBody>
      </p:sp>
      <p:sp>
        <p:nvSpPr>
          <p:cNvPr id="7" name="TextBox 6"/>
          <p:cNvSpPr txBox="1"/>
          <p:nvPr/>
        </p:nvSpPr>
        <p:spPr>
          <a:xfrm>
            <a:off x="914400" y="3291840"/>
            <a:ext cx="2926080" cy="1371600"/>
          </a:xfrm>
          <a:prstGeom prst="rect">
            <a:avLst/>
          </a:prstGeom>
          <a:noFill/>
        </p:spPr>
        <p:txBody>
          <a:bodyPr wrap="square">
            <a:spAutoFit/>
          </a:bodyPr>
          <a:lstStyle/>
          <a:p>
            <a:pPr algn="l">
              <a:defRPr sz="1200" b="0">
                <a:solidFill>
                  <a:srgbClr val="6E6E73"/>
                </a:solidFill>
              </a:defRPr>
            </a:pPr>
            <a:r>
              <a:t>Integrate "100% Recycled Cobalt/Gold" and "Scope 3 Reduction" stats into B2B sales materials.</a:t>
            </a:r>
          </a:p>
        </p:txBody>
      </p:sp>
      <p:sp>
        <p:nvSpPr>
          <p:cNvPr id="8" name="Rounded Rectangle 7"/>
          <p:cNvSpPr/>
          <p:nvPr/>
        </p:nvSpPr>
        <p:spPr>
          <a:xfrm>
            <a:off x="4480560" y="1828800"/>
            <a:ext cx="3474720" cy="347472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0" y="2103120"/>
            <a:ext cx="457200" cy="457200"/>
          </a:xfrm>
          <a:prstGeom prst="ellipse">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148840"/>
            <a:ext cx="457200" cy="365760"/>
          </a:xfrm>
          <a:prstGeom prst="rect">
            <a:avLst/>
          </a:prstGeom>
          <a:noFill/>
        </p:spPr>
        <p:txBody>
          <a:bodyPr wrap="square">
            <a:spAutoFit/>
          </a:bodyPr>
          <a:lstStyle/>
          <a:p>
            <a:pPr algn="ctr">
              <a:defRPr sz="1400" b="1">
                <a:solidFill>
                  <a:srgbClr val="FFFFFF"/>
                </a:solidFill>
              </a:defRPr>
            </a:pPr>
            <a:r>
              <a:t>2</a:t>
            </a:r>
          </a:p>
        </p:txBody>
      </p:sp>
      <p:sp>
        <p:nvSpPr>
          <p:cNvPr id="11" name="TextBox 10"/>
          <p:cNvSpPr txBox="1"/>
          <p:nvPr/>
        </p:nvSpPr>
        <p:spPr>
          <a:xfrm>
            <a:off x="4754880" y="2743200"/>
            <a:ext cx="2926080" cy="457200"/>
          </a:xfrm>
          <a:prstGeom prst="rect">
            <a:avLst/>
          </a:prstGeom>
          <a:noFill/>
        </p:spPr>
        <p:txBody>
          <a:bodyPr wrap="square">
            <a:spAutoFit/>
          </a:bodyPr>
          <a:lstStyle/>
          <a:p>
            <a:pPr algn="l">
              <a:defRPr sz="1600" b="1">
                <a:solidFill>
                  <a:srgbClr val="1D1D1F"/>
                </a:solidFill>
              </a:defRPr>
            </a:pPr>
            <a:r>
              <a:t>Retail Training</a:t>
            </a:r>
          </a:p>
        </p:txBody>
      </p:sp>
      <p:sp>
        <p:nvSpPr>
          <p:cNvPr id="12" name="TextBox 11"/>
          <p:cNvSpPr txBox="1"/>
          <p:nvPr/>
        </p:nvSpPr>
        <p:spPr>
          <a:xfrm>
            <a:off x="4754880" y="3291840"/>
            <a:ext cx="2926080" cy="1371600"/>
          </a:xfrm>
          <a:prstGeom prst="rect">
            <a:avLst/>
          </a:prstGeom>
          <a:noFill/>
        </p:spPr>
        <p:txBody>
          <a:bodyPr wrap="square">
            <a:spAutoFit/>
          </a:bodyPr>
          <a:lstStyle/>
          <a:p>
            <a:pPr algn="l">
              <a:defRPr sz="1200" b="0">
                <a:solidFill>
                  <a:srgbClr val="6E6E73"/>
                </a:solidFill>
              </a:defRPr>
            </a:pPr>
            <a:r>
              <a:t>Equip Apple Store teams with "17 Billion Gallons Saved" talking points for customer engagement.</a:t>
            </a:r>
          </a:p>
        </p:txBody>
      </p:sp>
      <p:sp>
        <p:nvSpPr>
          <p:cNvPr id="13" name="Rounded Rectangle 12"/>
          <p:cNvSpPr/>
          <p:nvPr/>
        </p:nvSpPr>
        <p:spPr>
          <a:xfrm>
            <a:off x="8321040" y="1828800"/>
            <a:ext cx="3474720" cy="3474720"/>
          </a:xfrm>
          <a:prstGeom prst="round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0" y="2103120"/>
            <a:ext cx="457200" cy="457200"/>
          </a:xfrm>
          <a:prstGeom prst="ellipse">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2148840"/>
            <a:ext cx="457200" cy="365760"/>
          </a:xfrm>
          <a:prstGeom prst="rect">
            <a:avLst/>
          </a:prstGeom>
          <a:noFill/>
        </p:spPr>
        <p:txBody>
          <a:bodyPr wrap="square">
            <a:spAutoFit/>
          </a:bodyPr>
          <a:lstStyle/>
          <a:p>
            <a:pPr algn="ctr">
              <a:defRPr sz="1400" b="1">
                <a:solidFill>
                  <a:srgbClr val="FFFFFF"/>
                </a:solidFill>
              </a:defRPr>
            </a:pPr>
            <a:r>
              <a:t>3</a:t>
            </a:r>
          </a:p>
        </p:txBody>
      </p:sp>
      <p:sp>
        <p:nvSpPr>
          <p:cNvPr id="16" name="TextBox 15"/>
          <p:cNvSpPr txBox="1"/>
          <p:nvPr/>
        </p:nvSpPr>
        <p:spPr>
          <a:xfrm>
            <a:off x="8595360" y="2743200"/>
            <a:ext cx="2926080" cy="457200"/>
          </a:xfrm>
          <a:prstGeom prst="rect">
            <a:avLst/>
          </a:prstGeom>
          <a:noFill/>
        </p:spPr>
        <p:txBody>
          <a:bodyPr wrap="square">
            <a:spAutoFit/>
          </a:bodyPr>
          <a:lstStyle/>
          <a:p>
            <a:pPr algn="l">
              <a:defRPr sz="1600" b="1">
                <a:solidFill>
                  <a:srgbClr val="1D1D1F"/>
                </a:solidFill>
              </a:defRPr>
            </a:pPr>
            <a:r>
              <a:t>Marketing</a:t>
            </a:r>
          </a:p>
        </p:txBody>
      </p:sp>
      <p:sp>
        <p:nvSpPr>
          <p:cNvPr id="17" name="TextBox 16"/>
          <p:cNvSpPr txBox="1"/>
          <p:nvPr/>
        </p:nvSpPr>
        <p:spPr>
          <a:xfrm>
            <a:off x="8595360" y="3291840"/>
            <a:ext cx="2926080" cy="1371600"/>
          </a:xfrm>
          <a:prstGeom prst="rect">
            <a:avLst/>
          </a:prstGeom>
          <a:noFill/>
        </p:spPr>
        <p:txBody>
          <a:bodyPr wrap="square">
            <a:spAutoFit/>
          </a:bodyPr>
          <a:lstStyle/>
          <a:p>
            <a:pPr algn="l">
              <a:defRPr sz="1200" b="0">
                <a:solidFill>
                  <a:srgbClr val="6E6E73"/>
                </a:solidFill>
              </a:defRPr>
            </a:pPr>
            <a:r>
              <a:t>Launch a campaign highlighting the 100% plastic-free unboxing experience as a premium feature.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