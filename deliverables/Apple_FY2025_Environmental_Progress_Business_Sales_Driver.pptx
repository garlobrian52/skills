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Corporate footprint</c:v>
                </c:pt>
              </c:strCache>
            </c:strRef>
          </c:tx>
          <c:spPr>
            <a:solidFill>
              <a:schemeClr val="accent1"/>
            </a:solidFill>
            <a:ln w="9525" cap="flat">
              <a:solidFill>
                <a:srgbClr val="F9F9F9"/>
              </a:solidFill>
              <a:prstDash val="solid"/>
              <a:round/>
            </a:ln>
            <a:effectLst/>
          </c:spPr>
          <c:dPt>
            <c:idx val="0"/>
            <c:bubble3D val="0"/>
            <c:spPr>
              <a:solidFill>
                <a:srgbClr val="22A65A"/>
              </a:solidFill>
              <a:effectLst/>
            </c:spPr>
          </c:dPt>
          <c:dPt>
            <c:idx val="1"/>
            <c:bubble3D val="0"/>
            <c:spPr>
              <a:solidFill>
                <a:srgbClr val="E4E7E2"/>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Progress</c:v>
                </c:pt>
                <c:pt idx="1">
                  <c:v>Remaining</c:v>
                </c:pt>
              </c:strCache>
            </c:strRef>
          </c:cat>
          <c:val>
            <c:numRef>
              <c:f>Sheet1!$B$2:$B$3</c:f>
              <c:numCache>
                <c:ptCount val="2"/>
                <c:pt idx="0">
                  <c:v>100</c:v>
                </c:pt>
                <c:pt idx="1">
                  <c:v>0.01</c:v>
                </c:pt>
              </c:numCache>
            </c:numRef>
          </c:val>
        </c:ser>
        <c:firstSliceAng val="0"/>
        <c:holeSize val="77"/>
      </c:doughnutChart>
      <c:spPr>
        <a:noFill/>
        <a:ln w="12700" cap="flat">
          <a:solidFill>
            <a:srgbClr val="F7F7F3"/>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Gross GHG reduction</c:v>
                </c:pt>
              </c:strCache>
            </c:strRef>
          </c:tx>
          <c:spPr>
            <a:solidFill>
              <a:schemeClr val="accent1"/>
            </a:solidFill>
            <a:ln w="9525" cap="flat">
              <a:solidFill>
                <a:srgbClr val="F9F9F9"/>
              </a:solidFill>
              <a:prstDash val="solid"/>
              <a:round/>
            </a:ln>
            <a:effectLst/>
          </c:spPr>
          <c:dPt>
            <c:idx val="0"/>
            <c:bubble3D val="0"/>
            <c:spPr>
              <a:solidFill>
                <a:srgbClr val="10382B"/>
              </a:solidFill>
              <a:effectLst/>
            </c:spPr>
          </c:dPt>
          <c:dPt>
            <c:idx val="1"/>
            <c:bubble3D val="0"/>
            <c:spPr>
              <a:solidFill>
                <a:srgbClr val="E4E7E2"/>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Progress</c:v>
                </c:pt>
                <c:pt idx="1">
                  <c:v>Remaining</c:v>
                </c:pt>
              </c:strCache>
            </c:strRef>
          </c:cat>
          <c:val>
            <c:numRef>
              <c:f>Sheet1!$B$2:$B$3</c:f>
              <c:numCache>
                <c:ptCount val="2"/>
                <c:pt idx="0">
                  <c:v>60</c:v>
                </c:pt>
                <c:pt idx="1">
                  <c:v>40</c:v>
                </c:pt>
              </c:numCache>
            </c:numRef>
          </c:val>
        </c:ser>
        <c:firstSliceAng val="0"/>
        <c:holeSize val="77"/>
      </c:doughnutChart>
      <c:spPr>
        <a:noFill/>
        <a:ln w="12700" cap="flat">
          <a:solidFill>
            <a:srgbClr val="F7F7F3"/>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gross footprint</c:v>
                </c:pt>
              </c:strCache>
            </c:strRef>
          </c:tx>
          <c:spPr>
            <a:solidFill>
              <a:schemeClr val="accent1"/>
            </a:solidFill>
            <a:ln w="9525" cap="flat">
              <a:solidFill>
                <a:srgbClr val="F9F9F9"/>
              </a:solidFill>
              <a:prstDash val="solid"/>
              <a:round/>
            </a:ln>
            <a:effectLst/>
          </c:spPr>
          <c:dPt>
            <c:idx val="0"/>
            <c:bubble3D val="0"/>
            <c:spPr>
              <a:solidFill>
                <a:srgbClr val="10382B"/>
              </a:solidFill>
              <a:effectLst/>
            </c:spPr>
          </c:dPt>
          <c:dPt>
            <c:idx val="1"/>
            <c:bubble3D val="0"/>
            <c:spPr>
              <a:solidFill>
                <a:srgbClr val="5AC8D8"/>
              </a:solidFill>
              <a:effectLst/>
            </c:spPr>
          </c:dPt>
          <c:dPt>
            <c:idx val="2"/>
            <c:bubble3D val="0"/>
            <c:spPr>
              <a:solidFill>
                <a:srgbClr val="9CB7A5"/>
              </a:solidFill>
              <a:effectLst/>
            </c:spPr>
          </c:dPt>
          <c:dPt>
            <c:idx val="3"/>
            <c:bubble3D val="0"/>
            <c:spPr>
              <a:solidFill>
                <a:srgbClr val="E4E7E2"/>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Manufacturing</c:v>
                </c:pt>
                <c:pt idx="1">
                  <c:v>Product use</c:v>
                </c:pt>
                <c:pt idx="2">
                  <c:v>Product transport</c:v>
                </c:pt>
                <c:pt idx="3">
                  <c:v>Business ops &amp; other</c:v>
                </c:pt>
              </c:strCache>
            </c:strRef>
          </c:cat>
          <c:val>
            <c:numRef>
              <c:f>Sheet1!$B$2:$B$5</c:f>
              <c:numCache>
                <c:ptCount val="4"/>
                <c:pt idx="0">
                  <c:v>53</c:v>
                </c:pt>
                <c:pt idx="1">
                  <c:v>27</c:v>
                </c:pt>
                <c:pt idx="2">
                  <c:v>16</c:v>
                </c:pt>
                <c:pt idx="3">
                  <c:v>4</c:v>
                </c:pt>
              </c:numCache>
            </c:numRef>
          </c:val>
        </c:ser>
        <c:firstSliceAng val="0"/>
        <c:holeSize val="63"/>
      </c:doughnutChart>
      <c:spPr>
        <a:noFill/>
        <a:ln w="12700" cap="flat">
          <a:solidFill>
            <a:srgbClr val="F7F7F3"/>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FY2025 is an inflection point. Apple held gross emissions more than 60 percent below its 2015 baseline while revenue grew 78 percent over the same period. The strategic question is no longer whether environmental progress can coexist with growth; it is how Sales, Marketing, and Operations convert that progress into customer preference, procurement advantage, and supply resilience.
SOURCE NOTES
Apple Environmental Progress Report 2026 (covering fiscal year 2025): https://www.apple.com/environment/pdf/Apple_Environmental_Progress_Report_2026.pdf
Apple Newsroom, April 2026: https://www.apple.com/newsroom/2026/04/apple-accelerates-progress-with-highest-ever-recycled-material-in-its-products/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year marks a critical inflection point. Apple has held gross emissions more than 60 percent below 2015 levels while revenue is up 78 percent over the same period. The materials and packaging milestones are increasingly relevant to consumer preference and enterprise procurement. One correction to common shorthand: the $4.7 billion in green bonds is cumulative across three issuances since 2016, not an FY2025 issuance.
SOURCE NOTES
Apple Environmental Progress Report 2026 (covering fiscal year 2025): https://www.apple.com/environment/pdf/Apple_Environmental_Progress_Report_2026.pdf
Apple Newsroom, April 2026: https://www.apple.com/newsroom/2026/04/apple-accelerates-progress-with-highest-ever-recycled-material-in-its-products/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has controlled its corporate footprint, maintaining carbon neutrality in 2025. The phrase 'eliminated direct operational carbon risk' would overstate the result because neutrality still uses credits for residual corporate emissions. The main exposure now sits in the value chain. A greater-than-60-percent gross reduction versus 2015 positions Apple ahead of many Scope 3 disclosure demands, while the 2030 plan still requires reducing gross emissions 75 percent before balancing the residual footprint.
SOURCE NOTES
Apple Environmental Progress Report 2026 (covering fiscal year 2025): https://www.apple.com/environment/pdf/Apple_Environmental_Progress_Report_2026.pdf
Apple Newsroom, April 2026: https://www.apple.com/newsroom/2026/04/apple-accelerates-progress-with-highest-ever-recycled-material-in-its-products/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clients are under pressure to quantify and reduce their own Scope 3 emissions. Apple hardware now carries proof points that can strengthen an RFP response: 100 percent recycled cobalt in Apple-designed batteries, rare earth elements in all magnets, and recycled gold plating plus tin solder on Apple-designed printed circuit boards. Sales materials must preserve these component-level qualifications rather than imply that every device is made from 100 percent recycled minerals. The fiber-based unboxing experience adds a visible premium signal.
SOURCE NOTES
Apple Environmental Progress Report 2026 (covering fiscal year 2025): https://www.apple.com/environment/pdf/Apple_Environmental_Progress_Report_2026.pdf
Apple Newsroom, April 2026: https://www.apple.com/newsroom/2026/04/apple-accelerates-progress-with-highest-ever-recycled-material-in-its-products/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 scarcity and waste disposal are material operating constraints in manufacturing regions. In 2025, Apple and suppliers saved 17 billion gallons of freshwater. Apple replenished 55 percent of corporate withdrawals, and all products continued to ship from final assembly sites maintaining third-party-verified zero-waste-to-landfill operations. Under the cited UL standard, zero waste requires at least 90 percent diversion through methods other than waste-to-energy. These programs support resilience and can reduce utility and disruption exposure, but margin impact should be quantified internally before being presented as realized savings.
SOURCE NOTES
Apple Environmental Progress Report 2026 (covering fiscal year 2025): https://www.apple.com/environment/pdf/Apple_Environmental_Progress_Report_2026.pdf
Apple Newsroom, April 2026: https://www.apple.com/newsroom/2026/04/apple-accelerates-progress-with-highest-ever-recycled-material-in-its-products/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Apple's FY2025 gross footprint is concentrated in three places: product manufacturing at 53 percent, customer product use at 27 percent, and transport at 16 percent. Product use is therefore a commercial story, not only an environmental one. Apple silicon efficiency can reduce customers' electricity consumption and downstream emissions over the installed life. The chart groups the small remaining categories into approximately 4 percent for board readability; Apple separately reports end-of-life, direct emissions, and Scope 2 electricity as each less than 1 percent, plus business operations.
SOURCE NOTES
Apple Environmental Progress Report 2026 (covering fiscal year 2025): https://www.apple.com/environment/pdf/Apple_Environmental_Progress_Report_2026.pdf
Apple Newsroom, April 2026: https://www.apple.com/newsroom/2026/04/apple-accelerates-progress-with-highest-ever-recycled-material-in-its-products/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estimates that its FY2025 environmental programs avoided 43 million metric tons of emissions across all scopes. The $4.7 billion green bond program is cumulative across three issuances since 2016, with the latest in 2019. This is a financing lever for eligible projects, not evidence that the entire environmental strategy is self-funded. It can strengthen ESG credibility and preserve financing options, but any claim of a lower cost of capital should be supported by Treasury analysis rather than asserted from the public report alone.
SOURCE NOTES
Apple Environmental Progress Report 2026 (covering fiscal year 2025): https://www.apple.com/environment/pdf/Apple_Environmental_Progress_Report_2026.pdf
Apple Newsroom, April 2026: https://www.apple.com/newsroom/2026/04/apple-accelerates-progress-with-highest-ever-recycled-material-in-its-products/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immediate action is to operationalize the FY2025 proof points. Enterprise teams should use component-qualified recycled-content and Scope 3 language in RFPs. Retail teams need a concise, memorable water and materials story. Marketing should make the fiber-based package a premium design proof point. Governance matters: every sales claim should retain Apple's stated boundaries and footnotes. The board ask is sponsorship for a cross-functional sprint with Sales, Marketing, Sustainability, Legal, and Finance, plus measurement of RFP adoption, win-rate movement, training recall, and campaign engagement.
SOURCE NOTES
Apple Environmental Progress Report 2026 (covering fiscal year 2025): https://www.apple.com/environment/pdf/Apple_Environmental_Progress_Report_2026.pdf
Apple Newsroom, April 2026: https://www.apple.com/newsroom/2026/04/apple-accelerates-progress-with-highest-ever-recycled-material-in-its-products/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7F3"/>
        </a:solidFill>
      </p:bgPr>
    </p:bg>
    <p:spTree>
      <p:nvGrpSpPr>
        <p:cNvPr id="1" name=""/>
        <p:cNvGrpSpPr/>
        <p:nvPr/>
      </p:nvGrpSpPr>
      <p:grpSpPr>
        <a:xfrm>
          <a:off x="0" y="0"/>
          <a:ext cx="0" cy="0"/>
          <a:chOff x="0" y="0"/>
          <a:chExt cx="0" cy="0"/>
        </a:xfrm>
      </p:grpSpPr>
      <p:sp>
        <p:nvSpPr>
          <p:cNvPr id="2" name="Shape 0"/>
          <p:cNvSpPr/>
          <p:nvPr/>
        </p:nvSpPr>
        <p:spPr>
          <a:xfrm>
            <a:off x="502920" y="6547104"/>
            <a:ext cx="11183112" cy="0"/>
          </a:xfrm>
          <a:prstGeom prst="line">
            <a:avLst/>
          </a:prstGeom>
          <a:noFill/>
          <a:ln w="8890">
            <a:solidFill>
              <a:srgbClr val="DADDD7"/>
            </a:solidFill>
            <a:prstDash val="solid"/>
          </a:ln>
        </p:spPr>
      </p:sp>
      <p:sp>
        <p:nvSpPr>
          <p:cNvPr id="3" name="Text 1"/>
          <p:cNvSpPr/>
          <p:nvPr/>
        </p:nvSpPr>
        <p:spPr>
          <a:xfrm>
            <a:off x="530352" y="6592824"/>
            <a:ext cx="6858000" cy="146304"/>
          </a:xfrm>
          <a:prstGeom prst="rect">
            <a:avLst/>
          </a:prstGeom>
          <a:noFill/>
          <a:ln/>
        </p:spPr>
        <p:txBody>
          <a:bodyPr wrap="square" lIns="0" tIns="0" rIns="0" bIns="0" rtlCol="0" anchor="ctr"/>
          <a:lstStyle/>
          <a:p>
            <a:pPr indent="0" marL="0">
              <a:buNone/>
            </a:pPr>
            <a:r>
              <a:rPr lang="en-US" sz="580" b="1" spc="80" kern="0" dirty="0">
                <a:solidFill>
                  <a:srgbClr val="858A84"/>
                </a:solidFill>
                <a:latin typeface="Inter" pitchFamily="34" charset="0"/>
                <a:ea typeface="Inter" pitchFamily="34" charset="-122"/>
                <a:cs typeface="Inter" pitchFamily="34" charset="-120"/>
              </a:rPr>
              <a:t>CONFIDENTIAL  |  BOARD OF DIRECTORS &amp; SALES LEADERSHIP STRATEGY</a:t>
            </a:r>
            <a:endParaRPr lang="en-US" sz="580" dirty="0"/>
          </a:p>
        </p:txBody>
      </p:sp>
      <p:sp>
        <p:nvSpPr>
          <p:cNvPr id="25" name="Slide Number Placeholder 0"/>
          <p:cNvSpPr>
            <a:spLocks noGrp="1"/>
          </p:cNvSpPr>
          <p:nvPr>
            <p:ph type="sldNum" sz="quarter" idx="4294967295"/>
          </p:nvPr>
        </p:nvSpPr>
        <p:spPr>
          <a:xfrm>
            <a:off x="11384280" y="6583680"/>
            <a:ext cx="256032"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858A84"/>
                </a:solidFill>
                <a:latin typeface="Inter"/>
                <a:ea typeface="Inter"/>
                <a:cs typeface="Inter"/>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83680"/>
            <a:ext cx="256032"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858A84"/>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CE6DE"/>
        </a:solidFill>
      </p:bgPr>
    </p:bg>
    <p:spTree>
      <p:nvGrpSpPr>
        <p:cNvPr id="1" name=""/>
        <p:cNvGrpSpPr/>
        <p:nvPr/>
      </p:nvGrpSpPr>
      <p:grpSpPr>
        <a:xfrm>
          <a:off x="0" y="0"/>
          <a:ext cx="0" cy="0"/>
          <a:chOff x="0" y="0"/>
          <a:chExt cx="0" cy="0"/>
        </a:xfrm>
      </p:grpSpPr>
      <p:pic>
        <p:nvPicPr>
          <p:cNvPr id="2" name="Image 0" descr="/opt/cursor/artifacts/assets/recycled_aluminum_title_backgroun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7FAF7">
              <a:alpha val="88000"/>
            </a:srgbClr>
          </a:solidFill>
          <a:ln w="12700">
            <a:solidFill>
              <a:srgbClr val="F7FAF7">
                <a:alpha val="0"/>
              </a:srgbClr>
            </a:solidFill>
            <a:prstDash val="solid"/>
          </a:ln>
        </p:spPr>
      </p:sp>
      <p:sp>
        <p:nvSpPr>
          <p:cNvPr id="4" name="Shape 1"/>
          <p:cNvSpPr/>
          <p:nvPr/>
        </p:nvSpPr>
        <p:spPr>
          <a:xfrm>
            <a:off x="4736592" y="658368"/>
            <a:ext cx="2724912" cy="292608"/>
          </a:xfrm>
          <a:prstGeom prst="roundRect">
            <a:avLst>
              <a:gd name="adj" fmla="val 21875"/>
            </a:avLst>
          </a:prstGeom>
          <a:solidFill>
            <a:srgbClr val="10382B"/>
          </a:solidFill>
          <a:ln w="12700">
            <a:solidFill>
              <a:srgbClr val="10382B">
                <a:alpha val="0"/>
              </a:srgbClr>
            </a:solidFill>
            <a:prstDash val="solid"/>
          </a:ln>
        </p:spPr>
      </p:sp>
      <p:sp>
        <p:nvSpPr>
          <p:cNvPr id="5" name="Text 2"/>
          <p:cNvSpPr/>
          <p:nvPr/>
        </p:nvSpPr>
        <p:spPr>
          <a:xfrm>
            <a:off x="4828032" y="667512"/>
            <a:ext cx="2542032" cy="256032"/>
          </a:xfrm>
          <a:prstGeom prst="rect">
            <a:avLst/>
          </a:prstGeom>
          <a:noFill/>
          <a:ln/>
        </p:spPr>
        <p:txBody>
          <a:bodyPr wrap="square" lIns="0" tIns="0" rIns="0" bIns="0" rtlCol="0" anchor="ctr">
            <a:normAutofit/>
          </a:bodyPr>
          <a:lstStyle/>
          <a:p>
            <a:pPr algn="ctr" indent="0" marL="0">
              <a:buNone/>
            </a:pPr>
            <a:r>
              <a:rPr lang="en-US" sz="700" b="1" spc="50" kern="0" dirty="0">
                <a:solidFill>
                  <a:srgbClr val="FFFFFF"/>
                </a:solidFill>
                <a:latin typeface="Inter" pitchFamily="34" charset="0"/>
                <a:ea typeface="Inter" pitchFamily="34" charset="-122"/>
                <a:cs typeface="Inter" pitchFamily="34" charset="-120"/>
              </a:rPr>
              <a:t>APPLE 2030  •  FY2025</a:t>
            </a:r>
            <a:endParaRPr lang="en-US" sz="700" dirty="0"/>
          </a:p>
        </p:txBody>
      </p:sp>
      <p:sp>
        <p:nvSpPr>
          <p:cNvPr id="6" name="Text 3"/>
          <p:cNvSpPr/>
          <p:nvPr/>
        </p:nvSpPr>
        <p:spPr>
          <a:xfrm>
            <a:off x="1115568" y="1335024"/>
            <a:ext cx="9966960" cy="640080"/>
          </a:xfrm>
          <a:prstGeom prst="rect">
            <a:avLst/>
          </a:prstGeom>
          <a:noFill/>
          <a:ln/>
        </p:spPr>
        <p:txBody>
          <a:bodyPr wrap="square" lIns="0" tIns="0" rIns="0" bIns="0" rtlCol="0" anchor="ctr">
            <a:normAutofit/>
          </a:bodyPr>
          <a:lstStyle/>
          <a:p>
            <a:pPr algn="ctr" indent="0" marL="0">
              <a:buNone/>
            </a:pPr>
            <a:r>
              <a:rPr lang="en-US" sz="3400" b="1" dirty="0">
                <a:solidFill>
                  <a:srgbClr val="111311"/>
                </a:solidFill>
                <a:latin typeface="Inter" pitchFamily="34" charset="0"/>
                <a:ea typeface="Inter" pitchFamily="34" charset="-122"/>
                <a:cs typeface="Inter" pitchFamily="34" charset="-120"/>
              </a:rPr>
              <a:t>Environmental Progress</a:t>
            </a:r>
            <a:endParaRPr lang="en-US" sz="3400" dirty="0"/>
          </a:p>
        </p:txBody>
      </p:sp>
      <p:sp>
        <p:nvSpPr>
          <p:cNvPr id="7" name="Text 4"/>
          <p:cNvSpPr/>
          <p:nvPr/>
        </p:nvSpPr>
        <p:spPr>
          <a:xfrm>
            <a:off x="1097280" y="1975104"/>
            <a:ext cx="9994392" cy="566928"/>
          </a:xfrm>
          <a:prstGeom prst="rect">
            <a:avLst/>
          </a:prstGeom>
          <a:noFill/>
          <a:ln/>
        </p:spPr>
        <p:txBody>
          <a:bodyPr wrap="square" lIns="0" tIns="0" rIns="0" bIns="0" rtlCol="0" anchor="ctr">
            <a:normAutofit/>
          </a:bodyPr>
          <a:lstStyle/>
          <a:p>
            <a:pPr algn="ctr" indent="0" marL="0">
              <a:buNone/>
            </a:pPr>
            <a:r>
              <a:rPr lang="en-US" sz="2600" b="1" dirty="0">
                <a:solidFill>
                  <a:srgbClr val="10382B"/>
                </a:solidFill>
                <a:latin typeface="Inter" pitchFamily="34" charset="0"/>
                <a:ea typeface="Inter" pitchFamily="34" charset="-122"/>
                <a:cs typeface="Inter" pitchFamily="34" charset="-120"/>
              </a:rPr>
              <a:t>as a Business &amp; Sales Driver</a:t>
            </a:r>
            <a:endParaRPr lang="en-US" sz="2600" dirty="0"/>
          </a:p>
        </p:txBody>
      </p:sp>
      <p:sp>
        <p:nvSpPr>
          <p:cNvPr id="8" name="Text 5"/>
          <p:cNvSpPr/>
          <p:nvPr/>
        </p:nvSpPr>
        <p:spPr>
          <a:xfrm>
            <a:off x="2011680" y="2670048"/>
            <a:ext cx="8165592" cy="320040"/>
          </a:xfrm>
          <a:prstGeom prst="rect">
            <a:avLst/>
          </a:prstGeom>
          <a:noFill/>
          <a:ln/>
        </p:spPr>
        <p:txBody>
          <a:bodyPr wrap="square" lIns="0" tIns="0" rIns="0" bIns="0" rtlCol="0" anchor="ctr">
            <a:normAutofit/>
          </a:bodyPr>
          <a:lstStyle/>
          <a:p>
            <a:pPr algn="ctr" indent="0" marL="0">
              <a:buNone/>
            </a:pPr>
            <a:r>
              <a:rPr lang="en-US" sz="1300" dirty="0">
                <a:solidFill>
                  <a:srgbClr val="303430"/>
                </a:solidFill>
                <a:latin typeface="Inter" pitchFamily="34" charset="0"/>
                <a:ea typeface="Inter" pitchFamily="34" charset="-122"/>
                <a:cs typeface="Inter" pitchFamily="34" charset="-120"/>
              </a:rPr>
              <a:t>Decoupling business growth from emissions</a:t>
            </a:r>
            <a:endParaRPr lang="en-US" sz="1300" dirty="0"/>
          </a:p>
        </p:txBody>
      </p:sp>
      <p:sp>
        <p:nvSpPr>
          <p:cNvPr id="9" name="Shape 6"/>
          <p:cNvSpPr/>
          <p:nvPr/>
        </p:nvSpPr>
        <p:spPr>
          <a:xfrm>
            <a:off x="3794760" y="3712464"/>
            <a:ext cx="4599432" cy="1938528"/>
          </a:xfrm>
          <a:prstGeom prst="roundRect">
            <a:avLst>
              <a:gd name="adj" fmla="val 2830"/>
            </a:avLst>
          </a:prstGeom>
          <a:solidFill>
            <a:srgbClr val="D4D8D5">
              <a:alpha val="94000"/>
            </a:srgbClr>
          </a:solidFill>
          <a:ln w="15240">
            <a:solidFill>
              <a:srgbClr val="8D938F"/>
            </a:solidFill>
            <a:prstDash val="solid"/>
          </a:ln>
        </p:spPr>
      </p:sp>
      <p:sp>
        <p:nvSpPr>
          <p:cNvPr id="10" name="Shape 7"/>
          <p:cNvSpPr/>
          <p:nvPr/>
        </p:nvSpPr>
        <p:spPr>
          <a:xfrm>
            <a:off x="4014216" y="3931920"/>
            <a:ext cx="4160520" cy="1426464"/>
          </a:xfrm>
          <a:prstGeom prst="rect">
            <a:avLst/>
          </a:prstGeom>
          <a:solidFill>
            <a:srgbClr val="15221C">
              <a:alpha val="96000"/>
            </a:srgbClr>
          </a:solidFill>
          <a:ln w="12700">
            <a:solidFill>
              <a:srgbClr val="15221C"/>
            </a:solidFill>
            <a:prstDash val="solid"/>
          </a:ln>
        </p:spPr>
      </p:sp>
      <p:sp>
        <p:nvSpPr>
          <p:cNvPr id="11" name="Shape 8"/>
          <p:cNvSpPr/>
          <p:nvPr/>
        </p:nvSpPr>
        <p:spPr>
          <a:xfrm>
            <a:off x="3273552" y="5522976"/>
            <a:ext cx="5650992" cy="246888"/>
          </a:xfrm>
          <a:prstGeom prst="roundRect">
            <a:avLst>
              <a:gd name="adj" fmla="val 11111"/>
            </a:avLst>
          </a:prstGeom>
          <a:solidFill>
            <a:srgbClr val="C5CAC7"/>
          </a:solidFill>
          <a:ln w="7620">
            <a:solidFill>
              <a:srgbClr val="989E9A"/>
            </a:solidFill>
            <a:prstDash val="solid"/>
          </a:ln>
        </p:spPr>
      </p:sp>
      <p:sp>
        <p:nvSpPr>
          <p:cNvPr id="12" name="Shape 9"/>
          <p:cNvSpPr/>
          <p:nvPr/>
        </p:nvSpPr>
        <p:spPr>
          <a:xfrm>
            <a:off x="2542032" y="4169664"/>
            <a:ext cx="1078992" cy="2002536"/>
          </a:xfrm>
          <a:prstGeom prst="roundRect">
            <a:avLst>
              <a:gd name="adj" fmla="val 10169"/>
            </a:avLst>
          </a:prstGeom>
          <a:solidFill>
            <a:srgbClr val="D8DCDA"/>
          </a:solidFill>
          <a:ln w="13970">
            <a:solidFill>
              <a:srgbClr val="858C87"/>
            </a:solidFill>
            <a:prstDash val="solid"/>
          </a:ln>
        </p:spPr>
      </p:sp>
      <p:sp>
        <p:nvSpPr>
          <p:cNvPr id="13" name="Shape 10"/>
          <p:cNvSpPr/>
          <p:nvPr/>
        </p:nvSpPr>
        <p:spPr>
          <a:xfrm>
            <a:off x="2633472" y="4334256"/>
            <a:ext cx="896112" cy="1673352"/>
          </a:xfrm>
          <a:prstGeom prst="roundRect">
            <a:avLst>
              <a:gd name="adj" fmla="val 8163"/>
            </a:avLst>
          </a:prstGeom>
          <a:solidFill>
            <a:srgbClr val="1A2D23"/>
          </a:solidFill>
          <a:ln w="12700">
            <a:solidFill>
              <a:srgbClr val="1A2D23"/>
            </a:solidFill>
            <a:prstDash val="solid"/>
          </a:ln>
        </p:spPr>
      </p:sp>
      <p:sp>
        <p:nvSpPr>
          <p:cNvPr id="14" name="Shape 11"/>
          <p:cNvSpPr/>
          <p:nvPr/>
        </p:nvSpPr>
        <p:spPr>
          <a:xfrm>
            <a:off x="8668512" y="4590288"/>
            <a:ext cx="996696" cy="996696"/>
          </a:xfrm>
          <a:prstGeom prst="roundRect">
            <a:avLst>
              <a:gd name="adj" fmla="val 16514"/>
            </a:avLst>
          </a:prstGeom>
          <a:solidFill>
            <a:srgbClr val="D2D7D3"/>
          </a:solidFill>
          <a:ln w="13970">
            <a:solidFill>
              <a:srgbClr val="858C87"/>
            </a:solidFill>
            <a:prstDash val="solid"/>
          </a:ln>
        </p:spPr>
      </p:sp>
      <p:sp>
        <p:nvSpPr>
          <p:cNvPr id="15" name="Shape 12"/>
          <p:cNvSpPr/>
          <p:nvPr/>
        </p:nvSpPr>
        <p:spPr>
          <a:xfrm>
            <a:off x="8851392" y="4773168"/>
            <a:ext cx="630936" cy="630936"/>
          </a:xfrm>
          <a:prstGeom prst="ellipse">
            <a:avLst/>
          </a:prstGeom>
          <a:solidFill>
            <a:srgbClr val="1A2D23"/>
          </a:solidFill>
          <a:ln w="12700">
            <a:solidFill>
              <a:srgbClr val="1A2D23"/>
            </a:solidFill>
            <a:prstDash val="solid"/>
          </a:ln>
        </p:spPr>
      </p:sp>
      <p:sp>
        <p:nvSpPr>
          <p:cNvPr id="16" name="Text 13"/>
          <p:cNvSpPr/>
          <p:nvPr/>
        </p:nvSpPr>
        <p:spPr>
          <a:xfrm>
            <a:off x="2011680" y="6483096"/>
            <a:ext cx="8165592" cy="182880"/>
          </a:xfrm>
          <a:prstGeom prst="rect">
            <a:avLst/>
          </a:prstGeom>
          <a:noFill/>
          <a:ln/>
        </p:spPr>
        <p:txBody>
          <a:bodyPr wrap="square" lIns="0" tIns="0" rIns="0" bIns="0" rtlCol="0" anchor="ctr">
            <a:normAutofit/>
          </a:bodyPr>
          <a:lstStyle/>
          <a:p>
            <a:pPr algn="ctr" indent="0" marL="0">
              <a:buNone/>
            </a:pPr>
            <a:r>
              <a:rPr lang="en-US" sz="620" b="1" spc="80" kern="0" dirty="0">
                <a:solidFill>
                  <a:srgbClr val="303430"/>
                </a:solidFill>
                <a:latin typeface="Inter" pitchFamily="34" charset="0"/>
                <a:ea typeface="Inter" pitchFamily="34" charset="-122"/>
                <a:cs typeface="Inter" pitchFamily="34" charset="-120"/>
              </a:rPr>
              <a:t>CONFIDENTIAL  |  BOARD OF DIRECTORS &amp; SALES LEADERSHIP STRATEGY</a:t>
            </a:r>
            <a:endParaRPr lang="en-US" sz="6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10896"/>
            <a:ext cx="4114800" cy="219456"/>
          </a:xfrm>
          <a:prstGeom prst="rect">
            <a:avLst/>
          </a:prstGeom>
          <a:noFill/>
          <a:ln/>
        </p:spPr>
        <p:txBody>
          <a:bodyPr wrap="square" lIns="0" tIns="0" rIns="0" bIns="0" rtlCol="0" anchor="ctr">
            <a:normAutofit/>
          </a:bodyPr>
          <a:lstStyle/>
          <a:p>
            <a:pPr indent="0" marL="0">
              <a:buNone/>
            </a:pPr>
            <a:r>
              <a:rPr lang="en-US" sz="850" b="1" spc="120" kern="0" dirty="0">
                <a:solidFill>
                  <a:srgbClr val="22A65A"/>
                </a:solidFill>
                <a:latin typeface="Inter" pitchFamily="34" charset="0"/>
                <a:ea typeface="Inter" pitchFamily="34" charset="-122"/>
                <a:cs typeface="Inter" pitchFamily="34" charset="-120"/>
              </a:rPr>
              <a:t>EXECUTIVE SNAPSHOT</a:t>
            </a:r>
            <a:endParaRPr lang="en-US" sz="850" dirty="0"/>
          </a:p>
        </p:txBody>
      </p:sp>
      <p:sp>
        <p:nvSpPr>
          <p:cNvPr id="3" name="Text 1"/>
          <p:cNvSpPr/>
          <p:nvPr/>
        </p:nvSpPr>
        <p:spPr>
          <a:xfrm>
            <a:off x="548640" y="621792"/>
            <a:ext cx="11018520" cy="502920"/>
          </a:xfrm>
          <a:prstGeom prst="rect">
            <a:avLst/>
          </a:prstGeom>
          <a:noFill/>
          <a:ln/>
        </p:spPr>
        <p:txBody>
          <a:bodyPr wrap="square" lIns="0" tIns="0" rIns="0" bIns="0" rtlCol="0" anchor="ctr">
            <a:normAutofit/>
          </a:bodyPr>
          <a:lstStyle/>
          <a:p>
            <a:pPr indent="0" marL="0">
              <a:buNone/>
            </a:pPr>
            <a:r>
              <a:rPr lang="en-US" sz="2500" b="1" dirty="0">
                <a:solidFill>
                  <a:srgbClr val="111311"/>
                </a:solidFill>
                <a:latin typeface="Inter" pitchFamily="34" charset="0"/>
                <a:ea typeface="Inter" pitchFamily="34" charset="-122"/>
                <a:cs typeface="Inter" pitchFamily="34" charset="-120"/>
              </a:rPr>
              <a:t>FY25: sustainability is now a shareholder-value lever</a:t>
            </a:r>
            <a:endParaRPr lang="en-US" sz="2500" dirty="0"/>
          </a:p>
        </p:txBody>
      </p:sp>
      <p:sp>
        <p:nvSpPr>
          <p:cNvPr id="4" name="Text 2"/>
          <p:cNvSpPr/>
          <p:nvPr/>
        </p:nvSpPr>
        <p:spPr>
          <a:xfrm>
            <a:off x="548640" y="1133856"/>
            <a:ext cx="11018520" cy="310896"/>
          </a:xfrm>
          <a:prstGeom prst="rect">
            <a:avLst/>
          </a:prstGeom>
          <a:noFill/>
          <a:ln/>
        </p:spPr>
        <p:txBody>
          <a:bodyPr wrap="square" lIns="0" tIns="0" rIns="0" bIns="0" rtlCol="0" anchor="ctr">
            <a:normAutofit/>
          </a:bodyPr>
          <a:lstStyle/>
          <a:p>
            <a:pPr indent="0" marL="0">
              <a:buNone/>
            </a:pPr>
            <a:r>
              <a:rPr lang="en-US" sz="1050" dirty="0">
                <a:solidFill>
                  <a:srgbClr val="6D726D"/>
                </a:solidFill>
                <a:latin typeface="Inter" pitchFamily="34" charset="0"/>
                <a:ea typeface="Inter" pitchFamily="34" charset="-122"/>
                <a:cs typeface="Inter" pitchFamily="34" charset="-120"/>
              </a:rPr>
              <a:t>Proof that premium growth and footprint reduction can scale together</a:t>
            </a:r>
            <a:endParaRPr lang="en-US" sz="1050" dirty="0"/>
          </a:p>
        </p:txBody>
      </p:sp>
      <p:sp>
        <p:nvSpPr>
          <p:cNvPr id="5" name="Shape 3"/>
          <p:cNvSpPr/>
          <p:nvPr/>
        </p:nvSpPr>
        <p:spPr>
          <a:xfrm>
            <a:off x="9418320" y="283464"/>
            <a:ext cx="2194560" cy="292608"/>
          </a:xfrm>
          <a:prstGeom prst="roundRect">
            <a:avLst>
              <a:gd name="adj" fmla="val 21875"/>
            </a:avLst>
          </a:prstGeom>
          <a:solidFill>
            <a:srgbClr val="10382B"/>
          </a:solidFill>
          <a:ln w="12700">
            <a:solidFill>
              <a:srgbClr val="10382B">
                <a:alpha val="0"/>
              </a:srgbClr>
            </a:solidFill>
            <a:prstDash val="solid"/>
          </a:ln>
        </p:spPr>
      </p:sp>
      <p:sp>
        <p:nvSpPr>
          <p:cNvPr id="6" name="Text 4"/>
          <p:cNvSpPr/>
          <p:nvPr/>
        </p:nvSpPr>
        <p:spPr>
          <a:xfrm>
            <a:off x="9509760" y="292608"/>
            <a:ext cx="2011680" cy="256032"/>
          </a:xfrm>
          <a:prstGeom prst="rect">
            <a:avLst/>
          </a:prstGeom>
          <a:noFill/>
          <a:ln/>
        </p:spPr>
        <p:txBody>
          <a:bodyPr wrap="square" lIns="0" tIns="0" rIns="0" bIns="0" rtlCol="0" anchor="ctr">
            <a:normAutofit/>
          </a:bodyPr>
          <a:lstStyle/>
          <a:p>
            <a:pPr algn="ctr" indent="0" marL="0">
              <a:buNone/>
            </a:pPr>
            <a:r>
              <a:rPr lang="en-US" sz="700" b="1" spc="50" kern="0" dirty="0">
                <a:solidFill>
                  <a:srgbClr val="FFFFFF"/>
                </a:solidFill>
                <a:latin typeface="Inter" pitchFamily="34" charset="0"/>
                <a:ea typeface="Inter" pitchFamily="34" charset="-122"/>
                <a:cs typeface="Inter" pitchFamily="34" charset="-120"/>
              </a:rPr>
              <a:t>REVENUE +78% vs. 2015</a:t>
            </a:r>
            <a:endParaRPr lang="en-US" sz="700" dirty="0"/>
          </a:p>
        </p:txBody>
      </p:sp>
      <p:sp>
        <p:nvSpPr>
          <p:cNvPr id="7" name="Shape 5"/>
          <p:cNvSpPr/>
          <p:nvPr/>
        </p:nvSpPr>
        <p:spPr>
          <a:xfrm>
            <a:off x="566928" y="1609344"/>
            <a:ext cx="5358384" cy="2029968"/>
          </a:xfrm>
          <a:prstGeom prst="roundRect">
            <a:avLst>
              <a:gd name="adj" fmla="val 3604"/>
            </a:avLst>
          </a:prstGeom>
          <a:solidFill>
            <a:srgbClr val="10382B"/>
          </a:solidFill>
          <a:ln w="12700">
            <a:solidFill>
              <a:srgbClr val="10382B">
                <a:alpha val="0"/>
              </a:srgbClr>
            </a:solidFill>
            <a:prstDash val="solid"/>
          </a:ln>
          <a:effectLst>
            <a:outerShdw sx="100000" sy="100000" kx="0" ky="0" algn="bl" rotWithShape="0" blurRad="12700" dist="50800" dir="2700000">
              <a:srgbClr val="ADB2AC">
                <a:alpha val="12000"/>
              </a:srgbClr>
            </a:outerShdw>
          </a:effectLst>
        </p:spPr>
      </p:sp>
      <p:sp>
        <p:nvSpPr>
          <p:cNvPr id="8" name="Text 6"/>
          <p:cNvSpPr/>
          <p:nvPr/>
        </p:nvSpPr>
        <p:spPr>
          <a:xfrm>
            <a:off x="822960" y="1901952"/>
            <a:ext cx="4846320" cy="713232"/>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Inter" pitchFamily="34" charset="0"/>
                <a:ea typeface="Inter" pitchFamily="34" charset="-122"/>
                <a:cs typeface="Inter" pitchFamily="34" charset="-120"/>
              </a:rPr>
              <a:t>&gt;60%</a:t>
            </a:r>
            <a:endParaRPr lang="en-US" sz="3100" dirty="0"/>
          </a:p>
        </p:txBody>
      </p:sp>
      <p:sp>
        <p:nvSpPr>
          <p:cNvPr id="9" name="Text 7"/>
          <p:cNvSpPr/>
          <p:nvPr/>
        </p:nvSpPr>
        <p:spPr>
          <a:xfrm>
            <a:off x="822960" y="2679192"/>
            <a:ext cx="4846320" cy="384048"/>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Inter" pitchFamily="34" charset="0"/>
                <a:ea typeface="Inter" pitchFamily="34" charset="-122"/>
                <a:cs typeface="Inter" pitchFamily="34" charset="-120"/>
              </a:rPr>
              <a:t>gross emissions reduction</a:t>
            </a:r>
            <a:endParaRPr lang="en-US" sz="1200" dirty="0"/>
          </a:p>
        </p:txBody>
      </p:sp>
      <p:sp>
        <p:nvSpPr>
          <p:cNvPr id="10" name="Text 8"/>
          <p:cNvSpPr/>
          <p:nvPr/>
        </p:nvSpPr>
        <p:spPr>
          <a:xfrm>
            <a:off x="822960" y="3099816"/>
            <a:ext cx="4846320" cy="310896"/>
          </a:xfrm>
          <a:prstGeom prst="rect">
            <a:avLst/>
          </a:prstGeom>
          <a:noFill/>
          <a:ln/>
        </p:spPr>
        <p:txBody>
          <a:bodyPr wrap="square" lIns="0" tIns="0" rIns="0" bIns="0" rtlCol="0" anchor="t">
            <a:normAutofit/>
          </a:bodyPr>
          <a:lstStyle/>
          <a:p>
            <a:pPr indent="0" marL="0">
              <a:buNone/>
            </a:pPr>
            <a:r>
              <a:rPr lang="en-US" sz="830" dirty="0">
                <a:solidFill>
                  <a:srgbClr val="D8EBDD"/>
                </a:solidFill>
                <a:latin typeface="Inter" pitchFamily="34" charset="0"/>
                <a:ea typeface="Inter" pitchFamily="34" charset="-122"/>
                <a:cs typeface="Inter" pitchFamily="34" charset="-120"/>
              </a:rPr>
              <a:t>Versus Apple’s 2015 baseline, sustained through a year of significant business growth.</a:t>
            </a:r>
            <a:endParaRPr lang="en-US" sz="830" dirty="0"/>
          </a:p>
        </p:txBody>
      </p:sp>
      <p:sp>
        <p:nvSpPr>
          <p:cNvPr id="11" name="Shape 9"/>
          <p:cNvSpPr/>
          <p:nvPr/>
        </p:nvSpPr>
        <p:spPr>
          <a:xfrm>
            <a:off x="6172200" y="1609344"/>
            <a:ext cx="5449824" cy="2029968"/>
          </a:xfrm>
          <a:prstGeom prst="roundRect">
            <a:avLst>
              <a:gd name="adj" fmla="val 3604"/>
            </a:avLst>
          </a:prstGeom>
          <a:solidFill>
            <a:srgbClr val="E2F7E8"/>
          </a:solidFill>
          <a:ln w="12700">
            <a:solidFill>
              <a:srgbClr val="E2F7E8">
                <a:alpha val="0"/>
              </a:srgbClr>
            </a:solidFill>
            <a:prstDash val="solid"/>
          </a:ln>
          <a:effectLst>
            <a:outerShdw sx="100000" sy="100000" kx="0" ky="0" algn="bl" rotWithShape="0" blurRad="12700" dist="50800" dir="2700000">
              <a:srgbClr val="ADB2AC">
                <a:alpha val="12000"/>
              </a:srgbClr>
            </a:outerShdw>
          </a:effectLst>
        </p:spPr>
      </p:sp>
      <p:sp>
        <p:nvSpPr>
          <p:cNvPr id="12" name="Text 10"/>
          <p:cNvSpPr/>
          <p:nvPr/>
        </p:nvSpPr>
        <p:spPr>
          <a:xfrm>
            <a:off x="6428232" y="1901952"/>
            <a:ext cx="4937760" cy="713232"/>
          </a:xfrm>
          <a:prstGeom prst="rect">
            <a:avLst/>
          </a:prstGeom>
          <a:noFill/>
          <a:ln/>
        </p:spPr>
        <p:txBody>
          <a:bodyPr wrap="square" lIns="0" tIns="0" rIns="0" bIns="0" rtlCol="0" anchor="ctr">
            <a:normAutofit/>
          </a:bodyPr>
          <a:lstStyle/>
          <a:p>
            <a:pPr indent="0" marL="0">
              <a:buNone/>
            </a:pPr>
            <a:r>
              <a:rPr lang="en-US" sz="3100" b="1" dirty="0">
                <a:solidFill>
                  <a:srgbClr val="22A65A"/>
                </a:solidFill>
                <a:latin typeface="Inter" pitchFamily="34" charset="0"/>
                <a:ea typeface="Inter" pitchFamily="34" charset="-122"/>
                <a:cs typeface="Inter" pitchFamily="34" charset="-120"/>
              </a:rPr>
              <a:t>30%</a:t>
            </a:r>
            <a:endParaRPr lang="en-US" sz="3100" dirty="0"/>
          </a:p>
        </p:txBody>
      </p:sp>
      <p:sp>
        <p:nvSpPr>
          <p:cNvPr id="13" name="Text 11"/>
          <p:cNvSpPr/>
          <p:nvPr/>
        </p:nvSpPr>
        <p:spPr>
          <a:xfrm>
            <a:off x="6428232" y="2679192"/>
            <a:ext cx="4937760" cy="384048"/>
          </a:xfrm>
          <a:prstGeom prst="rect">
            <a:avLst/>
          </a:prstGeom>
          <a:noFill/>
          <a:ln/>
        </p:spPr>
        <p:txBody>
          <a:bodyPr wrap="square" lIns="0" tIns="0" rIns="0" bIns="0" rtlCol="0" anchor="ctr">
            <a:normAutofit/>
          </a:bodyPr>
          <a:lstStyle/>
          <a:p>
            <a:pPr indent="0" marL="0">
              <a:buNone/>
            </a:pPr>
            <a:r>
              <a:rPr lang="en-US" sz="1200" b="1" dirty="0">
                <a:solidFill>
                  <a:srgbClr val="111311"/>
                </a:solidFill>
                <a:latin typeface="Inter" pitchFamily="34" charset="0"/>
                <a:ea typeface="Inter" pitchFamily="34" charset="-122"/>
                <a:cs typeface="Inter" pitchFamily="34" charset="-120"/>
              </a:rPr>
              <a:t>recycled or renewable materials</a:t>
            </a:r>
            <a:endParaRPr lang="en-US" sz="1200" dirty="0"/>
          </a:p>
        </p:txBody>
      </p:sp>
      <p:sp>
        <p:nvSpPr>
          <p:cNvPr id="14" name="Text 12"/>
          <p:cNvSpPr/>
          <p:nvPr/>
        </p:nvSpPr>
        <p:spPr>
          <a:xfrm>
            <a:off x="6428232" y="3099816"/>
            <a:ext cx="4937760" cy="310896"/>
          </a:xfrm>
          <a:prstGeom prst="rect">
            <a:avLst/>
          </a:prstGeom>
          <a:noFill/>
          <a:ln/>
        </p:spPr>
        <p:txBody>
          <a:bodyPr wrap="square" lIns="0" tIns="0" rIns="0" bIns="0" rtlCol="0" anchor="t">
            <a:normAutofit/>
          </a:bodyPr>
          <a:lstStyle/>
          <a:p>
            <a:pPr indent="0" marL="0">
              <a:buNone/>
            </a:pPr>
            <a:r>
              <a:rPr lang="en-US" sz="830" dirty="0">
                <a:solidFill>
                  <a:srgbClr val="6D726D"/>
                </a:solidFill>
                <a:latin typeface="Inter" pitchFamily="34" charset="0"/>
                <a:ea typeface="Inter" pitchFamily="34" charset="-122"/>
                <a:cs typeface="Inter" pitchFamily="34" charset="-120"/>
              </a:rPr>
              <a:t>Share of material shipped in products by weight — a record for Apple.</a:t>
            </a:r>
            <a:endParaRPr lang="en-US" sz="830" dirty="0"/>
          </a:p>
        </p:txBody>
      </p:sp>
      <p:sp>
        <p:nvSpPr>
          <p:cNvPr id="15" name="Shape 13"/>
          <p:cNvSpPr/>
          <p:nvPr/>
        </p:nvSpPr>
        <p:spPr>
          <a:xfrm>
            <a:off x="566928" y="3858768"/>
            <a:ext cx="5358384" cy="2029968"/>
          </a:xfrm>
          <a:prstGeom prst="roundRect">
            <a:avLst>
              <a:gd name="adj" fmla="val 3604"/>
            </a:avLst>
          </a:prstGeom>
          <a:solidFill>
            <a:srgbClr val="EEE9DD"/>
          </a:solidFill>
          <a:ln w="12700">
            <a:solidFill>
              <a:srgbClr val="EEE9DD">
                <a:alpha val="0"/>
              </a:srgbClr>
            </a:solidFill>
            <a:prstDash val="solid"/>
          </a:ln>
          <a:effectLst>
            <a:outerShdw sx="100000" sy="100000" kx="0" ky="0" algn="bl" rotWithShape="0" blurRad="12700" dist="50800" dir="2700000">
              <a:srgbClr val="ADB2AC">
                <a:alpha val="12000"/>
              </a:srgbClr>
            </a:outerShdw>
          </a:effectLst>
        </p:spPr>
      </p:sp>
      <p:sp>
        <p:nvSpPr>
          <p:cNvPr id="16" name="Text 14"/>
          <p:cNvSpPr/>
          <p:nvPr/>
        </p:nvSpPr>
        <p:spPr>
          <a:xfrm>
            <a:off x="822960" y="4151376"/>
            <a:ext cx="4846320" cy="713232"/>
          </a:xfrm>
          <a:prstGeom prst="rect">
            <a:avLst/>
          </a:prstGeom>
          <a:noFill/>
          <a:ln/>
        </p:spPr>
        <p:txBody>
          <a:bodyPr wrap="square" lIns="0" tIns="0" rIns="0" bIns="0" rtlCol="0" anchor="ctr">
            <a:normAutofit/>
          </a:bodyPr>
          <a:lstStyle/>
          <a:p>
            <a:pPr indent="0" marL="0">
              <a:buNone/>
            </a:pPr>
            <a:r>
              <a:rPr lang="en-US" sz="3100" b="1" dirty="0">
                <a:solidFill>
                  <a:srgbClr val="22A65A"/>
                </a:solidFill>
                <a:latin typeface="Inter" pitchFamily="34" charset="0"/>
                <a:ea typeface="Inter" pitchFamily="34" charset="-122"/>
                <a:cs typeface="Inter" pitchFamily="34" charset="-120"/>
              </a:rPr>
              <a:t>100%</a:t>
            </a:r>
            <a:endParaRPr lang="en-US" sz="3100" dirty="0"/>
          </a:p>
        </p:txBody>
      </p:sp>
      <p:sp>
        <p:nvSpPr>
          <p:cNvPr id="17" name="Text 15"/>
          <p:cNvSpPr/>
          <p:nvPr/>
        </p:nvSpPr>
        <p:spPr>
          <a:xfrm>
            <a:off x="822960" y="4928616"/>
            <a:ext cx="4846320" cy="384048"/>
          </a:xfrm>
          <a:prstGeom prst="rect">
            <a:avLst/>
          </a:prstGeom>
          <a:noFill/>
          <a:ln/>
        </p:spPr>
        <p:txBody>
          <a:bodyPr wrap="square" lIns="0" tIns="0" rIns="0" bIns="0" rtlCol="0" anchor="ctr">
            <a:normAutofit/>
          </a:bodyPr>
          <a:lstStyle/>
          <a:p>
            <a:pPr indent="0" marL="0">
              <a:buNone/>
            </a:pPr>
            <a:r>
              <a:rPr lang="en-US" sz="1200" b="1" dirty="0">
                <a:solidFill>
                  <a:srgbClr val="111311"/>
                </a:solidFill>
                <a:latin typeface="Inter" pitchFamily="34" charset="0"/>
                <a:ea typeface="Inter" pitchFamily="34" charset="-122"/>
                <a:cs typeface="Inter" pitchFamily="34" charset="-120"/>
              </a:rPr>
              <a:t>fiber-based packaging</a:t>
            </a:r>
            <a:endParaRPr lang="en-US" sz="1200" dirty="0"/>
          </a:p>
        </p:txBody>
      </p:sp>
      <p:sp>
        <p:nvSpPr>
          <p:cNvPr id="18" name="Text 16"/>
          <p:cNvSpPr/>
          <p:nvPr/>
        </p:nvSpPr>
        <p:spPr>
          <a:xfrm>
            <a:off x="822960" y="5349240"/>
            <a:ext cx="4846320" cy="310896"/>
          </a:xfrm>
          <a:prstGeom prst="rect">
            <a:avLst/>
          </a:prstGeom>
          <a:noFill/>
          <a:ln/>
        </p:spPr>
        <p:txBody>
          <a:bodyPr wrap="square" lIns="0" tIns="0" rIns="0" bIns="0" rtlCol="0" anchor="t">
            <a:normAutofit/>
          </a:bodyPr>
          <a:lstStyle/>
          <a:p>
            <a:pPr indent="0" marL="0">
              <a:buNone/>
            </a:pPr>
            <a:r>
              <a:rPr lang="en-US" sz="830" dirty="0">
                <a:solidFill>
                  <a:srgbClr val="6D726D"/>
                </a:solidFill>
                <a:latin typeface="Inter" pitchFamily="34" charset="0"/>
                <a:ea typeface="Inter" pitchFamily="34" charset="-122"/>
                <a:cs typeface="Inter" pitchFamily="34" charset="-120"/>
              </a:rPr>
              <a:t>Goal achieved for packages manufactured today; inks, coatings, and adhesives are outside the goal boundary.</a:t>
            </a:r>
            <a:endParaRPr lang="en-US" sz="830" dirty="0"/>
          </a:p>
        </p:txBody>
      </p:sp>
      <p:sp>
        <p:nvSpPr>
          <p:cNvPr id="19" name="Shape 17"/>
          <p:cNvSpPr/>
          <p:nvPr/>
        </p:nvSpPr>
        <p:spPr>
          <a:xfrm>
            <a:off x="6172200" y="3858768"/>
            <a:ext cx="5449824" cy="2029968"/>
          </a:xfrm>
          <a:prstGeom prst="roundRect">
            <a:avLst>
              <a:gd name="adj" fmla="val 3604"/>
            </a:avLst>
          </a:prstGeom>
          <a:solidFill>
            <a:srgbClr val="DDECE5"/>
          </a:solidFill>
          <a:ln w="12700">
            <a:solidFill>
              <a:srgbClr val="DDECE5">
                <a:alpha val="0"/>
              </a:srgbClr>
            </a:solidFill>
            <a:prstDash val="solid"/>
          </a:ln>
          <a:effectLst>
            <a:outerShdw sx="100000" sy="100000" kx="0" ky="0" algn="bl" rotWithShape="0" blurRad="12700" dist="50800" dir="2700000">
              <a:srgbClr val="ADB2AC">
                <a:alpha val="12000"/>
              </a:srgbClr>
            </a:outerShdw>
          </a:effectLst>
        </p:spPr>
      </p:sp>
      <p:sp>
        <p:nvSpPr>
          <p:cNvPr id="20" name="Text 18"/>
          <p:cNvSpPr/>
          <p:nvPr/>
        </p:nvSpPr>
        <p:spPr>
          <a:xfrm>
            <a:off x="6428232" y="4151376"/>
            <a:ext cx="4937760" cy="713232"/>
          </a:xfrm>
          <a:prstGeom prst="rect">
            <a:avLst/>
          </a:prstGeom>
          <a:noFill/>
          <a:ln/>
        </p:spPr>
        <p:txBody>
          <a:bodyPr wrap="square" lIns="0" tIns="0" rIns="0" bIns="0" rtlCol="0" anchor="ctr">
            <a:normAutofit/>
          </a:bodyPr>
          <a:lstStyle/>
          <a:p>
            <a:pPr indent="0" marL="0">
              <a:buNone/>
            </a:pPr>
            <a:r>
              <a:rPr lang="en-US" sz="3100" b="1" dirty="0">
                <a:solidFill>
                  <a:srgbClr val="22A65A"/>
                </a:solidFill>
                <a:latin typeface="Inter" pitchFamily="34" charset="0"/>
                <a:ea typeface="Inter" pitchFamily="34" charset="-122"/>
                <a:cs typeface="Inter" pitchFamily="34" charset="-120"/>
              </a:rPr>
              <a:t>$4.7B</a:t>
            </a:r>
            <a:endParaRPr lang="en-US" sz="3100" dirty="0"/>
          </a:p>
        </p:txBody>
      </p:sp>
      <p:sp>
        <p:nvSpPr>
          <p:cNvPr id="21" name="Text 19"/>
          <p:cNvSpPr/>
          <p:nvPr/>
        </p:nvSpPr>
        <p:spPr>
          <a:xfrm>
            <a:off x="6428232" y="4928616"/>
            <a:ext cx="4937760" cy="384048"/>
          </a:xfrm>
          <a:prstGeom prst="rect">
            <a:avLst/>
          </a:prstGeom>
          <a:noFill/>
          <a:ln/>
        </p:spPr>
        <p:txBody>
          <a:bodyPr wrap="square" lIns="0" tIns="0" rIns="0" bIns="0" rtlCol="0" anchor="ctr">
            <a:normAutofit/>
          </a:bodyPr>
          <a:lstStyle/>
          <a:p>
            <a:pPr indent="0" marL="0">
              <a:buNone/>
            </a:pPr>
            <a:r>
              <a:rPr lang="en-US" sz="1200" b="1" dirty="0">
                <a:solidFill>
                  <a:srgbClr val="111311"/>
                </a:solidFill>
                <a:latin typeface="Inter" pitchFamily="34" charset="0"/>
                <a:ea typeface="Inter" pitchFamily="34" charset="-122"/>
                <a:cs typeface="Inter" pitchFamily="34" charset="-120"/>
              </a:rPr>
              <a:t>green bonds issued, cumulative</a:t>
            </a:r>
            <a:endParaRPr lang="en-US" sz="1200" dirty="0"/>
          </a:p>
        </p:txBody>
      </p:sp>
      <p:sp>
        <p:nvSpPr>
          <p:cNvPr id="22" name="Text 20"/>
          <p:cNvSpPr/>
          <p:nvPr/>
        </p:nvSpPr>
        <p:spPr>
          <a:xfrm>
            <a:off x="6428232" y="5349240"/>
            <a:ext cx="4937760" cy="310896"/>
          </a:xfrm>
          <a:prstGeom prst="rect">
            <a:avLst/>
          </a:prstGeom>
          <a:noFill/>
          <a:ln/>
        </p:spPr>
        <p:txBody>
          <a:bodyPr wrap="square" lIns="0" tIns="0" rIns="0" bIns="0" rtlCol="0" anchor="t">
            <a:normAutofit/>
          </a:bodyPr>
          <a:lstStyle/>
          <a:p>
            <a:pPr indent="0" marL="0">
              <a:buNone/>
            </a:pPr>
            <a:r>
              <a:rPr lang="en-US" sz="830" dirty="0">
                <a:solidFill>
                  <a:srgbClr val="6D726D"/>
                </a:solidFill>
                <a:latin typeface="Inter" pitchFamily="34" charset="0"/>
                <a:ea typeface="Inter" pitchFamily="34" charset="-122"/>
                <a:cs typeface="Inter" pitchFamily="34" charset="-120"/>
              </a:rPr>
              <a:t>Three bond issuances since 2016 have funded projects across clean energy, materials, and operations.</a:t>
            </a:r>
            <a:endParaRPr lang="en-US" sz="830" dirty="0"/>
          </a:p>
        </p:txBody>
      </p:sp>
      <p:sp>
        <p:nvSpPr>
          <p:cNvPr id="23" name="Text 21"/>
          <p:cNvSpPr/>
          <p:nvPr/>
        </p:nvSpPr>
        <p:spPr>
          <a:xfrm>
            <a:off x="7424928" y="6583680"/>
            <a:ext cx="3931920" cy="146304"/>
          </a:xfrm>
          <a:prstGeom prst="rect">
            <a:avLst/>
          </a:prstGeom>
          <a:noFill/>
          <a:ln/>
        </p:spPr>
        <p:txBody>
          <a:bodyPr wrap="square" lIns="0" tIns="0" rIns="0" bIns="0" rtlCol="0" anchor="ctr">
            <a:normAutofit/>
          </a:bodyPr>
          <a:lstStyle/>
          <a:p>
            <a:pPr algn="r" indent="0" marL="0">
              <a:buNone/>
            </a:pPr>
            <a:r>
              <a:rPr lang="en-US" sz="530" dirty="0">
                <a:solidFill>
                  <a:srgbClr val="858A84"/>
                </a:solidFill>
                <a:latin typeface="Inter" pitchFamily="34" charset="0"/>
                <a:ea typeface="Inter" pitchFamily="34" charset="-122"/>
                <a:cs typeface="Inter" pitchFamily="34" charset="-120"/>
              </a:rPr>
              <a:t>SOURCE: APPLE EPR 2026  |  APPLE NEWSROOM, APR. 2026</a:t>
            </a:r>
            <a:endParaRPr lang="en-US" sz="530" dirty="0"/>
          </a:p>
        </p:txBody>
      </p:sp>
      <p:sp>
        <p:nvSpPr>
          <p:cNvPr id="25" name="Slide Number Placeholder 0"/>
          <p:cNvSpPr>
            <a:spLocks noGrp="1"/>
          </p:cNvSpPr>
          <p:nvPr>
            <p:ph type="sldNum" sz="quarter" idx="4294967295"/>
          </p:nvPr>
        </p:nvSpPr>
        <p:spPr>
          <a:xfrm>
            <a:off x="11384280" y="6583680"/>
            <a:ext cx="256032"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858A84"/>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10896"/>
            <a:ext cx="4114800" cy="219456"/>
          </a:xfrm>
          <a:prstGeom prst="rect">
            <a:avLst/>
          </a:prstGeom>
          <a:noFill/>
          <a:ln/>
        </p:spPr>
        <p:txBody>
          <a:bodyPr wrap="square" lIns="0" tIns="0" rIns="0" bIns="0" rtlCol="0" anchor="ctr">
            <a:normAutofit/>
          </a:bodyPr>
          <a:lstStyle/>
          <a:p>
            <a:pPr indent="0" marL="0">
              <a:buNone/>
            </a:pPr>
            <a:r>
              <a:rPr lang="en-US" sz="850" b="1" spc="120" kern="0" dirty="0">
                <a:solidFill>
                  <a:srgbClr val="22A65A"/>
                </a:solidFill>
                <a:latin typeface="Inter" pitchFamily="34" charset="0"/>
                <a:ea typeface="Inter" pitchFamily="34" charset="-122"/>
                <a:cs typeface="Inter" pitchFamily="34" charset="-120"/>
              </a:rPr>
              <a:t>RISK POSTURE</a:t>
            </a:r>
            <a:endParaRPr lang="en-US" sz="850" dirty="0"/>
          </a:p>
        </p:txBody>
      </p:sp>
      <p:sp>
        <p:nvSpPr>
          <p:cNvPr id="3" name="Text 1"/>
          <p:cNvSpPr/>
          <p:nvPr/>
        </p:nvSpPr>
        <p:spPr>
          <a:xfrm>
            <a:off x="548640" y="621792"/>
            <a:ext cx="11018520" cy="502920"/>
          </a:xfrm>
          <a:prstGeom prst="rect">
            <a:avLst/>
          </a:prstGeom>
          <a:noFill/>
          <a:ln/>
        </p:spPr>
        <p:txBody>
          <a:bodyPr wrap="square" lIns="0" tIns="0" rIns="0" bIns="0" rtlCol="0" anchor="ctr">
            <a:normAutofit/>
          </a:bodyPr>
          <a:lstStyle/>
          <a:p>
            <a:pPr indent="0" marL="0">
              <a:buNone/>
            </a:pPr>
            <a:r>
              <a:rPr lang="en-US" sz="2500" b="1" dirty="0">
                <a:solidFill>
                  <a:srgbClr val="111311"/>
                </a:solidFill>
                <a:latin typeface="Inter" pitchFamily="34" charset="0"/>
                <a:ea typeface="Inter" pitchFamily="34" charset="-122"/>
                <a:cs typeface="Inter" pitchFamily="34" charset="-120"/>
              </a:rPr>
              <a:t>De-risking the path to full value-chain carbon neutrality</a:t>
            </a:r>
            <a:endParaRPr lang="en-US" sz="2500" dirty="0"/>
          </a:p>
        </p:txBody>
      </p:sp>
      <p:sp>
        <p:nvSpPr>
          <p:cNvPr id="4" name="Text 2"/>
          <p:cNvSpPr/>
          <p:nvPr/>
        </p:nvSpPr>
        <p:spPr>
          <a:xfrm>
            <a:off x="548640" y="1133856"/>
            <a:ext cx="11018520" cy="310896"/>
          </a:xfrm>
          <a:prstGeom prst="rect">
            <a:avLst/>
          </a:prstGeom>
          <a:noFill/>
          <a:ln/>
        </p:spPr>
        <p:txBody>
          <a:bodyPr wrap="square" lIns="0" tIns="0" rIns="0" bIns="0" rtlCol="0" anchor="ctr">
            <a:normAutofit/>
          </a:bodyPr>
          <a:lstStyle/>
          <a:p>
            <a:pPr indent="0" marL="0">
              <a:buNone/>
            </a:pPr>
            <a:r>
              <a:rPr lang="en-US" sz="1050" dirty="0">
                <a:solidFill>
                  <a:srgbClr val="6D726D"/>
                </a:solidFill>
                <a:latin typeface="Inter" pitchFamily="34" charset="0"/>
                <a:ea typeface="Inter" pitchFamily="34" charset="-122"/>
                <a:cs typeface="Inter" pitchFamily="34" charset="-120"/>
              </a:rPr>
              <a:t>Operational control is achieved; Scope 3 execution is the remaining value-chain challenge</a:t>
            </a:r>
            <a:endParaRPr lang="en-US" sz="1050" dirty="0"/>
          </a:p>
        </p:txBody>
      </p:sp>
      <p:sp>
        <p:nvSpPr>
          <p:cNvPr id="5" name="Shape 3"/>
          <p:cNvSpPr/>
          <p:nvPr/>
        </p:nvSpPr>
        <p:spPr>
          <a:xfrm>
            <a:off x="566928" y="1627632"/>
            <a:ext cx="4754880" cy="4434840"/>
          </a:xfrm>
          <a:prstGeom prst="roundRect">
            <a:avLst>
              <a:gd name="adj" fmla="val 1649"/>
            </a:avLst>
          </a:prstGeom>
          <a:solidFill>
            <a:srgbClr val="FFFFFF"/>
          </a:solidFill>
          <a:ln w="10160">
            <a:solidFill>
              <a:srgbClr val="E4E7E2"/>
            </a:solidFill>
            <a:prstDash val="solid"/>
          </a:ln>
        </p:spPr>
      </p:sp>
      <p:sp>
        <p:nvSpPr>
          <p:cNvPr id="6" name="Shape 4"/>
          <p:cNvSpPr/>
          <p:nvPr/>
        </p:nvSpPr>
        <p:spPr>
          <a:xfrm>
            <a:off x="877824" y="1901952"/>
            <a:ext cx="1225296" cy="292608"/>
          </a:xfrm>
          <a:prstGeom prst="roundRect">
            <a:avLst>
              <a:gd name="adj" fmla="val 21875"/>
            </a:avLst>
          </a:prstGeom>
          <a:solidFill>
            <a:srgbClr val="22A65A"/>
          </a:solidFill>
          <a:ln w="12700">
            <a:solidFill>
              <a:srgbClr val="22A65A">
                <a:alpha val="0"/>
              </a:srgbClr>
            </a:solidFill>
            <a:prstDash val="solid"/>
          </a:ln>
        </p:spPr>
      </p:sp>
      <p:sp>
        <p:nvSpPr>
          <p:cNvPr id="7" name="Text 5"/>
          <p:cNvSpPr/>
          <p:nvPr/>
        </p:nvSpPr>
        <p:spPr>
          <a:xfrm>
            <a:off x="969264" y="1911096"/>
            <a:ext cx="1042416" cy="256032"/>
          </a:xfrm>
          <a:prstGeom prst="rect">
            <a:avLst/>
          </a:prstGeom>
          <a:noFill/>
          <a:ln/>
        </p:spPr>
        <p:txBody>
          <a:bodyPr wrap="square" lIns="0" tIns="0" rIns="0" bIns="0" rtlCol="0" anchor="ctr">
            <a:normAutofit/>
          </a:bodyPr>
          <a:lstStyle/>
          <a:p>
            <a:pPr algn="ctr" indent="0" marL="0">
              <a:buNone/>
            </a:pPr>
            <a:r>
              <a:rPr lang="en-US" sz="700" b="1" spc="50" kern="0" dirty="0">
                <a:solidFill>
                  <a:srgbClr val="FFFFFF"/>
                </a:solidFill>
                <a:latin typeface="Inter" pitchFamily="34" charset="0"/>
                <a:ea typeface="Inter" pitchFamily="34" charset="-122"/>
                <a:cs typeface="Inter" pitchFamily="34" charset="-120"/>
              </a:rPr>
              <a:t>CONTROLLED</a:t>
            </a:r>
            <a:endParaRPr lang="en-US" sz="700" dirty="0"/>
          </a:p>
        </p:txBody>
      </p:sp>
      <p:sp>
        <p:nvSpPr>
          <p:cNvPr id="8" name="Text 6"/>
          <p:cNvSpPr/>
          <p:nvPr/>
        </p:nvSpPr>
        <p:spPr>
          <a:xfrm>
            <a:off x="877824" y="2331720"/>
            <a:ext cx="3886200" cy="320040"/>
          </a:xfrm>
          <a:prstGeom prst="rect">
            <a:avLst/>
          </a:prstGeom>
          <a:noFill/>
          <a:ln/>
        </p:spPr>
        <p:txBody>
          <a:bodyPr wrap="square" lIns="0" tIns="0" rIns="0" bIns="0" rtlCol="0" anchor="ctr">
            <a:normAutofit/>
          </a:bodyPr>
          <a:lstStyle/>
          <a:p>
            <a:pPr indent="0" marL="0">
              <a:buNone/>
            </a:pPr>
            <a:r>
              <a:rPr lang="en-US" sz="1500" b="1" dirty="0">
                <a:solidFill>
                  <a:srgbClr val="111311"/>
                </a:solidFill>
                <a:latin typeface="Inter" pitchFamily="34" charset="0"/>
                <a:ea typeface="Inter" pitchFamily="34" charset="-122"/>
                <a:cs typeface="Inter" pitchFamily="34" charset="-120"/>
              </a:rPr>
              <a:t>Corporate footprint</a:t>
            </a:r>
            <a:endParaRPr lang="en-US" sz="1500" dirty="0"/>
          </a:p>
        </p:txBody>
      </p:sp>
      <p:sp>
        <p:nvSpPr>
          <p:cNvPr id="9" name="Text 7"/>
          <p:cNvSpPr/>
          <p:nvPr/>
        </p:nvSpPr>
        <p:spPr>
          <a:xfrm>
            <a:off x="877824" y="2697480"/>
            <a:ext cx="3840480" cy="566928"/>
          </a:xfrm>
          <a:prstGeom prst="rect">
            <a:avLst/>
          </a:prstGeom>
          <a:noFill/>
          <a:ln/>
        </p:spPr>
        <p:txBody>
          <a:bodyPr wrap="square" lIns="0" tIns="0" rIns="0" bIns="0" rtlCol="0" anchor="ctr">
            <a:normAutofit/>
          </a:bodyPr>
          <a:lstStyle/>
          <a:p>
            <a:pPr indent="0" marL="0">
              <a:buNone/>
            </a:pPr>
            <a:r>
              <a:rPr lang="en-US" sz="1100" dirty="0">
                <a:solidFill>
                  <a:srgbClr val="6D726D"/>
                </a:solidFill>
                <a:latin typeface="Inter" pitchFamily="34" charset="0"/>
                <a:ea typeface="Inter" pitchFamily="34" charset="-122"/>
                <a:cs typeface="Inter" pitchFamily="34" charset="-120"/>
              </a:rPr>
              <a:t>Carbon neutral since 2020; achieved again in 2025.</a:t>
            </a:r>
            <a:endParaRPr lang="en-US" sz="1100" dirty="0"/>
          </a:p>
        </p:txBody>
      </p:sp>
      <p:sp>
        <p:nvSpPr>
          <p:cNvPr id="10" name="Shape 8"/>
          <p:cNvSpPr/>
          <p:nvPr/>
        </p:nvSpPr>
        <p:spPr>
          <a:xfrm>
            <a:off x="877824" y="3429000"/>
            <a:ext cx="4078224" cy="0"/>
          </a:xfrm>
          <a:prstGeom prst="line">
            <a:avLst/>
          </a:prstGeom>
          <a:noFill/>
          <a:ln w="10160">
            <a:solidFill>
              <a:srgbClr val="E4E7E2"/>
            </a:solidFill>
            <a:prstDash val="solid"/>
          </a:ln>
        </p:spPr>
      </p:sp>
      <p:sp>
        <p:nvSpPr>
          <p:cNvPr id="11" name="Shape 9"/>
          <p:cNvSpPr/>
          <p:nvPr/>
        </p:nvSpPr>
        <p:spPr>
          <a:xfrm>
            <a:off x="877824" y="3694176"/>
            <a:ext cx="1554480" cy="292608"/>
          </a:xfrm>
          <a:prstGeom prst="roundRect">
            <a:avLst>
              <a:gd name="adj" fmla="val 21875"/>
            </a:avLst>
          </a:prstGeom>
          <a:solidFill>
            <a:srgbClr val="10382B"/>
          </a:solidFill>
          <a:ln w="12700">
            <a:solidFill>
              <a:srgbClr val="10382B">
                <a:alpha val="0"/>
              </a:srgbClr>
            </a:solidFill>
            <a:prstDash val="solid"/>
          </a:ln>
        </p:spPr>
      </p:sp>
      <p:sp>
        <p:nvSpPr>
          <p:cNvPr id="12" name="Text 10"/>
          <p:cNvSpPr/>
          <p:nvPr/>
        </p:nvSpPr>
        <p:spPr>
          <a:xfrm>
            <a:off x="969264" y="3703320"/>
            <a:ext cx="1371600" cy="256032"/>
          </a:xfrm>
          <a:prstGeom prst="rect">
            <a:avLst/>
          </a:prstGeom>
          <a:noFill/>
          <a:ln/>
        </p:spPr>
        <p:txBody>
          <a:bodyPr wrap="square" lIns="0" tIns="0" rIns="0" bIns="0" rtlCol="0" anchor="ctr">
            <a:normAutofit/>
          </a:bodyPr>
          <a:lstStyle/>
          <a:p>
            <a:pPr algn="ctr" indent="0" marL="0">
              <a:buNone/>
            </a:pPr>
            <a:r>
              <a:rPr lang="en-US" sz="700" b="1" spc="50" kern="0" dirty="0">
                <a:solidFill>
                  <a:srgbClr val="FFFFFF"/>
                </a:solidFill>
                <a:latin typeface="Inter" pitchFamily="34" charset="0"/>
                <a:ea typeface="Inter" pitchFamily="34" charset="-122"/>
                <a:cs typeface="Inter" pitchFamily="34" charset="-120"/>
              </a:rPr>
              <a:t>NEXT FRONTIER</a:t>
            </a:r>
            <a:endParaRPr lang="en-US" sz="700" dirty="0"/>
          </a:p>
        </p:txBody>
      </p:sp>
      <p:sp>
        <p:nvSpPr>
          <p:cNvPr id="13" name="Text 11"/>
          <p:cNvSpPr/>
          <p:nvPr/>
        </p:nvSpPr>
        <p:spPr>
          <a:xfrm>
            <a:off x="877824" y="4142232"/>
            <a:ext cx="3886200" cy="320040"/>
          </a:xfrm>
          <a:prstGeom prst="rect">
            <a:avLst/>
          </a:prstGeom>
          <a:noFill/>
          <a:ln/>
        </p:spPr>
        <p:txBody>
          <a:bodyPr wrap="square" lIns="0" tIns="0" rIns="0" bIns="0" rtlCol="0" anchor="ctr">
            <a:normAutofit/>
          </a:bodyPr>
          <a:lstStyle/>
          <a:p>
            <a:pPr indent="0" marL="0">
              <a:buNone/>
            </a:pPr>
            <a:r>
              <a:rPr lang="en-US" sz="1500" b="1" dirty="0">
                <a:solidFill>
                  <a:srgbClr val="111311"/>
                </a:solidFill>
                <a:latin typeface="Inter" pitchFamily="34" charset="0"/>
                <a:ea typeface="Inter" pitchFamily="34" charset="-122"/>
                <a:cs typeface="Inter" pitchFamily="34" charset="-120"/>
              </a:rPr>
              <a:t>Full value chain</a:t>
            </a:r>
            <a:endParaRPr lang="en-US" sz="1500" dirty="0"/>
          </a:p>
        </p:txBody>
      </p:sp>
      <p:sp>
        <p:nvSpPr>
          <p:cNvPr id="14" name="Text 12"/>
          <p:cNvSpPr/>
          <p:nvPr/>
        </p:nvSpPr>
        <p:spPr>
          <a:xfrm>
            <a:off x="877824" y="4498848"/>
            <a:ext cx="3840480" cy="786384"/>
          </a:xfrm>
          <a:prstGeom prst="rect">
            <a:avLst/>
          </a:prstGeom>
          <a:noFill/>
          <a:ln/>
        </p:spPr>
        <p:txBody>
          <a:bodyPr wrap="square" lIns="0" tIns="0" rIns="0" bIns="0" rtlCol="0" anchor="t">
            <a:normAutofit/>
          </a:bodyPr>
          <a:lstStyle/>
          <a:p>
            <a:pPr indent="0" marL="0">
              <a:buNone/>
            </a:pPr>
            <a:r>
              <a:rPr lang="en-US" sz="1050" dirty="0">
                <a:solidFill>
                  <a:srgbClr val="6D726D"/>
                </a:solidFill>
                <a:latin typeface="Inter" pitchFamily="34" charset="0"/>
                <a:ea typeface="Inter" pitchFamily="34" charset="-122"/>
                <a:cs typeface="Inter" pitchFamily="34" charset="-120"/>
              </a:rPr>
              <a:t>Gross emissions &gt;60% below 2015; target is a 75% reduction before balancing residuals by 2030.</a:t>
            </a:r>
            <a:endParaRPr lang="en-US" sz="1050" dirty="0"/>
          </a:p>
        </p:txBody>
      </p:sp>
      <p:sp>
        <p:nvSpPr>
          <p:cNvPr id="15" name="Text 13"/>
          <p:cNvSpPr/>
          <p:nvPr/>
        </p:nvSpPr>
        <p:spPr>
          <a:xfrm>
            <a:off x="877824" y="5422392"/>
            <a:ext cx="1371600" cy="237744"/>
          </a:xfrm>
          <a:prstGeom prst="rect">
            <a:avLst/>
          </a:prstGeom>
          <a:noFill/>
          <a:ln/>
        </p:spPr>
        <p:txBody>
          <a:bodyPr wrap="square" lIns="0" tIns="0" rIns="0" bIns="0" rtlCol="0" anchor="ctr">
            <a:normAutofit/>
          </a:bodyPr>
          <a:lstStyle/>
          <a:p>
            <a:pPr indent="0" marL="0">
              <a:buNone/>
            </a:pPr>
            <a:r>
              <a:rPr lang="en-US" sz="800" b="1" dirty="0">
                <a:solidFill>
                  <a:srgbClr val="22A65A"/>
                </a:solidFill>
                <a:latin typeface="Inter" pitchFamily="34" charset="0"/>
                <a:ea typeface="Inter" pitchFamily="34" charset="-122"/>
                <a:cs typeface="Inter" pitchFamily="34" charset="-120"/>
              </a:rPr>
              <a:t>Risk implication</a:t>
            </a:r>
            <a:endParaRPr lang="en-US" sz="800" dirty="0"/>
          </a:p>
        </p:txBody>
      </p:sp>
      <p:sp>
        <p:nvSpPr>
          <p:cNvPr id="16" name="Text 14"/>
          <p:cNvSpPr/>
          <p:nvPr/>
        </p:nvSpPr>
        <p:spPr>
          <a:xfrm>
            <a:off x="1984248" y="5385816"/>
            <a:ext cx="2971800" cy="402336"/>
          </a:xfrm>
          <a:prstGeom prst="rect">
            <a:avLst/>
          </a:prstGeom>
          <a:noFill/>
          <a:ln/>
        </p:spPr>
        <p:txBody>
          <a:bodyPr wrap="square" lIns="0" tIns="0" rIns="0" bIns="0" rtlCol="0" anchor="ctr">
            <a:normAutofit/>
          </a:bodyPr>
          <a:lstStyle/>
          <a:p>
            <a:pPr indent="0" marL="0">
              <a:buNone/>
            </a:pPr>
            <a:r>
              <a:rPr lang="en-US" sz="870" dirty="0">
                <a:solidFill>
                  <a:srgbClr val="111311"/>
                </a:solidFill>
                <a:latin typeface="Inter" pitchFamily="34" charset="0"/>
                <a:ea typeface="Inter" pitchFamily="34" charset="-122"/>
                <a:cs typeface="Inter" pitchFamily="34" charset="-120"/>
              </a:rPr>
              <a:t>Earlier Scope 3 readiness for customer disclosures and emerging regulation.</a:t>
            </a:r>
            <a:endParaRPr lang="en-US" sz="870" dirty="0"/>
          </a:p>
        </p:txBody>
      </p:sp>
      <p:graphicFrame>
        <p:nvGraphicFramePr>
          <p:cNvPr id="17" name="Chart 0" descr=""/>
          <p:cNvGraphicFramePr/>
          <p:nvPr/>
        </p:nvGraphicFramePr>
        <p:xfrm>
          <a:off x="5614416" y="1856232"/>
          <a:ext cx="2331720" cy="233172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6117336" y="2587752"/>
            <a:ext cx="1325880" cy="475488"/>
          </a:xfrm>
          <a:prstGeom prst="rect">
            <a:avLst/>
          </a:prstGeom>
          <a:noFill/>
          <a:ln/>
        </p:spPr>
        <p:txBody>
          <a:bodyPr wrap="square" lIns="0" tIns="0" rIns="0" bIns="0" rtlCol="0" anchor="ctr">
            <a:normAutofit/>
          </a:bodyPr>
          <a:lstStyle/>
          <a:p>
            <a:pPr algn="ctr" indent="0" marL="0">
              <a:buNone/>
            </a:pPr>
            <a:r>
              <a:rPr lang="en-US" sz="2500" b="1" dirty="0">
                <a:solidFill>
                  <a:srgbClr val="111311"/>
                </a:solidFill>
                <a:latin typeface="Inter" pitchFamily="34" charset="0"/>
                <a:ea typeface="Inter" pitchFamily="34" charset="-122"/>
                <a:cs typeface="Inter" pitchFamily="34" charset="-120"/>
              </a:rPr>
              <a:t>100%</a:t>
            </a:r>
            <a:endParaRPr lang="en-US" sz="2500" dirty="0"/>
          </a:p>
        </p:txBody>
      </p:sp>
      <p:sp>
        <p:nvSpPr>
          <p:cNvPr id="19" name="Text 16"/>
          <p:cNvSpPr/>
          <p:nvPr/>
        </p:nvSpPr>
        <p:spPr>
          <a:xfrm>
            <a:off x="5815584" y="4178808"/>
            <a:ext cx="1920240" cy="320040"/>
          </a:xfrm>
          <a:prstGeom prst="rect">
            <a:avLst/>
          </a:prstGeom>
          <a:noFill/>
          <a:ln/>
        </p:spPr>
        <p:txBody>
          <a:bodyPr wrap="square" lIns="0" tIns="0" rIns="0" bIns="0" rtlCol="0" anchor="ctr">
            <a:normAutofit/>
          </a:bodyPr>
          <a:lstStyle/>
          <a:p>
            <a:pPr algn="ctr" indent="0" marL="0">
              <a:buNone/>
            </a:pPr>
            <a:r>
              <a:rPr lang="en-US" sz="950" b="1" dirty="0">
                <a:solidFill>
                  <a:srgbClr val="111311"/>
                </a:solidFill>
                <a:latin typeface="Inter" pitchFamily="34" charset="0"/>
                <a:ea typeface="Inter" pitchFamily="34" charset="-122"/>
                <a:cs typeface="Inter" pitchFamily="34" charset="-120"/>
              </a:rPr>
              <a:t>Corporate footprint</a:t>
            </a:r>
            <a:endParaRPr lang="en-US" sz="950" dirty="0"/>
          </a:p>
        </p:txBody>
      </p:sp>
      <p:sp>
        <p:nvSpPr>
          <p:cNvPr id="20" name="Text 17"/>
          <p:cNvSpPr/>
          <p:nvPr/>
        </p:nvSpPr>
        <p:spPr>
          <a:xfrm>
            <a:off x="5724144" y="4498848"/>
            <a:ext cx="2103120" cy="365760"/>
          </a:xfrm>
          <a:prstGeom prst="rect">
            <a:avLst/>
          </a:prstGeom>
          <a:noFill/>
          <a:ln/>
        </p:spPr>
        <p:txBody>
          <a:bodyPr wrap="square" lIns="0" tIns="0" rIns="0" bIns="0" rtlCol="0" anchor="t">
            <a:normAutofit/>
          </a:bodyPr>
          <a:lstStyle/>
          <a:p>
            <a:pPr algn="ctr" indent="0" marL="0">
              <a:buNone/>
            </a:pPr>
            <a:r>
              <a:rPr lang="en-US" sz="720" dirty="0">
                <a:solidFill>
                  <a:srgbClr val="6D726D"/>
                </a:solidFill>
                <a:latin typeface="Inter" pitchFamily="34" charset="0"/>
                <a:ea typeface="Inter" pitchFamily="34" charset="-122"/>
                <a:cs typeface="Inter" pitchFamily="34" charset="-120"/>
              </a:rPr>
              <a:t>Neutrality maintained in FY2025</a:t>
            </a:r>
            <a:endParaRPr lang="en-US" sz="720" dirty="0"/>
          </a:p>
        </p:txBody>
      </p:sp>
      <p:graphicFrame>
        <p:nvGraphicFramePr>
          <p:cNvPr id="21" name="Chart 1" descr=""/>
          <p:cNvGraphicFramePr/>
          <p:nvPr/>
        </p:nvGraphicFramePr>
        <p:xfrm>
          <a:off x="8284464" y="1856232"/>
          <a:ext cx="2331720" cy="2331720"/>
        </p:xfrm>
        <a:graphic xmlns:a="http://schemas.openxmlformats.org/drawingml/2006/main">
          <a:graphicData uri="http://schemas.openxmlformats.org/drawingml/2006/chart">
            <c:chart xmlns:c="http://schemas.openxmlformats.org/drawingml/2006/chart" r:id="rId2"/>
          </a:graphicData>
        </a:graphic>
      </p:graphicFrame>
      <p:sp>
        <p:nvSpPr>
          <p:cNvPr id="22" name="Text 18"/>
          <p:cNvSpPr/>
          <p:nvPr/>
        </p:nvSpPr>
        <p:spPr>
          <a:xfrm>
            <a:off x="8787384" y="2587752"/>
            <a:ext cx="1325880" cy="475488"/>
          </a:xfrm>
          <a:prstGeom prst="rect">
            <a:avLst/>
          </a:prstGeom>
          <a:noFill/>
          <a:ln/>
        </p:spPr>
        <p:txBody>
          <a:bodyPr wrap="square" lIns="0" tIns="0" rIns="0" bIns="0" rtlCol="0" anchor="ctr">
            <a:normAutofit/>
          </a:bodyPr>
          <a:lstStyle/>
          <a:p>
            <a:pPr algn="ctr" indent="0" marL="0">
              <a:buNone/>
            </a:pPr>
            <a:r>
              <a:rPr lang="en-US" sz="2500" b="1" dirty="0">
                <a:solidFill>
                  <a:srgbClr val="111311"/>
                </a:solidFill>
                <a:latin typeface="Inter" pitchFamily="34" charset="0"/>
                <a:ea typeface="Inter" pitchFamily="34" charset="-122"/>
                <a:cs typeface="Inter" pitchFamily="34" charset="-120"/>
              </a:rPr>
              <a:t>60%</a:t>
            </a:r>
            <a:endParaRPr lang="en-US" sz="2500" dirty="0"/>
          </a:p>
        </p:txBody>
      </p:sp>
      <p:sp>
        <p:nvSpPr>
          <p:cNvPr id="23" name="Text 19"/>
          <p:cNvSpPr/>
          <p:nvPr/>
        </p:nvSpPr>
        <p:spPr>
          <a:xfrm>
            <a:off x="8485632" y="4178808"/>
            <a:ext cx="1920240" cy="320040"/>
          </a:xfrm>
          <a:prstGeom prst="rect">
            <a:avLst/>
          </a:prstGeom>
          <a:noFill/>
          <a:ln/>
        </p:spPr>
        <p:txBody>
          <a:bodyPr wrap="square" lIns="0" tIns="0" rIns="0" bIns="0" rtlCol="0" anchor="ctr">
            <a:normAutofit/>
          </a:bodyPr>
          <a:lstStyle/>
          <a:p>
            <a:pPr algn="ctr" indent="0" marL="0">
              <a:buNone/>
            </a:pPr>
            <a:r>
              <a:rPr lang="en-US" sz="950" b="1" dirty="0">
                <a:solidFill>
                  <a:srgbClr val="111311"/>
                </a:solidFill>
                <a:latin typeface="Inter" pitchFamily="34" charset="0"/>
                <a:ea typeface="Inter" pitchFamily="34" charset="-122"/>
                <a:cs typeface="Inter" pitchFamily="34" charset="-120"/>
              </a:rPr>
              <a:t>Gross GHG reduction</a:t>
            </a:r>
            <a:endParaRPr lang="en-US" sz="950" dirty="0"/>
          </a:p>
        </p:txBody>
      </p:sp>
      <p:sp>
        <p:nvSpPr>
          <p:cNvPr id="24" name="Text 20"/>
          <p:cNvSpPr/>
          <p:nvPr/>
        </p:nvSpPr>
        <p:spPr>
          <a:xfrm>
            <a:off x="8394192" y="4498848"/>
            <a:ext cx="2103120" cy="365760"/>
          </a:xfrm>
          <a:prstGeom prst="rect">
            <a:avLst/>
          </a:prstGeom>
          <a:noFill/>
          <a:ln/>
        </p:spPr>
        <p:txBody>
          <a:bodyPr wrap="square" lIns="0" tIns="0" rIns="0" bIns="0" rtlCol="0" anchor="t">
            <a:normAutofit/>
          </a:bodyPr>
          <a:lstStyle/>
          <a:p>
            <a:pPr algn="ctr" indent="0" marL="0">
              <a:buNone/>
            </a:pPr>
            <a:r>
              <a:rPr lang="en-US" sz="720" dirty="0">
                <a:solidFill>
                  <a:srgbClr val="6D726D"/>
                </a:solidFill>
                <a:latin typeface="Inter" pitchFamily="34" charset="0"/>
                <a:ea typeface="Inter" pitchFamily="34" charset="-122"/>
                <a:cs typeface="Inter" pitchFamily="34" charset="-120"/>
              </a:rPr>
              <a:t>vs. 2015 baseline • target: 75%</a:t>
            </a:r>
            <a:endParaRPr lang="en-US" sz="720" dirty="0"/>
          </a:p>
        </p:txBody>
      </p:sp>
      <p:sp>
        <p:nvSpPr>
          <p:cNvPr id="25" name="Shape 21"/>
          <p:cNvSpPr/>
          <p:nvPr/>
        </p:nvSpPr>
        <p:spPr>
          <a:xfrm>
            <a:off x="5870448" y="5056632"/>
            <a:ext cx="4800600" cy="768096"/>
          </a:xfrm>
          <a:prstGeom prst="roundRect">
            <a:avLst>
              <a:gd name="adj" fmla="val 9524"/>
            </a:avLst>
          </a:prstGeom>
          <a:solidFill>
            <a:srgbClr val="E2F7E8"/>
          </a:solidFill>
          <a:ln w="12700">
            <a:solidFill>
              <a:srgbClr val="E2F7E8"/>
            </a:solidFill>
            <a:prstDash val="solid"/>
          </a:ln>
        </p:spPr>
      </p:sp>
      <p:sp>
        <p:nvSpPr>
          <p:cNvPr id="26" name="Text 22"/>
          <p:cNvSpPr/>
          <p:nvPr/>
        </p:nvSpPr>
        <p:spPr>
          <a:xfrm>
            <a:off x="6144768" y="5202936"/>
            <a:ext cx="1078992" cy="310896"/>
          </a:xfrm>
          <a:prstGeom prst="rect">
            <a:avLst/>
          </a:prstGeom>
          <a:noFill/>
          <a:ln/>
        </p:spPr>
        <p:txBody>
          <a:bodyPr wrap="square" lIns="0" tIns="0" rIns="0" bIns="0" rtlCol="0" anchor="ctr">
            <a:normAutofit/>
          </a:bodyPr>
          <a:lstStyle/>
          <a:p>
            <a:pPr indent="0" marL="0">
              <a:buNone/>
            </a:pPr>
            <a:r>
              <a:rPr lang="en-US" sz="1900" b="1" dirty="0">
                <a:solidFill>
                  <a:srgbClr val="22A65A"/>
                </a:solidFill>
                <a:latin typeface="Inter" pitchFamily="34" charset="0"/>
                <a:ea typeface="Inter" pitchFamily="34" charset="-122"/>
                <a:cs typeface="Inter" pitchFamily="34" charset="-120"/>
              </a:rPr>
              <a:t>8 / 8</a:t>
            </a:r>
            <a:endParaRPr lang="en-US" sz="1900" dirty="0"/>
          </a:p>
        </p:txBody>
      </p:sp>
      <p:sp>
        <p:nvSpPr>
          <p:cNvPr id="27" name="Text 23"/>
          <p:cNvSpPr/>
          <p:nvPr/>
        </p:nvSpPr>
        <p:spPr>
          <a:xfrm>
            <a:off x="7333488" y="5193792"/>
            <a:ext cx="2990088" cy="329184"/>
          </a:xfrm>
          <a:prstGeom prst="rect">
            <a:avLst/>
          </a:prstGeom>
          <a:noFill/>
          <a:ln/>
        </p:spPr>
        <p:txBody>
          <a:bodyPr wrap="square" lIns="0" tIns="0" rIns="0" bIns="0" rtlCol="0" anchor="ctr">
            <a:normAutofit/>
          </a:bodyPr>
          <a:lstStyle/>
          <a:p>
            <a:pPr indent="0" marL="0">
              <a:buNone/>
            </a:pPr>
            <a:r>
              <a:rPr lang="en-US" sz="950" b="1" dirty="0">
                <a:solidFill>
                  <a:srgbClr val="111311"/>
                </a:solidFill>
                <a:latin typeface="Inter" pitchFamily="34" charset="0"/>
                <a:ea typeface="Inter" pitchFamily="34" charset="-122"/>
                <a:cs typeface="Inter" pitchFamily="34" charset="-120"/>
              </a:rPr>
              <a:t>Apple-owned data centers certified to the AWS Standard</a:t>
            </a:r>
            <a:endParaRPr lang="en-US" sz="950" dirty="0"/>
          </a:p>
        </p:txBody>
      </p:sp>
      <p:sp>
        <p:nvSpPr>
          <p:cNvPr id="28" name="Text 24"/>
          <p:cNvSpPr/>
          <p:nvPr/>
        </p:nvSpPr>
        <p:spPr>
          <a:xfrm>
            <a:off x="5870448" y="5925312"/>
            <a:ext cx="4800600" cy="155448"/>
          </a:xfrm>
          <a:prstGeom prst="rect">
            <a:avLst/>
          </a:prstGeom>
          <a:noFill/>
          <a:ln/>
        </p:spPr>
        <p:txBody>
          <a:bodyPr wrap="square" lIns="0" tIns="0" rIns="0" bIns="0" rtlCol="0" anchor="ctr">
            <a:normAutofit/>
          </a:bodyPr>
          <a:lstStyle/>
          <a:p>
            <a:pPr algn="ctr" indent="0" marL="0">
              <a:buNone/>
            </a:pPr>
            <a:r>
              <a:rPr lang="en-US" sz="620" i="1" dirty="0">
                <a:solidFill>
                  <a:srgbClr val="6D726D"/>
                </a:solidFill>
                <a:latin typeface="Inter" pitchFamily="34" charset="0"/>
                <a:ea typeface="Inter" pitchFamily="34" charset="-122"/>
                <a:cs typeface="Inter" pitchFamily="34" charset="-120"/>
              </a:rPr>
              <a:t>Neutrality uses carbon credits for residual corporate emissions.</a:t>
            </a:r>
            <a:endParaRPr lang="en-US" sz="620" dirty="0"/>
          </a:p>
        </p:txBody>
      </p:sp>
      <p:sp>
        <p:nvSpPr>
          <p:cNvPr id="29" name="Text 25"/>
          <p:cNvSpPr/>
          <p:nvPr/>
        </p:nvSpPr>
        <p:spPr>
          <a:xfrm>
            <a:off x="7424928" y="6583680"/>
            <a:ext cx="3931920" cy="146304"/>
          </a:xfrm>
          <a:prstGeom prst="rect">
            <a:avLst/>
          </a:prstGeom>
          <a:noFill/>
          <a:ln/>
        </p:spPr>
        <p:txBody>
          <a:bodyPr wrap="square" lIns="0" tIns="0" rIns="0" bIns="0" rtlCol="0" anchor="ctr">
            <a:normAutofit/>
          </a:bodyPr>
          <a:lstStyle/>
          <a:p>
            <a:pPr algn="r" indent="0" marL="0">
              <a:buNone/>
            </a:pPr>
            <a:r>
              <a:rPr lang="en-US" sz="530" dirty="0">
                <a:solidFill>
                  <a:srgbClr val="858A84"/>
                </a:solidFill>
                <a:latin typeface="Inter" pitchFamily="34" charset="0"/>
                <a:ea typeface="Inter" pitchFamily="34" charset="-122"/>
                <a:cs typeface="Inter" pitchFamily="34" charset="-120"/>
              </a:rPr>
              <a:t>SOURCE: APPLE EPR 2026, APPLE 2030 &amp; WATER SECTIONS</a:t>
            </a:r>
            <a:endParaRPr lang="en-US" sz="530" dirty="0"/>
          </a:p>
        </p:txBody>
      </p:sp>
      <p:sp>
        <p:nvSpPr>
          <p:cNvPr id="25" name="Slide Number Placeholder 0"/>
          <p:cNvSpPr>
            <a:spLocks noGrp="1"/>
          </p:cNvSpPr>
          <p:nvPr>
            <p:ph type="sldNum" sz="quarter" idx="4294967295"/>
          </p:nvPr>
        </p:nvSpPr>
        <p:spPr>
          <a:xfrm>
            <a:off x="11384280" y="6583680"/>
            <a:ext cx="256032"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858A84"/>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10896"/>
            <a:ext cx="4114800" cy="219456"/>
          </a:xfrm>
          <a:prstGeom prst="rect">
            <a:avLst/>
          </a:prstGeom>
          <a:noFill/>
          <a:ln/>
        </p:spPr>
        <p:txBody>
          <a:bodyPr wrap="square" lIns="0" tIns="0" rIns="0" bIns="0" rtlCol="0" anchor="ctr">
            <a:normAutofit/>
          </a:bodyPr>
          <a:lstStyle/>
          <a:p>
            <a:pPr indent="0" marL="0">
              <a:buNone/>
            </a:pPr>
            <a:r>
              <a:rPr lang="en-US" sz="850" b="1" spc="120" kern="0" dirty="0">
                <a:solidFill>
                  <a:srgbClr val="22A65A"/>
                </a:solidFill>
                <a:latin typeface="Inter" pitchFamily="34" charset="0"/>
                <a:ea typeface="Inter" pitchFamily="34" charset="-122"/>
                <a:cs typeface="Inter" pitchFamily="34" charset="-120"/>
              </a:rPr>
              <a:t>PREMIUM PRODUCT PROOF</a:t>
            </a:r>
            <a:endParaRPr lang="en-US" sz="850" dirty="0"/>
          </a:p>
        </p:txBody>
      </p:sp>
      <p:sp>
        <p:nvSpPr>
          <p:cNvPr id="3" name="Text 1"/>
          <p:cNvSpPr/>
          <p:nvPr/>
        </p:nvSpPr>
        <p:spPr>
          <a:xfrm>
            <a:off x="548640" y="621792"/>
            <a:ext cx="11018520" cy="502920"/>
          </a:xfrm>
          <a:prstGeom prst="rect">
            <a:avLst/>
          </a:prstGeom>
          <a:noFill/>
          <a:ln/>
        </p:spPr>
        <p:txBody>
          <a:bodyPr wrap="square" lIns="0" tIns="0" rIns="0" bIns="0" rtlCol="0" anchor="ctr">
            <a:normAutofit/>
          </a:bodyPr>
          <a:lstStyle/>
          <a:p>
            <a:pPr indent="0" marL="0">
              <a:buNone/>
            </a:pPr>
            <a:r>
              <a:rPr lang="en-US" sz="2500" b="1" dirty="0">
                <a:solidFill>
                  <a:srgbClr val="111311"/>
                </a:solidFill>
                <a:latin typeface="Inter" pitchFamily="34" charset="0"/>
                <a:ea typeface="Inter" pitchFamily="34" charset="-122"/>
                <a:cs typeface="Inter" pitchFamily="34" charset="-120"/>
              </a:rPr>
              <a:t>Premium products, premium ethics: the recycled advantage</a:t>
            </a:r>
            <a:endParaRPr lang="en-US" sz="2500" dirty="0"/>
          </a:p>
        </p:txBody>
      </p:sp>
      <p:sp>
        <p:nvSpPr>
          <p:cNvPr id="4" name="Text 2"/>
          <p:cNvSpPr/>
          <p:nvPr/>
        </p:nvSpPr>
        <p:spPr>
          <a:xfrm>
            <a:off x="548640" y="1133856"/>
            <a:ext cx="11018520" cy="310896"/>
          </a:xfrm>
          <a:prstGeom prst="rect">
            <a:avLst/>
          </a:prstGeom>
          <a:noFill/>
          <a:ln/>
        </p:spPr>
        <p:txBody>
          <a:bodyPr wrap="square" lIns="0" tIns="0" rIns="0" bIns="0" rtlCol="0" anchor="ctr">
            <a:normAutofit/>
          </a:bodyPr>
          <a:lstStyle/>
          <a:p>
            <a:pPr indent="0" marL="0">
              <a:buNone/>
            </a:pPr>
            <a:r>
              <a:rPr lang="en-US" sz="1050" dirty="0">
                <a:solidFill>
                  <a:srgbClr val="6D726D"/>
                </a:solidFill>
                <a:latin typeface="Inter" pitchFamily="34" charset="0"/>
                <a:ea typeface="Inter" pitchFamily="34" charset="-122"/>
                <a:cs typeface="Inter" pitchFamily="34" charset="-120"/>
              </a:rPr>
              <a:t>A procurement-ready story embedded in batteries, magnets, circuit boards, and packaging</a:t>
            </a:r>
            <a:endParaRPr lang="en-US" sz="1050" dirty="0"/>
          </a:p>
        </p:txBody>
      </p:sp>
      <p:sp>
        <p:nvSpPr>
          <p:cNvPr id="5" name="Shape 3"/>
          <p:cNvSpPr/>
          <p:nvPr/>
        </p:nvSpPr>
        <p:spPr>
          <a:xfrm>
            <a:off x="859536" y="1737360"/>
            <a:ext cx="4187952" cy="4334256"/>
          </a:xfrm>
          <a:prstGeom prst="roundRect">
            <a:avLst>
              <a:gd name="adj" fmla="val 3930"/>
            </a:avLst>
          </a:prstGeom>
          <a:solidFill>
            <a:srgbClr val="D3D7D4"/>
          </a:solidFill>
          <a:ln w="13970">
            <a:solidFill>
              <a:srgbClr val="929993"/>
            </a:solidFill>
            <a:prstDash val="solid"/>
          </a:ln>
        </p:spPr>
      </p:sp>
      <p:sp>
        <p:nvSpPr>
          <p:cNvPr id="6" name="Shape 4"/>
          <p:cNvSpPr/>
          <p:nvPr/>
        </p:nvSpPr>
        <p:spPr>
          <a:xfrm>
            <a:off x="1106424" y="2011680"/>
            <a:ext cx="3685032" cy="3767328"/>
          </a:xfrm>
          <a:prstGeom prst="roundRect">
            <a:avLst>
              <a:gd name="adj" fmla="val 3474"/>
            </a:avLst>
          </a:prstGeom>
          <a:solidFill>
            <a:srgbClr val="17251E"/>
          </a:solidFill>
          <a:ln w="12700">
            <a:solidFill>
              <a:srgbClr val="17251E"/>
            </a:solidFill>
            <a:prstDash val="solid"/>
          </a:ln>
        </p:spPr>
      </p:sp>
      <p:sp>
        <p:nvSpPr>
          <p:cNvPr id="7" name="Text 5"/>
          <p:cNvSpPr/>
          <p:nvPr/>
        </p:nvSpPr>
        <p:spPr>
          <a:xfrm>
            <a:off x="1609344" y="3209544"/>
            <a:ext cx="2679192" cy="822960"/>
          </a:xfrm>
          <a:prstGeom prst="rect">
            <a:avLst/>
          </a:prstGeom>
          <a:noFill/>
          <a:ln/>
        </p:spPr>
        <p:txBody>
          <a:bodyPr wrap="square" lIns="0" tIns="0" rIns="0" bIns="0" rtlCol="0" anchor="ctr">
            <a:normAutofit/>
          </a:bodyPr>
          <a:lstStyle/>
          <a:p>
            <a:pPr algn="ctr" indent="0" marL="0">
              <a:buNone/>
            </a:pPr>
            <a:r>
              <a:rPr lang="en-US" sz="1800" b="1" dirty="0">
                <a:solidFill>
                  <a:srgbClr val="BCD6C4"/>
                </a:solidFill>
                <a:latin typeface="Inter" pitchFamily="34" charset="0"/>
                <a:ea typeface="Inter" pitchFamily="34" charset="-122"/>
                <a:cs typeface="Inter" pitchFamily="34" charset="-120"/>
              </a:rPr>
              <a:t>DEVICE</a:t>
            </a:r>
            <a:endParaRPr lang="en-US" sz="1800" dirty="0"/>
          </a:p>
          <a:p>
            <a:pPr algn="ctr" indent="0" marL="0">
              <a:buNone/>
            </a:pPr>
            <a:r>
              <a:rPr lang="en-US" sz="1800" b="1" dirty="0">
                <a:solidFill>
                  <a:srgbClr val="BCD6C4"/>
                </a:solidFill>
                <a:latin typeface="Inter" pitchFamily="34" charset="0"/>
                <a:ea typeface="Inter" pitchFamily="34" charset="-122"/>
                <a:cs typeface="Inter" pitchFamily="34" charset="-120"/>
              </a:rPr>
              <a:t>ARCHITECTURE</a:t>
            </a:r>
            <a:endParaRPr lang="en-US" sz="1800" dirty="0"/>
          </a:p>
        </p:txBody>
      </p:sp>
      <p:sp>
        <p:nvSpPr>
          <p:cNvPr id="8" name="Shape 6"/>
          <p:cNvSpPr/>
          <p:nvPr/>
        </p:nvSpPr>
        <p:spPr>
          <a:xfrm>
            <a:off x="5056632" y="2286000"/>
            <a:ext cx="676656" cy="0"/>
          </a:xfrm>
          <a:prstGeom prst="line">
            <a:avLst/>
          </a:prstGeom>
          <a:noFill/>
          <a:ln w="13970">
            <a:solidFill>
              <a:srgbClr val="BFC5BF"/>
            </a:solidFill>
            <a:prstDash val="solid"/>
            <a:headEnd type="none"/>
            <a:tailEnd type="triangle"/>
          </a:ln>
        </p:spPr>
      </p:sp>
      <p:sp>
        <p:nvSpPr>
          <p:cNvPr id="9" name="Shape 7"/>
          <p:cNvSpPr/>
          <p:nvPr/>
        </p:nvSpPr>
        <p:spPr>
          <a:xfrm>
            <a:off x="5815584" y="1847088"/>
            <a:ext cx="1133856" cy="877824"/>
          </a:xfrm>
          <a:prstGeom prst="roundRect">
            <a:avLst>
              <a:gd name="adj" fmla="val 6250"/>
            </a:avLst>
          </a:prstGeom>
          <a:solidFill>
            <a:srgbClr val="1D6A43"/>
          </a:solidFill>
          <a:ln w="12700">
            <a:solidFill>
              <a:srgbClr val="1D6A43"/>
            </a:solidFill>
            <a:prstDash val="solid"/>
          </a:ln>
        </p:spPr>
      </p:sp>
      <p:sp>
        <p:nvSpPr>
          <p:cNvPr id="10" name="Text 8"/>
          <p:cNvSpPr/>
          <p:nvPr/>
        </p:nvSpPr>
        <p:spPr>
          <a:xfrm>
            <a:off x="5907024" y="2029968"/>
            <a:ext cx="950976" cy="457200"/>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Inter" pitchFamily="34" charset="0"/>
                <a:ea typeface="Inter" pitchFamily="34" charset="-122"/>
                <a:cs typeface="Inter" pitchFamily="34" charset="-120"/>
              </a:rPr>
              <a:t>BATTERY</a:t>
            </a:r>
            <a:endParaRPr lang="en-US" sz="700" dirty="0"/>
          </a:p>
        </p:txBody>
      </p:sp>
      <p:sp>
        <p:nvSpPr>
          <p:cNvPr id="11" name="Text 9"/>
          <p:cNvSpPr/>
          <p:nvPr/>
        </p:nvSpPr>
        <p:spPr>
          <a:xfrm>
            <a:off x="7223760" y="1901952"/>
            <a:ext cx="3840480" cy="329184"/>
          </a:xfrm>
          <a:prstGeom prst="rect">
            <a:avLst/>
          </a:prstGeom>
          <a:noFill/>
          <a:ln/>
        </p:spPr>
        <p:txBody>
          <a:bodyPr wrap="square" lIns="0" tIns="0" rIns="0" bIns="0" rtlCol="0" anchor="ctr">
            <a:normAutofit/>
          </a:bodyPr>
          <a:lstStyle/>
          <a:p>
            <a:pPr indent="0" marL="0">
              <a:buNone/>
            </a:pPr>
            <a:r>
              <a:rPr lang="en-US" sz="1250" b="1" dirty="0">
                <a:solidFill>
                  <a:srgbClr val="111311"/>
                </a:solidFill>
                <a:latin typeface="Inter" pitchFamily="34" charset="0"/>
                <a:ea typeface="Inter" pitchFamily="34" charset="-122"/>
                <a:cs typeface="Inter" pitchFamily="34" charset="-120"/>
              </a:rPr>
              <a:t>100% recycled cobalt</a:t>
            </a:r>
            <a:endParaRPr lang="en-US" sz="1250" dirty="0"/>
          </a:p>
        </p:txBody>
      </p:sp>
      <p:sp>
        <p:nvSpPr>
          <p:cNvPr id="12" name="Text 10"/>
          <p:cNvSpPr/>
          <p:nvPr/>
        </p:nvSpPr>
        <p:spPr>
          <a:xfrm>
            <a:off x="7223760" y="2304288"/>
            <a:ext cx="3840480" cy="228600"/>
          </a:xfrm>
          <a:prstGeom prst="rect">
            <a:avLst/>
          </a:prstGeom>
          <a:noFill/>
          <a:ln/>
        </p:spPr>
        <p:txBody>
          <a:bodyPr wrap="square" lIns="0" tIns="0" rIns="0" bIns="0" rtlCol="0" anchor="ctr">
            <a:normAutofit/>
          </a:bodyPr>
          <a:lstStyle/>
          <a:p>
            <a:pPr indent="0" marL="0">
              <a:buNone/>
            </a:pPr>
            <a:r>
              <a:rPr lang="en-US" sz="850" dirty="0">
                <a:solidFill>
                  <a:srgbClr val="6D726D"/>
                </a:solidFill>
                <a:latin typeface="Inter" pitchFamily="34" charset="0"/>
                <a:ea typeface="Inter" pitchFamily="34" charset="-122"/>
                <a:cs typeface="Inter" pitchFamily="34" charset="-120"/>
              </a:rPr>
              <a:t>All Apple-designed batteries</a:t>
            </a:r>
            <a:endParaRPr lang="en-US" sz="850" dirty="0"/>
          </a:p>
        </p:txBody>
      </p:sp>
      <p:sp>
        <p:nvSpPr>
          <p:cNvPr id="13" name="Shape 11"/>
          <p:cNvSpPr/>
          <p:nvPr/>
        </p:nvSpPr>
        <p:spPr>
          <a:xfrm>
            <a:off x="5056632" y="3566160"/>
            <a:ext cx="676656" cy="0"/>
          </a:xfrm>
          <a:prstGeom prst="line">
            <a:avLst/>
          </a:prstGeom>
          <a:noFill/>
          <a:ln w="13970">
            <a:solidFill>
              <a:srgbClr val="BFC5BF"/>
            </a:solidFill>
            <a:prstDash val="solid"/>
            <a:headEnd type="none"/>
            <a:tailEnd type="triangle"/>
          </a:ln>
        </p:spPr>
      </p:sp>
      <p:sp>
        <p:nvSpPr>
          <p:cNvPr id="14" name="Shape 12"/>
          <p:cNvSpPr/>
          <p:nvPr/>
        </p:nvSpPr>
        <p:spPr>
          <a:xfrm>
            <a:off x="5815584" y="3127248"/>
            <a:ext cx="1133856" cy="877824"/>
          </a:xfrm>
          <a:prstGeom prst="roundRect">
            <a:avLst>
              <a:gd name="adj" fmla="val 6250"/>
            </a:avLst>
          </a:prstGeom>
          <a:solidFill>
            <a:srgbClr val="47885F"/>
          </a:solidFill>
          <a:ln w="12700">
            <a:solidFill>
              <a:srgbClr val="47885F"/>
            </a:solidFill>
            <a:prstDash val="solid"/>
          </a:ln>
        </p:spPr>
      </p:sp>
      <p:sp>
        <p:nvSpPr>
          <p:cNvPr id="15" name="Text 13"/>
          <p:cNvSpPr/>
          <p:nvPr/>
        </p:nvSpPr>
        <p:spPr>
          <a:xfrm>
            <a:off x="5907024" y="3310128"/>
            <a:ext cx="950976" cy="457200"/>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Inter" pitchFamily="34" charset="0"/>
                <a:ea typeface="Inter" pitchFamily="34" charset="-122"/>
                <a:cs typeface="Inter" pitchFamily="34" charset="-120"/>
              </a:rPr>
              <a:t>MAGNET ARRAY</a:t>
            </a:r>
            <a:endParaRPr lang="en-US" sz="700" dirty="0"/>
          </a:p>
        </p:txBody>
      </p:sp>
      <p:sp>
        <p:nvSpPr>
          <p:cNvPr id="16" name="Text 14"/>
          <p:cNvSpPr/>
          <p:nvPr/>
        </p:nvSpPr>
        <p:spPr>
          <a:xfrm>
            <a:off x="7223760" y="3182112"/>
            <a:ext cx="3840480" cy="329184"/>
          </a:xfrm>
          <a:prstGeom prst="rect">
            <a:avLst/>
          </a:prstGeom>
          <a:noFill/>
          <a:ln/>
        </p:spPr>
        <p:txBody>
          <a:bodyPr wrap="square" lIns="0" tIns="0" rIns="0" bIns="0" rtlCol="0" anchor="ctr">
            <a:normAutofit/>
          </a:bodyPr>
          <a:lstStyle/>
          <a:p>
            <a:pPr indent="0" marL="0">
              <a:buNone/>
            </a:pPr>
            <a:r>
              <a:rPr lang="en-US" sz="1250" b="1" dirty="0">
                <a:solidFill>
                  <a:srgbClr val="111311"/>
                </a:solidFill>
                <a:latin typeface="Inter" pitchFamily="34" charset="0"/>
                <a:ea typeface="Inter" pitchFamily="34" charset="-122"/>
                <a:cs typeface="Inter" pitchFamily="34" charset="-120"/>
              </a:rPr>
              <a:t>100% recycled rare earths</a:t>
            </a:r>
            <a:endParaRPr lang="en-US" sz="1250" dirty="0"/>
          </a:p>
        </p:txBody>
      </p:sp>
      <p:sp>
        <p:nvSpPr>
          <p:cNvPr id="17" name="Text 15"/>
          <p:cNvSpPr/>
          <p:nvPr/>
        </p:nvSpPr>
        <p:spPr>
          <a:xfrm>
            <a:off x="7223760" y="3584448"/>
            <a:ext cx="3840480" cy="228600"/>
          </a:xfrm>
          <a:prstGeom prst="rect">
            <a:avLst/>
          </a:prstGeom>
          <a:noFill/>
          <a:ln/>
        </p:spPr>
        <p:txBody>
          <a:bodyPr wrap="square" lIns="0" tIns="0" rIns="0" bIns="0" rtlCol="0" anchor="ctr">
            <a:normAutofit/>
          </a:bodyPr>
          <a:lstStyle/>
          <a:p>
            <a:pPr indent="0" marL="0">
              <a:buNone/>
            </a:pPr>
            <a:r>
              <a:rPr lang="en-US" sz="850" dirty="0">
                <a:solidFill>
                  <a:srgbClr val="6D726D"/>
                </a:solidFill>
                <a:latin typeface="Inter" pitchFamily="34" charset="0"/>
                <a:ea typeface="Inter" pitchFamily="34" charset="-122"/>
                <a:cs typeface="Inter" pitchFamily="34" charset="-120"/>
              </a:rPr>
              <a:t>All magnets across products</a:t>
            </a:r>
            <a:endParaRPr lang="en-US" sz="850" dirty="0"/>
          </a:p>
        </p:txBody>
      </p:sp>
      <p:sp>
        <p:nvSpPr>
          <p:cNvPr id="18" name="Shape 16"/>
          <p:cNvSpPr/>
          <p:nvPr/>
        </p:nvSpPr>
        <p:spPr>
          <a:xfrm>
            <a:off x="5056632" y="4846320"/>
            <a:ext cx="676656" cy="0"/>
          </a:xfrm>
          <a:prstGeom prst="line">
            <a:avLst/>
          </a:prstGeom>
          <a:noFill/>
          <a:ln w="13970">
            <a:solidFill>
              <a:srgbClr val="BFC5BF"/>
            </a:solidFill>
            <a:prstDash val="solid"/>
            <a:headEnd type="none"/>
            <a:tailEnd type="triangle"/>
          </a:ln>
        </p:spPr>
      </p:sp>
      <p:sp>
        <p:nvSpPr>
          <p:cNvPr id="19" name="Shape 17"/>
          <p:cNvSpPr/>
          <p:nvPr/>
        </p:nvSpPr>
        <p:spPr>
          <a:xfrm>
            <a:off x="5815584" y="4407408"/>
            <a:ext cx="1133856" cy="877824"/>
          </a:xfrm>
          <a:prstGeom prst="roundRect">
            <a:avLst>
              <a:gd name="adj" fmla="val 6250"/>
            </a:avLst>
          </a:prstGeom>
          <a:solidFill>
            <a:srgbClr val="86B797"/>
          </a:solidFill>
          <a:ln w="12700">
            <a:solidFill>
              <a:srgbClr val="86B797"/>
            </a:solidFill>
            <a:prstDash val="solid"/>
          </a:ln>
        </p:spPr>
      </p:sp>
      <p:sp>
        <p:nvSpPr>
          <p:cNvPr id="20" name="Text 18"/>
          <p:cNvSpPr/>
          <p:nvPr/>
        </p:nvSpPr>
        <p:spPr>
          <a:xfrm>
            <a:off x="5907024" y="4590288"/>
            <a:ext cx="950976" cy="457200"/>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Inter" pitchFamily="34" charset="0"/>
                <a:ea typeface="Inter" pitchFamily="34" charset="-122"/>
                <a:cs typeface="Inter" pitchFamily="34" charset="-120"/>
              </a:rPr>
              <a:t>LOGIC BOARD</a:t>
            </a:r>
            <a:endParaRPr lang="en-US" sz="700" dirty="0"/>
          </a:p>
        </p:txBody>
      </p:sp>
      <p:sp>
        <p:nvSpPr>
          <p:cNvPr id="21" name="Text 19"/>
          <p:cNvSpPr/>
          <p:nvPr/>
        </p:nvSpPr>
        <p:spPr>
          <a:xfrm>
            <a:off x="7223760" y="4462272"/>
            <a:ext cx="3840480" cy="329184"/>
          </a:xfrm>
          <a:prstGeom prst="rect">
            <a:avLst/>
          </a:prstGeom>
          <a:noFill/>
          <a:ln/>
        </p:spPr>
        <p:txBody>
          <a:bodyPr wrap="square" lIns="0" tIns="0" rIns="0" bIns="0" rtlCol="0" anchor="ctr">
            <a:normAutofit/>
          </a:bodyPr>
          <a:lstStyle/>
          <a:p>
            <a:pPr indent="0" marL="0">
              <a:buNone/>
            </a:pPr>
            <a:r>
              <a:rPr lang="en-US" sz="1250" b="1" dirty="0">
                <a:solidFill>
                  <a:srgbClr val="111311"/>
                </a:solidFill>
                <a:latin typeface="Inter" pitchFamily="34" charset="0"/>
                <a:ea typeface="Inter" pitchFamily="34" charset="-122"/>
                <a:cs typeface="Inter" pitchFamily="34" charset="-120"/>
              </a:rPr>
              <a:t>100% recycled gold + tin</a:t>
            </a:r>
            <a:endParaRPr lang="en-US" sz="1250" dirty="0"/>
          </a:p>
        </p:txBody>
      </p:sp>
      <p:sp>
        <p:nvSpPr>
          <p:cNvPr id="22" name="Text 20"/>
          <p:cNvSpPr/>
          <p:nvPr/>
        </p:nvSpPr>
        <p:spPr>
          <a:xfrm>
            <a:off x="7223760" y="4864608"/>
            <a:ext cx="3840480" cy="228600"/>
          </a:xfrm>
          <a:prstGeom prst="rect">
            <a:avLst/>
          </a:prstGeom>
          <a:noFill/>
          <a:ln/>
        </p:spPr>
        <p:txBody>
          <a:bodyPr wrap="square" lIns="0" tIns="0" rIns="0" bIns="0" rtlCol="0" anchor="ctr">
            <a:normAutofit/>
          </a:bodyPr>
          <a:lstStyle/>
          <a:p>
            <a:pPr indent="0" marL="0">
              <a:buNone/>
            </a:pPr>
            <a:r>
              <a:rPr lang="en-US" sz="850" dirty="0">
                <a:solidFill>
                  <a:srgbClr val="6D726D"/>
                </a:solidFill>
                <a:latin typeface="Inter" pitchFamily="34" charset="0"/>
                <a:ea typeface="Inter" pitchFamily="34" charset="-122"/>
                <a:cs typeface="Inter" pitchFamily="34" charset="-120"/>
              </a:rPr>
              <a:t>Apple-designed printed circuit boards</a:t>
            </a:r>
            <a:endParaRPr lang="en-US" sz="850" dirty="0"/>
          </a:p>
        </p:txBody>
      </p:sp>
      <p:sp>
        <p:nvSpPr>
          <p:cNvPr id="23" name="Shape 21"/>
          <p:cNvSpPr/>
          <p:nvPr/>
        </p:nvSpPr>
        <p:spPr>
          <a:xfrm>
            <a:off x="5788152" y="5596128"/>
            <a:ext cx="5230368" cy="512064"/>
          </a:xfrm>
          <a:prstGeom prst="roundRect">
            <a:avLst>
              <a:gd name="adj" fmla="val 8929"/>
            </a:avLst>
          </a:prstGeom>
          <a:solidFill>
            <a:srgbClr val="EEE9DD"/>
          </a:solidFill>
          <a:ln w="12700">
            <a:solidFill>
              <a:srgbClr val="EEE9DD"/>
            </a:solidFill>
            <a:prstDash val="solid"/>
          </a:ln>
        </p:spPr>
      </p:sp>
      <p:sp>
        <p:nvSpPr>
          <p:cNvPr id="24" name="Text 22"/>
          <p:cNvSpPr/>
          <p:nvPr/>
        </p:nvSpPr>
        <p:spPr>
          <a:xfrm>
            <a:off x="5998464" y="5733288"/>
            <a:ext cx="1005840" cy="182880"/>
          </a:xfrm>
          <a:prstGeom prst="rect">
            <a:avLst/>
          </a:prstGeom>
          <a:noFill/>
          <a:ln/>
        </p:spPr>
        <p:txBody>
          <a:bodyPr wrap="square" lIns="0" tIns="0" rIns="0" bIns="0" rtlCol="0" anchor="ctr">
            <a:normAutofit/>
          </a:bodyPr>
          <a:lstStyle/>
          <a:p>
            <a:pPr indent="0" marL="0">
              <a:buNone/>
            </a:pPr>
            <a:r>
              <a:rPr lang="en-US" sz="700" b="1" dirty="0">
                <a:solidFill>
                  <a:srgbClr val="5B7665"/>
                </a:solidFill>
                <a:latin typeface="Inter" pitchFamily="34" charset="0"/>
                <a:ea typeface="Inter" pitchFamily="34" charset="-122"/>
                <a:cs typeface="Inter" pitchFamily="34" charset="-120"/>
              </a:rPr>
              <a:t>UNBOXING</a:t>
            </a:r>
            <a:endParaRPr lang="en-US" sz="700" dirty="0"/>
          </a:p>
        </p:txBody>
      </p:sp>
      <p:sp>
        <p:nvSpPr>
          <p:cNvPr id="25" name="Text 23"/>
          <p:cNvSpPr/>
          <p:nvPr/>
        </p:nvSpPr>
        <p:spPr>
          <a:xfrm>
            <a:off x="7059168" y="5660136"/>
            <a:ext cx="3566160" cy="283464"/>
          </a:xfrm>
          <a:prstGeom prst="rect">
            <a:avLst/>
          </a:prstGeom>
          <a:noFill/>
          <a:ln/>
        </p:spPr>
        <p:txBody>
          <a:bodyPr wrap="square" lIns="0" tIns="0" rIns="0" bIns="0" rtlCol="0" anchor="ctr">
            <a:normAutofit/>
          </a:bodyPr>
          <a:lstStyle/>
          <a:p>
            <a:pPr indent="0" marL="0">
              <a:buNone/>
            </a:pPr>
            <a:r>
              <a:rPr lang="en-US" sz="1100" b="1" dirty="0">
                <a:solidFill>
                  <a:srgbClr val="111311"/>
                </a:solidFill>
                <a:latin typeface="Inter" pitchFamily="34" charset="0"/>
                <a:ea typeface="Inter" pitchFamily="34" charset="-122"/>
                <a:cs typeface="Inter" pitchFamily="34" charset="-120"/>
              </a:rPr>
              <a:t>100% fiber-based packaging</a:t>
            </a:r>
            <a:endParaRPr lang="en-US" sz="1100" dirty="0"/>
          </a:p>
        </p:txBody>
      </p:sp>
      <p:sp>
        <p:nvSpPr>
          <p:cNvPr id="26" name="Shape 24"/>
          <p:cNvSpPr/>
          <p:nvPr/>
        </p:nvSpPr>
        <p:spPr>
          <a:xfrm>
            <a:off x="9061704" y="1472184"/>
            <a:ext cx="2084832" cy="292608"/>
          </a:xfrm>
          <a:prstGeom prst="roundRect">
            <a:avLst>
              <a:gd name="adj" fmla="val 21875"/>
            </a:avLst>
          </a:prstGeom>
          <a:solidFill>
            <a:srgbClr val="10382B"/>
          </a:solidFill>
          <a:ln w="12700">
            <a:solidFill>
              <a:srgbClr val="10382B">
                <a:alpha val="0"/>
              </a:srgbClr>
            </a:solidFill>
            <a:prstDash val="solid"/>
          </a:ln>
        </p:spPr>
      </p:sp>
      <p:sp>
        <p:nvSpPr>
          <p:cNvPr id="27" name="Text 25"/>
          <p:cNvSpPr/>
          <p:nvPr/>
        </p:nvSpPr>
        <p:spPr>
          <a:xfrm>
            <a:off x="9153144" y="1481328"/>
            <a:ext cx="1901952" cy="256032"/>
          </a:xfrm>
          <a:prstGeom prst="rect">
            <a:avLst/>
          </a:prstGeom>
          <a:noFill/>
          <a:ln/>
        </p:spPr>
        <p:txBody>
          <a:bodyPr wrap="square" lIns="0" tIns="0" rIns="0" bIns="0" rtlCol="0" anchor="ctr">
            <a:normAutofit/>
          </a:bodyPr>
          <a:lstStyle/>
          <a:p>
            <a:pPr algn="ctr" indent="0" marL="0">
              <a:buNone/>
            </a:pPr>
            <a:r>
              <a:rPr lang="en-US" sz="700" b="1" spc="50" kern="0" dirty="0">
                <a:solidFill>
                  <a:srgbClr val="FFFFFF"/>
                </a:solidFill>
                <a:latin typeface="Inter" pitchFamily="34" charset="0"/>
                <a:ea typeface="Inter" pitchFamily="34" charset="-122"/>
                <a:cs typeface="Inter" pitchFamily="34" charset="-120"/>
              </a:rPr>
              <a:t>ENTERPRISE SALES HOOK</a:t>
            </a:r>
            <a:endParaRPr lang="en-US" sz="700" dirty="0"/>
          </a:p>
        </p:txBody>
      </p:sp>
      <p:sp>
        <p:nvSpPr>
          <p:cNvPr id="28" name="Text 26"/>
          <p:cNvSpPr/>
          <p:nvPr/>
        </p:nvSpPr>
        <p:spPr>
          <a:xfrm>
            <a:off x="7424928" y="6583680"/>
            <a:ext cx="3931920" cy="146304"/>
          </a:xfrm>
          <a:prstGeom prst="rect">
            <a:avLst/>
          </a:prstGeom>
          <a:noFill/>
          <a:ln/>
        </p:spPr>
        <p:txBody>
          <a:bodyPr wrap="square" lIns="0" tIns="0" rIns="0" bIns="0" rtlCol="0" anchor="ctr">
            <a:normAutofit/>
          </a:bodyPr>
          <a:lstStyle/>
          <a:p>
            <a:pPr algn="r" indent="0" marL="0">
              <a:buNone/>
            </a:pPr>
            <a:r>
              <a:rPr lang="en-US" sz="530" dirty="0">
                <a:solidFill>
                  <a:srgbClr val="858A84"/>
                </a:solidFill>
                <a:latin typeface="Inter" pitchFamily="34" charset="0"/>
                <a:ea typeface="Inter" pitchFamily="34" charset="-122"/>
                <a:cs typeface="Inter" pitchFamily="34" charset="-120"/>
              </a:rPr>
              <a:t>SOURCE: APPLE EPR 2026, DESIGN &amp; MATERIALS</a:t>
            </a:r>
            <a:endParaRPr lang="en-US" sz="530" dirty="0"/>
          </a:p>
        </p:txBody>
      </p:sp>
      <p:sp>
        <p:nvSpPr>
          <p:cNvPr id="25" name="Slide Number Placeholder 0"/>
          <p:cNvSpPr>
            <a:spLocks noGrp="1"/>
          </p:cNvSpPr>
          <p:nvPr>
            <p:ph type="sldNum" sz="quarter" idx="4294967295"/>
          </p:nvPr>
        </p:nvSpPr>
        <p:spPr>
          <a:xfrm>
            <a:off x="11384280" y="6583680"/>
            <a:ext cx="256032"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858A84"/>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10896"/>
            <a:ext cx="4114800" cy="219456"/>
          </a:xfrm>
          <a:prstGeom prst="rect">
            <a:avLst/>
          </a:prstGeom>
          <a:noFill/>
          <a:ln/>
        </p:spPr>
        <p:txBody>
          <a:bodyPr wrap="square" lIns="0" tIns="0" rIns="0" bIns="0" rtlCol="0" anchor="ctr">
            <a:normAutofit/>
          </a:bodyPr>
          <a:lstStyle/>
          <a:p>
            <a:pPr indent="0" marL="0">
              <a:buNone/>
            </a:pPr>
            <a:r>
              <a:rPr lang="en-US" sz="850" b="1" spc="120" kern="0" dirty="0">
                <a:solidFill>
                  <a:srgbClr val="22A65A"/>
                </a:solidFill>
                <a:latin typeface="Inter" pitchFamily="34" charset="0"/>
                <a:ea typeface="Inter" pitchFamily="34" charset="-122"/>
                <a:cs typeface="Inter" pitchFamily="34" charset="-120"/>
              </a:rPr>
              <a:t>SUPPLY RESILIENCE</a:t>
            </a:r>
            <a:endParaRPr lang="en-US" sz="850" dirty="0"/>
          </a:p>
        </p:txBody>
      </p:sp>
      <p:sp>
        <p:nvSpPr>
          <p:cNvPr id="3" name="Text 1"/>
          <p:cNvSpPr/>
          <p:nvPr/>
        </p:nvSpPr>
        <p:spPr>
          <a:xfrm>
            <a:off x="548640" y="621792"/>
            <a:ext cx="11018520" cy="502920"/>
          </a:xfrm>
          <a:prstGeom prst="rect">
            <a:avLst/>
          </a:prstGeom>
          <a:noFill/>
          <a:ln/>
        </p:spPr>
        <p:txBody>
          <a:bodyPr wrap="square" lIns="0" tIns="0" rIns="0" bIns="0" rtlCol="0" anchor="ctr">
            <a:normAutofit/>
          </a:bodyPr>
          <a:lstStyle/>
          <a:p>
            <a:pPr indent="0" marL="0">
              <a:buNone/>
            </a:pPr>
            <a:r>
              <a:rPr lang="en-US" sz="2500" b="1" dirty="0">
                <a:solidFill>
                  <a:srgbClr val="111311"/>
                </a:solidFill>
                <a:latin typeface="Inter" pitchFamily="34" charset="0"/>
                <a:ea typeface="Inter" pitchFamily="34" charset="-122"/>
                <a:cs typeface="Inter" pitchFamily="34" charset="-120"/>
              </a:rPr>
              <a:t>Operational efficiency: stewarding resources to protect margins</a:t>
            </a:r>
            <a:endParaRPr lang="en-US" sz="2500" dirty="0"/>
          </a:p>
        </p:txBody>
      </p:sp>
      <p:sp>
        <p:nvSpPr>
          <p:cNvPr id="4" name="Text 2"/>
          <p:cNvSpPr/>
          <p:nvPr/>
        </p:nvSpPr>
        <p:spPr>
          <a:xfrm>
            <a:off x="548640" y="1133856"/>
            <a:ext cx="11018520" cy="310896"/>
          </a:xfrm>
          <a:prstGeom prst="rect">
            <a:avLst/>
          </a:prstGeom>
          <a:noFill/>
          <a:ln/>
        </p:spPr>
        <p:txBody>
          <a:bodyPr wrap="square" lIns="0" tIns="0" rIns="0" bIns="0" rtlCol="0" anchor="ctr">
            <a:normAutofit/>
          </a:bodyPr>
          <a:lstStyle/>
          <a:p>
            <a:pPr indent="0" marL="0">
              <a:buNone/>
            </a:pPr>
            <a:r>
              <a:rPr lang="en-US" sz="1050" dirty="0">
                <a:solidFill>
                  <a:srgbClr val="6D726D"/>
                </a:solidFill>
                <a:latin typeface="Inter" pitchFamily="34" charset="0"/>
                <a:ea typeface="Inter" pitchFamily="34" charset="-122"/>
                <a:cs typeface="Inter" pitchFamily="34" charset="-120"/>
              </a:rPr>
              <a:t>Water, waste, and replenishment programs reduce exposure in constrained manufacturing regions</a:t>
            </a:r>
            <a:endParaRPr lang="en-US" sz="1050" dirty="0"/>
          </a:p>
        </p:txBody>
      </p:sp>
      <p:sp>
        <p:nvSpPr>
          <p:cNvPr id="5" name="Shape 3"/>
          <p:cNvSpPr/>
          <p:nvPr/>
        </p:nvSpPr>
        <p:spPr>
          <a:xfrm>
            <a:off x="566928" y="1755648"/>
            <a:ext cx="3300984" cy="4133088"/>
          </a:xfrm>
          <a:prstGeom prst="roundRect">
            <a:avLst>
              <a:gd name="adj" fmla="val 2493"/>
            </a:avLst>
          </a:prstGeom>
          <a:solidFill>
            <a:srgbClr val="FFFFFF"/>
          </a:solidFill>
          <a:ln w="10160">
            <a:solidFill>
              <a:srgbClr val="E4E7E2"/>
            </a:solidFill>
            <a:prstDash val="solid"/>
          </a:ln>
          <a:effectLst>
            <a:outerShdw sx="100000" sy="100000" kx="0" ky="0" algn="bl" rotWithShape="0" blurRad="12700" dist="50800" dir="2700000">
              <a:srgbClr val="AAB0AA">
                <a:alpha val="11000"/>
              </a:srgbClr>
            </a:outerShdw>
          </a:effectLst>
        </p:spPr>
      </p:sp>
      <p:sp>
        <p:nvSpPr>
          <p:cNvPr id="6" name="Shape 4"/>
          <p:cNvSpPr/>
          <p:nvPr/>
        </p:nvSpPr>
        <p:spPr>
          <a:xfrm>
            <a:off x="1792224" y="2121408"/>
            <a:ext cx="841248" cy="1051560"/>
          </a:xfrm>
          <a:prstGeom prst="teardrop">
            <a:avLst/>
          </a:prstGeom>
          <a:solidFill>
            <a:srgbClr val="5AC8D8"/>
          </a:solidFill>
          <a:ln w="12700">
            <a:solidFill>
              <a:srgbClr val="5AC8D8"/>
            </a:solidFill>
            <a:prstDash val="solid"/>
          </a:ln>
        </p:spPr>
      </p:sp>
      <p:sp>
        <p:nvSpPr>
          <p:cNvPr id="7" name="Text 5"/>
          <p:cNvSpPr/>
          <p:nvPr/>
        </p:nvSpPr>
        <p:spPr>
          <a:xfrm>
            <a:off x="786384" y="3364992"/>
            <a:ext cx="2862072" cy="603504"/>
          </a:xfrm>
          <a:prstGeom prst="rect">
            <a:avLst/>
          </a:prstGeom>
          <a:noFill/>
          <a:ln/>
        </p:spPr>
        <p:txBody>
          <a:bodyPr wrap="square" lIns="0" tIns="0" rIns="0" bIns="0" rtlCol="0" anchor="ctr">
            <a:normAutofit/>
          </a:bodyPr>
          <a:lstStyle/>
          <a:p>
            <a:pPr algn="ctr" indent="0" marL="0">
              <a:buNone/>
            </a:pPr>
            <a:r>
              <a:rPr lang="en-US" sz="3100" b="1" dirty="0">
                <a:solidFill>
                  <a:srgbClr val="5AC8D8"/>
                </a:solidFill>
                <a:latin typeface="Inter" pitchFamily="34" charset="0"/>
                <a:ea typeface="Inter" pitchFamily="34" charset="-122"/>
                <a:cs typeface="Inter" pitchFamily="34" charset="-120"/>
              </a:rPr>
              <a:t>17B</a:t>
            </a:r>
            <a:endParaRPr lang="en-US" sz="3100" dirty="0"/>
          </a:p>
        </p:txBody>
      </p:sp>
      <p:sp>
        <p:nvSpPr>
          <p:cNvPr id="8" name="Text 6"/>
          <p:cNvSpPr/>
          <p:nvPr/>
        </p:nvSpPr>
        <p:spPr>
          <a:xfrm>
            <a:off x="841248" y="4041648"/>
            <a:ext cx="2752344" cy="347472"/>
          </a:xfrm>
          <a:prstGeom prst="rect">
            <a:avLst/>
          </a:prstGeom>
          <a:noFill/>
          <a:ln/>
        </p:spPr>
        <p:txBody>
          <a:bodyPr wrap="square" lIns="0" tIns="0" rIns="0" bIns="0" rtlCol="0" anchor="ctr">
            <a:normAutofit/>
          </a:bodyPr>
          <a:lstStyle/>
          <a:p>
            <a:pPr algn="ctr" indent="0" marL="0">
              <a:buNone/>
            </a:pPr>
            <a:r>
              <a:rPr lang="en-US" sz="1250" b="1" dirty="0">
                <a:solidFill>
                  <a:srgbClr val="111311"/>
                </a:solidFill>
                <a:latin typeface="Inter" pitchFamily="34" charset="0"/>
                <a:ea typeface="Inter" pitchFamily="34" charset="-122"/>
                <a:cs typeface="Inter" pitchFamily="34" charset="-120"/>
              </a:rPr>
              <a:t>gallons saved</a:t>
            </a:r>
            <a:endParaRPr lang="en-US" sz="1250" dirty="0"/>
          </a:p>
        </p:txBody>
      </p:sp>
      <p:sp>
        <p:nvSpPr>
          <p:cNvPr id="9" name="Text 7"/>
          <p:cNvSpPr/>
          <p:nvPr/>
        </p:nvSpPr>
        <p:spPr>
          <a:xfrm>
            <a:off x="877824" y="4544568"/>
            <a:ext cx="2679192" cy="713232"/>
          </a:xfrm>
          <a:prstGeom prst="rect">
            <a:avLst/>
          </a:prstGeom>
          <a:noFill/>
          <a:ln/>
        </p:spPr>
        <p:txBody>
          <a:bodyPr wrap="square" lIns="0" tIns="0" rIns="0" bIns="0" rtlCol="0" anchor="t">
            <a:normAutofit/>
          </a:bodyPr>
          <a:lstStyle/>
          <a:p>
            <a:pPr algn="ctr" indent="0" marL="0">
              <a:buNone/>
            </a:pPr>
            <a:r>
              <a:rPr lang="en-US" sz="880" dirty="0">
                <a:solidFill>
                  <a:srgbClr val="6D726D"/>
                </a:solidFill>
                <a:latin typeface="Inter" pitchFamily="34" charset="0"/>
                <a:ea typeface="Inter" pitchFamily="34" charset="-122"/>
                <a:cs typeface="Inter" pitchFamily="34" charset="-120"/>
              </a:rPr>
              <a:t>Freshwater saved by Apple and suppliers across the supply chain in 2025.</a:t>
            </a:r>
            <a:endParaRPr lang="en-US" sz="880" dirty="0"/>
          </a:p>
        </p:txBody>
      </p:sp>
      <p:sp>
        <p:nvSpPr>
          <p:cNvPr id="10" name="Shape 8"/>
          <p:cNvSpPr/>
          <p:nvPr/>
        </p:nvSpPr>
        <p:spPr>
          <a:xfrm>
            <a:off x="4160520" y="1755648"/>
            <a:ext cx="3300984" cy="4133088"/>
          </a:xfrm>
          <a:prstGeom prst="roundRect">
            <a:avLst>
              <a:gd name="adj" fmla="val 2493"/>
            </a:avLst>
          </a:prstGeom>
          <a:solidFill>
            <a:srgbClr val="FFFFFF"/>
          </a:solidFill>
          <a:ln w="10160">
            <a:solidFill>
              <a:srgbClr val="E4E7E2"/>
            </a:solidFill>
            <a:prstDash val="solid"/>
          </a:ln>
          <a:effectLst>
            <a:outerShdw sx="100000" sy="100000" kx="0" ky="0" algn="bl" rotWithShape="0" blurRad="12700" dist="50800" dir="2700000">
              <a:srgbClr val="AAB0AA">
                <a:alpha val="11000"/>
              </a:srgbClr>
            </a:outerShdw>
          </a:effectLst>
        </p:spPr>
      </p:sp>
      <p:sp>
        <p:nvSpPr>
          <p:cNvPr id="11" name="Shape 9"/>
          <p:cNvSpPr/>
          <p:nvPr/>
        </p:nvSpPr>
        <p:spPr>
          <a:xfrm>
            <a:off x="5367528" y="2231136"/>
            <a:ext cx="877824" cy="822960"/>
          </a:xfrm>
          <a:prstGeom prst="roundRect">
            <a:avLst>
              <a:gd name="adj" fmla="val 3333"/>
            </a:avLst>
          </a:prstGeom>
          <a:solidFill>
            <a:srgbClr val="FFFFFF">
              <a:alpha val="0"/>
            </a:srgbClr>
          </a:solidFill>
          <a:ln w="27940">
            <a:solidFill>
              <a:srgbClr val="22A65A"/>
            </a:solidFill>
            <a:prstDash val="solid"/>
          </a:ln>
        </p:spPr>
      </p:sp>
      <p:sp>
        <p:nvSpPr>
          <p:cNvPr id="12" name="Shape 10"/>
          <p:cNvSpPr/>
          <p:nvPr/>
        </p:nvSpPr>
        <p:spPr>
          <a:xfrm>
            <a:off x="5266944" y="2139696"/>
            <a:ext cx="1078992" cy="0"/>
          </a:xfrm>
          <a:prstGeom prst="line">
            <a:avLst/>
          </a:prstGeom>
          <a:noFill/>
          <a:ln w="27940">
            <a:solidFill>
              <a:srgbClr val="22A65A"/>
            </a:solidFill>
            <a:prstDash val="solid"/>
          </a:ln>
        </p:spPr>
      </p:sp>
      <p:sp>
        <p:nvSpPr>
          <p:cNvPr id="13" name="Text 11"/>
          <p:cNvSpPr/>
          <p:nvPr/>
        </p:nvSpPr>
        <p:spPr>
          <a:xfrm>
            <a:off x="5458968" y="2322576"/>
            <a:ext cx="694944" cy="530352"/>
          </a:xfrm>
          <a:prstGeom prst="rect">
            <a:avLst/>
          </a:prstGeom>
          <a:noFill/>
          <a:ln/>
        </p:spPr>
        <p:txBody>
          <a:bodyPr wrap="square" lIns="0" tIns="0" rIns="0" bIns="0" rtlCol="0" anchor="ctr">
            <a:normAutofit/>
          </a:bodyPr>
          <a:lstStyle/>
          <a:p>
            <a:pPr algn="ctr" indent="0" marL="0">
              <a:buNone/>
            </a:pPr>
            <a:r>
              <a:rPr lang="en-US" sz="2400" b="1" dirty="0">
                <a:solidFill>
                  <a:srgbClr val="22A65A"/>
                </a:solidFill>
                <a:latin typeface="Inter" pitchFamily="34" charset="0"/>
                <a:ea typeface="Inter" pitchFamily="34" charset="-122"/>
                <a:cs typeface="Inter" pitchFamily="34" charset="-120"/>
              </a:rPr>
              <a:t>↻</a:t>
            </a:r>
            <a:endParaRPr lang="en-US" sz="2400" dirty="0"/>
          </a:p>
        </p:txBody>
      </p:sp>
      <p:sp>
        <p:nvSpPr>
          <p:cNvPr id="14" name="Text 12"/>
          <p:cNvSpPr/>
          <p:nvPr/>
        </p:nvSpPr>
        <p:spPr>
          <a:xfrm>
            <a:off x="4379976" y="3364992"/>
            <a:ext cx="2862072" cy="603504"/>
          </a:xfrm>
          <a:prstGeom prst="rect">
            <a:avLst/>
          </a:prstGeom>
          <a:noFill/>
          <a:ln/>
        </p:spPr>
        <p:txBody>
          <a:bodyPr wrap="square" lIns="0" tIns="0" rIns="0" bIns="0" rtlCol="0" anchor="ctr">
            <a:normAutofit/>
          </a:bodyPr>
          <a:lstStyle/>
          <a:p>
            <a:pPr algn="ctr" indent="0" marL="0">
              <a:buNone/>
            </a:pPr>
            <a:r>
              <a:rPr lang="en-US" sz="3100" b="1" dirty="0">
                <a:solidFill>
                  <a:srgbClr val="22A65A"/>
                </a:solidFill>
                <a:latin typeface="Inter" pitchFamily="34" charset="0"/>
                <a:ea typeface="Inter" pitchFamily="34" charset="-122"/>
                <a:cs typeface="Inter" pitchFamily="34" charset="-120"/>
              </a:rPr>
              <a:t>100%</a:t>
            </a:r>
            <a:endParaRPr lang="en-US" sz="3100" dirty="0"/>
          </a:p>
        </p:txBody>
      </p:sp>
      <p:sp>
        <p:nvSpPr>
          <p:cNvPr id="15" name="Text 13"/>
          <p:cNvSpPr/>
          <p:nvPr/>
        </p:nvSpPr>
        <p:spPr>
          <a:xfrm>
            <a:off x="4434840" y="4041648"/>
            <a:ext cx="2752344" cy="347472"/>
          </a:xfrm>
          <a:prstGeom prst="rect">
            <a:avLst/>
          </a:prstGeom>
          <a:noFill/>
          <a:ln/>
        </p:spPr>
        <p:txBody>
          <a:bodyPr wrap="square" lIns="0" tIns="0" rIns="0" bIns="0" rtlCol="0" anchor="ctr">
            <a:normAutofit/>
          </a:bodyPr>
          <a:lstStyle/>
          <a:p>
            <a:pPr algn="ctr" indent="0" marL="0">
              <a:buNone/>
            </a:pPr>
            <a:r>
              <a:rPr lang="en-US" sz="1250" b="1" dirty="0">
                <a:solidFill>
                  <a:srgbClr val="111311"/>
                </a:solidFill>
                <a:latin typeface="Inter" pitchFamily="34" charset="0"/>
                <a:ea typeface="Inter" pitchFamily="34" charset="-122"/>
                <a:cs typeface="Inter" pitchFamily="34" charset="-120"/>
              </a:rPr>
              <a:t>final assembly coverage</a:t>
            </a:r>
            <a:endParaRPr lang="en-US" sz="1250" dirty="0"/>
          </a:p>
        </p:txBody>
      </p:sp>
      <p:sp>
        <p:nvSpPr>
          <p:cNvPr id="16" name="Text 14"/>
          <p:cNvSpPr/>
          <p:nvPr/>
        </p:nvSpPr>
        <p:spPr>
          <a:xfrm>
            <a:off x="4471416" y="4544568"/>
            <a:ext cx="2679192" cy="713232"/>
          </a:xfrm>
          <a:prstGeom prst="rect">
            <a:avLst/>
          </a:prstGeom>
          <a:noFill/>
          <a:ln/>
        </p:spPr>
        <p:txBody>
          <a:bodyPr wrap="square" lIns="0" tIns="0" rIns="0" bIns="0" rtlCol="0" anchor="t">
            <a:normAutofit/>
          </a:bodyPr>
          <a:lstStyle/>
          <a:p>
            <a:pPr algn="ctr" indent="0" marL="0">
              <a:buNone/>
            </a:pPr>
            <a:r>
              <a:rPr lang="en-US" sz="880" dirty="0">
                <a:solidFill>
                  <a:srgbClr val="6D726D"/>
                </a:solidFill>
                <a:latin typeface="Inter" pitchFamily="34" charset="0"/>
                <a:ea typeface="Inter" pitchFamily="34" charset="-122"/>
                <a:cs typeface="Inter" pitchFamily="34" charset="-120"/>
              </a:rPr>
              <a:t>All Apple products ship from sites maintaining verified zero-waste-to-landfill operations.</a:t>
            </a:r>
            <a:endParaRPr lang="en-US" sz="880" dirty="0"/>
          </a:p>
        </p:txBody>
      </p:sp>
      <p:sp>
        <p:nvSpPr>
          <p:cNvPr id="17" name="Shape 15"/>
          <p:cNvSpPr/>
          <p:nvPr/>
        </p:nvSpPr>
        <p:spPr>
          <a:xfrm>
            <a:off x="7754112" y="1755648"/>
            <a:ext cx="3300984" cy="4133088"/>
          </a:xfrm>
          <a:prstGeom prst="roundRect">
            <a:avLst>
              <a:gd name="adj" fmla="val 2493"/>
            </a:avLst>
          </a:prstGeom>
          <a:solidFill>
            <a:srgbClr val="FFFFFF"/>
          </a:solidFill>
          <a:ln w="10160">
            <a:solidFill>
              <a:srgbClr val="E4E7E2"/>
            </a:solidFill>
            <a:prstDash val="solid"/>
          </a:ln>
          <a:effectLst>
            <a:outerShdw sx="100000" sy="100000" kx="0" ky="0" algn="bl" rotWithShape="0" blurRad="12700" dist="50800" dir="2700000">
              <a:srgbClr val="AAB0AA">
                <a:alpha val="11000"/>
              </a:srgbClr>
            </a:outerShdw>
          </a:effectLst>
        </p:spPr>
      </p:sp>
      <p:sp>
        <p:nvSpPr>
          <p:cNvPr id="18" name="Shape 16"/>
          <p:cNvSpPr/>
          <p:nvPr/>
        </p:nvSpPr>
        <p:spPr>
          <a:xfrm rot="2700000">
            <a:off x="8897112" y="2148840"/>
            <a:ext cx="914400" cy="1078992"/>
          </a:xfrm>
          <a:prstGeom prst="teardrop">
            <a:avLst/>
          </a:prstGeom>
          <a:solidFill>
            <a:srgbClr val="10382B"/>
          </a:solidFill>
          <a:ln w="17780">
            <a:solidFill>
              <a:srgbClr val="10382B"/>
            </a:solidFill>
            <a:prstDash val="solid"/>
          </a:ln>
        </p:spPr>
      </p:sp>
      <p:sp>
        <p:nvSpPr>
          <p:cNvPr id="19" name="Shape 17"/>
          <p:cNvSpPr/>
          <p:nvPr/>
        </p:nvSpPr>
        <p:spPr>
          <a:xfrm>
            <a:off x="9098280" y="2889504"/>
            <a:ext cx="566928" cy="-566928"/>
          </a:xfrm>
          <a:prstGeom prst="line">
            <a:avLst/>
          </a:prstGeom>
          <a:noFill/>
          <a:ln w="19050">
            <a:solidFill>
              <a:srgbClr val="FFFFFF"/>
            </a:solidFill>
            <a:prstDash val="solid"/>
          </a:ln>
        </p:spPr>
      </p:sp>
      <p:sp>
        <p:nvSpPr>
          <p:cNvPr id="20" name="Text 18"/>
          <p:cNvSpPr/>
          <p:nvPr/>
        </p:nvSpPr>
        <p:spPr>
          <a:xfrm>
            <a:off x="7973568" y="3364992"/>
            <a:ext cx="2862072" cy="603504"/>
          </a:xfrm>
          <a:prstGeom prst="rect">
            <a:avLst/>
          </a:prstGeom>
          <a:noFill/>
          <a:ln/>
        </p:spPr>
        <p:txBody>
          <a:bodyPr wrap="square" lIns="0" tIns="0" rIns="0" bIns="0" rtlCol="0" anchor="ctr">
            <a:normAutofit/>
          </a:bodyPr>
          <a:lstStyle/>
          <a:p>
            <a:pPr algn="ctr" indent="0" marL="0">
              <a:buNone/>
            </a:pPr>
            <a:r>
              <a:rPr lang="en-US" sz="3100" b="1" dirty="0">
                <a:solidFill>
                  <a:srgbClr val="10382B"/>
                </a:solidFill>
                <a:latin typeface="Inter" pitchFamily="34" charset="0"/>
                <a:ea typeface="Inter" pitchFamily="34" charset="-122"/>
                <a:cs typeface="Inter" pitchFamily="34" charset="-120"/>
              </a:rPr>
              <a:t>55%</a:t>
            </a:r>
            <a:endParaRPr lang="en-US" sz="3100" dirty="0"/>
          </a:p>
        </p:txBody>
      </p:sp>
      <p:sp>
        <p:nvSpPr>
          <p:cNvPr id="21" name="Text 19"/>
          <p:cNvSpPr/>
          <p:nvPr/>
        </p:nvSpPr>
        <p:spPr>
          <a:xfrm>
            <a:off x="8028432" y="4041648"/>
            <a:ext cx="2752344" cy="347472"/>
          </a:xfrm>
          <a:prstGeom prst="rect">
            <a:avLst/>
          </a:prstGeom>
          <a:noFill/>
          <a:ln/>
        </p:spPr>
        <p:txBody>
          <a:bodyPr wrap="square" lIns="0" tIns="0" rIns="0" bIns="0" rtlCol="0" anchor="ctr">
            <a:normAutofit/>
          </a:bodyPr>
          <a:lstStyle/>
          <a:p>
            <a:pPr algn="ctr" indent="0" marL="0">
              <a:buNone/>
            </a:pPr>
            <a:r>
              <a:rPr lang="en-US" sz="1250" b="1" dirty="0">
                <a:solidFill>
                  <a:srgbClr val="111311"/>
                </a:solidFill>
                <a:latin typeface="Inter" pitchFamily="34" charset="0"/>
                <a:ea typeface="Inter" pitchFamily="34" charset="-122"/>
                <a:cs typeface="Inter" pitchFamily="34" charset="-120"/>
              </a:rPr>
              <a:t>freshwater replenished</a:t>
            </a:r>
            <a:endParaRPr lang="en-US" sz="1250" dirty="0"/>
          </a:p>
        </p:txBody>
      </p:sp>
      <p:sp>
        <p:nvSpPr>
          <p:cNvPr id="22" name="Text 20"/>
          <p:cNvSpPr/>
          <p:nvPr/>
        </p:nvSpPr>
        <p:spPr>
          <a:xfrm>
            <a:off x="8065008" y="4544568"/>
            <a:ext cx="2679192" cy="713232"/>
          </a:xfrm>
          <a:prstGeom prst="rect">
            <a:avLst/>
          </a:prstGeom>
          <a:noFill/>
          <a:ln/>
        </p:spPr>
        <p:txBody>
          <a:bodyPr wrap="square" lIns="0" tIns="0" rIns="0" bIns="0" rtlCol="0" anchor="t">
            <a:normAutofit/>
          </a:bodyPr>
          <a:lstStyle/>
          <a:p>
            <a:pPr algn="ctr" indent="0" marL="0">
              <a:buNone/>
            </a:pPr>
            <a:r>
              <a:rPr lang="en-US" sz="880" dirty="0">
                <a:solidFill>
                  <a:srgbClr val="6D726D"/>
                </a:solidFill>
                <a:latin typeface="Inter" pitchFamily="34" charset="0"/>
                <a:ea typeface="Inter" pitchFamily="34" charset="-122"/>
                <a:cs typeface="Inter" pitchFamily="34" charset="-120"/>
              </a:rPr>
              <a:t>Share of corporate freshwater withdrawals replenished through contracted projects.</a:t>
            </a:r>
            <a:endParaRPr lang="en-US" sz="880" dirty="0"/>
          </a:p>
        </p:txBody>
      </p:sp>
      <p:sp>
        <p:nvSpPr>
          <p:cNvPr id="23" name="Shape 21"/>
          <p:cNvSpPr/>
          <p:nvPr/>
        </p:nvSpPr>
        <p:spPr>
          <a:xfrm>
            <a:off x="2011680" y="6007608"/>
            <a:ext cx="8156448" cy="347472"/>
          </a:xfrm>
          <a:prstGeom prst="roundRect">
            <a:avLst>
              <a:gd name="adj" fmla="val 10526"/>
            </a:avLst>
          </a:prstGeom>
          <a:solidFill>
            <a:srgbClr val="E2F7E8"/>
          </a:solidFill>
          <a:ln w="12700">
            <a:solidFill>
              <a:srgbClr val="E2F7E8"/>
            </a:solidFill>
            <a:prstDash val="solid"/>
          </a:ln>
        </p:spPr>
      </p:sp>
      <p:sp>
        <p:nvSpPr>
          <p:cNvPr id="24" name="Text 22"/>
          <p:cNvSpPr/>
          <p:nvPr/>
        </p:nvSpPr>
        <p:spPr>
          <a:xfrm>
            <a:off x="2212848" y="6080760"/>
            <a:ext cx="7754112" cy="173736"/>
          </a:xfrm>
          <a:prstGeom prst="rect">
            <a:avLst/>
          </a:prstGeom>
          <a:noFill/>
          <a:ln/>
        </p:spPr>
        <p:txBody>
          <a:bodyPr wrap="square" lIns="0" tIns="0" rIns="0" bIns="0" rtlCol="0" anchor="ctr">
            <a:normAutofit/>
          </a:bodyPr>
          <a:lstStyle/>
          <a:p>
            <a:pPr algn="ctr" indent="0" marL="0">
              <a:buNone/>
            </a:pPr>
            <a:r>
              <a:rPr lang="en-US" sz="750" b="1" dirty="0">
                <a:solidFill>
                  <a:srgbClr val="10382B"/>
                </a:solidFill>
                <a:latin typeface="Inter" pitchFamily="34" charset="0"/>
                <a:ea typeface="Inter" pitchFamily="34" charset="-122"/>
                <a:cs typeface="Inter" pitchFamily="34" charset="-120"/>
              </a:rPr>
              <a:t>MARGIN LOGIC  •  lower resource intensity  →  lower disruption exposure  →  stronger delivery reliability</a:t>
            </a:r>
            <a:endParaRPr lang="en-US" sz="750" dirty="0"/>
          </a:p>
        </p:txBody>
      </p:sp>
      <p:sp>
        <p:nvSpPr>
          <p:cNvPr id="25" name="Text 23"/>
          <p:cNvSpPr/>
          <p:nvPr/>
        </p:nvSpPr>
        <p:spPr>
          <a:xfrm>
            <a:off x="7424928" y="6583680"/>
            <a:ext cx="3931920" cy="146304"/>
          </a:xfrm>
          <a:prstGeom prst="rect">
            <a:avLst/>
          </a:prstGeom>
          <a:noFill/>
          <a:ln/>
        </p:spPr>
        <p:txBody>
          <a:bodyPr wrap="square" lIns="0" tIns="0" rIns="0" bIns="0" rtlCol="0" anchor="ctr">
            <a:normAutofit/>
          </a:bodyPr>
          <a:lstStyle/>
          <a:p>
            <a:pPr algn="r" indent="0" marL="0">
              <a:buNone/>
            </a:pPr>
            <a:r>
              <a:rPr lang="en-US" sz="530" dirty="0">
                <a:solidFill>
                  <a:srgbClr val="858A84"/>
                </a:solidFill>
                <a:latin typeface="Inter" pitchFamily="34" charset="0"/>
                <a:ea typeface="Inter" pitchFamily="34" charset="-122"/>
                <a:cs typeface="Inter" pitchFamily="34" charset="-120"/>
              </a:rPr>
              <a:t>SOURCE: APPLE EPR 2026, WATER &amp; ZERO WASTE</a:t>
            </a:r>
            <a:endParaRPr lang="en-US" sz="530" dirty="0"/>
          </a:p>
        </p:txBody>
      </p:sp>
      <p:sp>
        <p:nvSpPr>
          <p:cNvPr id="25" name="Slide Number Placeholder 0"/>
          <p:cNvSpPr>
            <a:spLocks noGrp="1"/>
          </p:cNvSpPr>
          <p:nvPr>
            <p:ph type="sldNum" sz="quarter" idx="4294967295"/>
          </p:nvPr>
        </p:nvSpPr>
        <p:spPr>
          <a:xfrm>
            <a:off x="11384280" y="6583680"/>
            <a:ext cx="256032"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858A84"/>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10896"/>
            <a:ext cx="4114800" cy="219456"/>
          </a:xfrm>
          <a:prstGeom prst="rect">
            <a:avLst/>
          </a:prstGeom>
          <a:noFill/>
          <a:ln/>
        </p:spPr>
        <p:txBody>
          <a:bodyPr wrap="square" lIns="0" tIns="0" rIns="0" bIns="0" rtlCol="0" anchor="ctr">
            <a:normAutofit/>
          </a:bodyPr>
          <a:lstStyle/>
          <a:p>
            <a:pPr indent="0" marL="0">
              <a:buNone/>
            </a:pPr>
            <a:r>
              <a:rPr lang="en-US" sz="850" b="1" spc="120" kern="0" dirty="0">
                <a:solidFill>
                  <a:srgbClr val="22A65A"/>
                </a:solidFill>
                <a:latin typeface="Inter" pitchFamily="34" charset="0"/>
                <a:ea typeface="Inter" pitchFamily="34" charset="-122"/>
                <a:cs typeface="Inter" pitchFamily="34" charset="-120"/>
              </a:rPr>
              <a:t>CUSTOMER RELEVANCE</a:t>
            </a:r>
            <a:endParaRPr lang="en-US" sz="850" dirty="0"/>
          </a:p>
        </p:txBody>
      </p:sp>
      <p:sp>
        <p:nvSpPr>
          <p:cNvPr id="3" name="Text 1"/>
          <p:cNvSpPr/>
          <p:nvPr/>
        </p:nvSpPr>
        <p:spPr>
          <a:xfrm>
            <a:off x="548640" y="621792"/>
            <a:ext cx="11018520" cy="502920"/>
          </a:xfrm>
          <a:prstGeom prst="rect">
            <a:avLst/>
          </a:prstGeom>
          <a:noFill/>
          <a:ln/>
        </p:spPr>
        <p:txBody>
          <a:bodyPr wrap="square" lIns="0" tIns="0" rIns="0" bIns="0" rtlCol="0" anchor="ctr">
            <a:normAutofit/>
          </a:bodyPr>
          <a:lstStyle/>
          <a:p>
            <a:pPr indent="0" marL="0">
              <a:buNone/>
            </a:pPr>
            <a:r>
              <a:rPr lang="en-US" sz="2500" b="1" dirty="0">
                <a:solidFill>
                  <a:srgbClr val="111311"/>
                </a:solidFill>
                <a:latin typeface="Inter" pitchFamily="34" charset="0"/>
                <a:ea typeface="Inter" pitchFamily="34" charset="-122"/>
                <a:cs typeface="Inter" pitchFamily="34" charset="-120"/>
              </a:rPr>
              <a:t>Targeting emissions where they matter to the customer</a:t>
            </a:r>
            <a:endParaRPr lang="en-US" sz="2500" dirty="0"/>
          </a:p>
        </p:txBody>
      </p:sp>
      <p:sp>
        <p:nvSpPr>
          <p:cNvPr id="4" name="Text 2"/>
          <p:cNvSpPr/>
          <p:nvPr/>
        </p:nvSpPr>
        <p:spPr>
          <a:xfrm>
            <a:off x="548640" y="1133856"/>
            <a:ext cx="11018520" cy="310896"/>
          </a:xfrm>
          <a:prstGeom prst="rect">
            <a:avLst/>
          </a:prstGeom>
          <a:noFill/>
          <a:ln/>
        </p:spPr>
        <p:txBody>
          <a:bodyPr wrap="square" lIns="0" tIns="0" rIns="0" bIns="0" rtlCol="0" anchor="ctr">
            <a:normAutofit/>
          </a:bodyPr>
          <a:lstStyle/>
          <a:p>
            <a:pPr indent="0" marL="0">
              <a:buNone/>
            </a:pPr>
            <a:r>
              <a:rPr lang="en-US" sz="1050" dirty="0">
                <a:solidFill>
                  <a:srgbClr val="6D726D"/>
                </a:solidFill>
                <a:latin typeface="Inter" pitchFamily="34" charset="0"/>
                <a:ea typeface="Inter" pitchFamily="34" charset="-122"/>
                <a:cs typeface="Inter" pitchFamily="34" charset="-120"/>
              </a:rPr>
              <a:t>96% of the footprint sits in manufacturing, customer use, and transport</a:t>
            </a:r>
            <a:endParaRPr lang="en-US" sz="1050" dirty="0"/>
          </a:p>
        </p:txBody>
      </p:sp>
      <p:graphicFrame>
        <p:nvGraphicFramePr>
          <p:cNvPr id="5" name="Chart 0" descr=""/>
          <p:cNvGraphicFramePr/>
          <p:nvPr/>
        </p:nvGraphicFramePr>
        <p:xfrm>
          <a:off x="530352" y="1481328"/>
          <a:ext cx="5715000" cy="48920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2075688" y="2816352"/>
            <a:ext cx="2514600" cy="640080"/>
          </a:xfrm>
          <a:prstGeom prst="rect">
            <a:avLst/>
          </a:prstGeom>
          <a:noFill/>
          <a:ln/>
        </p:spPr>
        <p:txBody>
          <a:bodyPr wrap="square" lIns="0" tIns="0" rIns="0" bIns="0" rtlCol="0" anchor="ctr">
            <a:normAutofit/>
          </a:bodyPr>
          <a:lstStyle/>
          <a:p>
            <a:pPr algn="ctr" indent="0" marL="0">
              <a:buNone/>
            </a:pPr>
            <a:r>
              <a:rPr lang="en-US" sz="3400" b="1" dirty="0">
                <a:solidFill>
                  <a:srgbClr val="10382B"/>
                </a:solidFill>
                <a:latin typeface="Inter" pitchFamily="34" charset="0"/>
                <a:ea typeface="Inter" pitchFamily="34" charset="-122"/>
                <a:cs typeface="Inter" pitchFamily="34" charset="-120"/>
              </a:rPr>
              <a:t>53%</a:t>
            </a:r>
            <a:endParaRPr lang="en-US" sz="3400" dirty="0"/>
          </a:p>
        </p:txBody>
      </p:sp>
      <p:sp>
        <p:nvSpPr>
          <p:cNvPr id="7" name="Text 4"/>
          <p:cNvSpPr/>
          <p:nvPr/>
        </p:nvSpPr>
        <p:spPr>
          <a:xfrm>
            <a:off x="2212848" y="3493008"/>
            <a:ext cx="2240280" cy="256032"/>
          </a:xfrm>
          <a:prstGeom prst="rect">
            <a:avLst/>
          </a:prstGeom>
          <a:noFill/>
          <a:ln/>
        </p:spPr>
        <p:txBody>
          <a:bodyPr wrap="square" lIns="0" tIns="0" rIns="0" bIns="0" rtlCol="0" anchor="ctr">
            <a:normAutofit/>
          </a:bodyPr>
          <a:lstStyle/>
          <a:p>
            <a:pPr algn="ctr" indent="0" marL="0">
              <a:buNone/>
            </a:pPr>
            <a:r>
              <a:rPr lang="en-US" sz="800" b="1" spc="80" kern="0" dirty="0">
                <a:solidFill>
                  <a:srgbClr val="6D726D"/>
                </a:solidFill>
                <a:latin typeface="Inter" pitchFamily="34" charset="0"/>
                <a:ea typeface="Inter" pitchFamily="34" charset="-122"/>
                <a:cs typeface="Inter" pitchFamily="34" charset="-120"/>
              </a:rPr>
              <a:t>MANUFACTURING</a:t>
            </a:r>
            <a:endParaRPr lang="en-US" sz="800" dirty="0"/>
          </a:p>
        </p:txBody>
      </p:sp>
      <p:sp>
        <p:nvSpPr>
          <p:cNvPr id="8" name="Shape 5"/>
          <p:cNvSpPr/>
          <p:nvPr/>
        </p:nvSpPr>
        <p:spPr>
          <a:xfrm>
            <a:off x="6537960" y="1929384"/>
            <a:ext cx="164592" cy="164592"/>
          </a:xfrm>
          <a:prstGeom prst="ellipse">
            <a:avLst/>
          </a:prstGeom>
          <a:solidFill>
            <a:srgbClr val="10382B"/>
          </a:solidFill>
          <a:ln w="12700">
            <a:solidFill>
              <a:srgbClr val="10382B"/>
            </a:solidFill>
            <a:prstDash val="solid"/>
          </a:ln>
        </p:spPr>
      </p:sp>
      <p:sp>
        <p:nvSpPr>
          <p:cNvPr id="9" name="Text 6"/>
          <p:cNvSpPr/>
          <p:nvPr/>
        </p:nvSpPr>
        <p:spPr>
          <a:xfrm>
            <a:off x="6912864" y="1856232"/>
            <a:ext cx="685800" cy="320040"/>
          </a:xfrm>
          <a:prstGeom prst="rect">
            <a:avLst/>
          </a:prstGeom>
          <a:noFill/>
          <a:ln/>
        </p:spPr>
        <p:txBody>
          <a:bodyPr wrap="square" lIns="0" tIns="0" rIns="0" bIns="0" rtlCol="0" anchor="ctr">
            <a:normAutofit/>
          </a:bodyPr>
          <a:lstStyle/>
          <a:p>
            <a:pPr indent="0" marL="0">
              <a:buNone/>
            </a:pPr>
            <a:r>
              <a:rPr lang="en-US" sz="1400" b="1" dirty="0">
                <a:solidFill>
                  <a:srgbClr val="111311"/>
                </a:solidFill>
                <a:latin typeface="Inter" pitchFamily="34" charset="0"/>
                <a:ea typeface="Inter" pitchFamily="34" charset="-122"/>
                <a:cs typeface="Inter" pitchFamily="34" charset="-120"/>
              </a:rPr>
              <a:t>53%</a:t>
            </a:r>
            <a:endParaRPr lang="en-US" sz="1400" dirty="0"/>
          </a:p>
        </p:txBody>
      </p:sp>
      <p:sp>
        <p:nvSpPr>
          <p:cNvPr id="10" name="Text 7"/>
          <p:cNvSpPr/>
          <p:nvPr/>
        </p:nvSpPr>
        <p:spPr>
          <a:xfrm>
            <a:off x="7644384" y="1856232"/>
            <a:ext cx="1444752" cy="274320"/>
          </a:xfrm>
          <a:prstGeom prst="rect">
            <a:avLst/>
          </a:prstGeom>
          <a:noFill/>
          <a:ln/>
        </p:spPr>
        <p:txBody>
          <a:bodyPr wrap="square" lIns="0" tIns="0" rIns="0" bIns="0" rtlCol="0" anchor="ctr">
            <a:normAutofit/>
          </a:bodyPr>
          <a:lstStyle/>
          <a:p>
            <a:pPr indent="0" marL="0">
              <a:buNone/>
            </a:pPr>
            <a:r>
              <a:rPr lang="en-US" sz="1120" b="1" dirty="0">
                <a:solidFill>
                  <a:srgbClr val="111311"/>
                </a:solidFill>
                <a:latin typeface="Inter" pitchFamily="34" charset="0"/>
                <a:ea typeface="Inter" pitchFamily="34" charset="-122"/>
                <a:cs typeface="Inter" pitchFamily="34" charset="-120"/>
              </a:rPr>
              <a:t>Manufacturing</a:t>
            </a:r>
            <a:endParaRPr lang="en-US" sz="1120" dirty="0"/>
          </a:p>
        </p:txBody>
      </p:sp>
      <p:sp>
        <p:nvSpPr>
          <p:cNvPr id="11" name="Text 8"/>
          <p:cNvSpPr/>
          <p:nvPr/>
        </p:nvSpPr>
        <p:spPr>
          <a:xfrm>
            <a:off x="9189720" y="1865376"/>
            <a:ext cx="2011680" cy="256032"/>
          </a:xfrm>
          <a:prstGeom prst="rect">
            <a:avLst/>
          </a:prstGeom>
          <a:noFill/>
          <a:ln/>
        </p:spPr>
        <p:txBody>
          <a:bodyPr wrap="square" lIns="0" tIns="0" rIns="0" bIns="0" rtlCol="0" anchor="ctr">
            <a:normAutofit/>
          </a:bodyPr>
          <a:lstStyle/>
          <a:p>
            <a:pPr algn="r" indent="0" marL="0">
              <a:buNone/>
            </a:pPr>
            <a:r>
              <a:rPr lang="en-US" sz="820" dirty="0">
                <a:solidFill>
                  <a:srgbClr val="6D726D"/>
                </a:solidFill>
                <a:latin typeface="Inter" pitchFamily="34" charset="0"/>
                <a:ea typeface="Inter" pitchFamily="34" charset="-122"/>
                <a:cs typeface="Inter" pitchFamily="34" charset="-120"/>
              </a:rPr>
              <a:t>Procurement &amp; material choices</a:t>
            </a:r>
            <a:endParaRPr lang="en-US" sz="820" dirty="0"/>
          </a:p>
        </p:txBody>
      </p:sp>
      <p:sp>
        <p:nvSpPr>
          <p:cNvPr id="12" name="Shape 9"/>
          <p:cNvSpPr/>
          <p:nvPr/>
        </p:nvSpPr>
        <p:spPr>
          <a:xfrm>
            <a:off x="6912864" y="2487168"/>
            <a:ext cx="4279392" cy="0"/>
          </a:xfrm>
          <a:prstGeom prst="line">
            <a:avLst/>
          </a:prstGeom>
          <a:noFill/>
          <a:ln w="8890">
            <a:solidFill>
              <a:srgbClr val="E4E7E2"/>
            </a:solidFill>
            <a:prstDash val="solid"/>
          </a:ln>
        </p:spPr>
      </p:sp>
      <p:sp>
        <p:nvSpPr>
          <p:cNvPr id="13" name="Shape 10"/>
          <p:cNvSpPr/>
          <p:nvPr/>
        </p:nvSpPr>
        <p:spPr>
          <a:xfrm>
            <a:off x="6537960" y="2944368"/>
            <a:ext cx="164592" cy="164592"/>
          </a:xfrm>
          <a:prstGeom prst="ellipse">
            <a:avLst/>
          </a:prstGeom>
          <a:solidFill>
            <a:srgbClr val="5AC8D8"/>
          </a:solidFill>
          <a:ln w="12700">
            <a:solidFill>
              <a:srgbClr val="5AC8D8"/>
            </a:solidFill>
            <a:prstDash val="solid"/>
          </a:ln>
        </p:spPr>
      </p:sp>
      <p:sp>
        <p:nvSpPr>
          <p:cNvPr id="14" name="Text 11"/>
          <p:cNvSpPr/>
          <p:nvPr/>
        </p:nvSpPr>
        <p:spPr>
          <a:xfrm>
            <a:off x="6912864" y="2871216"/>
            <a:ext cx="685800" cy="320040"/>
          </a:xfrm>
          <a:prstGeom prst="rect">
            <a:avLst/>
          </a:prstGeom>
          <a:noFill/>
          <a:ln/>
        </p:spPr>
        <p:txBody>
          <a:bodyPr wrap="square" lIns="0" tIns="0" rIns="0" bIns="0" rtlCol="0" anchor="ctr">
            <a:normAutofit/>
          </a:bodyPr>
          <a:lstStyle/>
          <a:p>
            <a:pPr indent="0" marL="0">
              <a:buNone/>
            </a:pPr>
            <a:r>
              <a:rPr lang="en-US" sz="1400" b="1" dirty="0">
                <a:solidFill>
                  <a:srgbClr val="111311"/>
                </a:solidFill>
                <a:latin typeface="Inter" pitchFamily="34" charset="0"/>
                <a:ea typeface="Inter" pitchFamily="34" charset="-122"/>
                <a:cs typeface="Inter" pitchFamily="34" charset="-120"/>
              </a:rPr>
              <a:t>27%</a:t>
            </a:r>
            <a:endParaRPr lang="en-US" sz="1400" dirty="0"/>
          </a:p>
        </p:txBody>
      </p:sp>
      <p:sp>
        <p:nvSpPr>
          <p:cNvPr id="15" name="Text 12"/>
          <p:cNvSpPr/>
          <p:nvPr/>
        </p:nvSpPr>
        <p:spPr>
          <a:xfrm>
            <a:off x="7644384" y="2871216"/>
            <a:ext cx="1444752" cy="274320"/>
          </a:xfrm>
          <a:prstGeom prst="rect">
            <a:avLst/>
          </a:prstGeom>
          <a:noFill/>
          <a:ln/>
        </p:spPr>
        <p:txBody>
          <a:bodyPr wrap="square" lIns="0" tIns="0" rIns="0" bIns="0" rtlCol="0" anchor="ctr">
            <a:normAutofit/>
          </a:bodyPr>
          <a:lstStyle/>
          <a:p>
            <a:pPr indent="0" marL="0">
              <a:buNone/>
            </a:pPr>
            <a:r>
              <a:rPr lang="en-US" sz="1120" b="1" dirty="0">
                <a:solidFill>
                  <a:srgbClr val="111311"/>
                </a:solidFill>
                <a:latin typeface="Inter" pitchFamily="34" charset="0"/>
                <a:ea typeface="Inter" pitchFamily="34" charset="-122"/>
                <a:cs typeface="Inter" pitchFamily="34" charset="-120"/>
              </a:rPr>
              <a:t>Product use</a:t>
            </a:r>
            <a:endParaRPr lang="en-US" sz="1120" dirty="0"/>
          </a:p>
        </p:txBody>
      </p:sp>
      <p:sp>
        <p:nvSpPr>
          <p:cNvPr id="16" name="Text 13"/>
          <p:cNvSpPr/>
          <p:nvPr/>
        </p:nvSpPr>
        <p:spPr>
          <a:xfrm>
            <a:off x="9189720" y="2880360"/>
            <a:ext cx="2011680" cy="256032"/>
          </a:xfrm>
          <a:prstGeom prst="rect">
            <a:avLst/>
          </a:prstGeom>
          <a:noFill/>
          <a:ln/>
        </p:spPr>
        <p:txBody>
          <a:bodyPr wrap="square" lIns="0" tIns="0" rIns="0" bIns="0" rtlCol="0" anchor="ctr">
            <a:normAutofit/>
          </a:bodyPr>
          <a:lstStyle/>
          <a:p>
            <a:pPr algn="r" indent="0" marL="0">
              <a:buNone/>
            </a:pPr>
            <a:r>
              <a:rPr lang="en-US" sz="820" dirty="0">
                <a:solidFill>
                  <a:srgbClr val="6D726D"/>
                </a:solidFill>
                <a:latin typeface="Inter" pitchFamily="34" charset="0"/>
                <a:ea typeface="Inter" pitchFamily="34" charset="-122"/>
                <a:cs typeface="Inter" pitchFamily="34" charset="-120"/>
              </a:rPr>
              <a:t>Apple silicon &amp; clean electricity</a:t>
            </a:r>
            <a:endParaRPr lang="en-US" sz="820" dirty="0"/>
          </a:p>
        </p:txBody>
      </p:sp>
      <p:sp>
        <p:nvSpPr>
          <p:cNvPr id="17" name="Shape 14"/>
          <p:cNvSpPr/>
          <p:nvPr/>
        </p:nvSpPr>
        <p:spPr>
          <a:xfrm>
            <a:off x="6912864" y="3502152"/>
            <a:ext cx="4279392" cy="0"/>
          </a:xfrm>
          <a:prstGeom prst="line">
            <a:avLst/>
          </a:prstGeom>
          <a:noFill/>
          <a:ln w="8890">
            <a:solidFill>
              <a:srgbClr val="E4E7E2"/>
            </a:solidFill>
            <a:prstDash val="solid"/>
          </a:ln>
        </p:spPr>
      </p:sp>
      <p:sp>
        <p:nvSpPr>
          <p:cNvPr id="18" name="Shape 15"/>
          <p:cNvSpPr/>
          <p:nvPr/>
        </p:nvSpPr>
        <p:spPr>
          <a:xfrm>
            <a:off x="6537960" y="3959352"/>
            <a:ext cx="164592" cy="164592"/>
          </a:xfrm>
          <a:prstGeom prst="ellipse">
            <a:avLst/>
          </a:prstGeom>
          <a:solidFill>
            <a:srgbClr val="9CB7A5"/>
          </a:solidFill>
          <a:ln w="12700">
            <a:solidFill>
              <a:srgbClr val="9CB7A5"/>
            </a:solidFill>
            <a:prstDash val="solid"/>
          </a:ln>
        </p:spPr>
      </p:sp>
      <p:sp>
        <p:nvSpPr>
          <p:cNvPr id="19" name="Text 16"/>
          <p:cNvSpPr/>
          <p:nvPr/>
        </p:nvSpPr>
        <p:spPr>
          <a:xfrm>
            <a:off x="6912864" y="3886200"/>
            <a:ext cx="685800" cy="320040"/>
          </a:xfrm>
          <a:prstGeom prst="rect">
            <a:avLst/>
          </a:prstGeom>
          <a:noFill/>
          <a:ln/>
        </p:spPr>
        <p:txBody>
          <a:bodyPr wrap="square" lIns="0" tIns="0" rIns="0" bIns="0" rtlCol="0" anchor="ctr">
            <a:normAutofit/>
          </a:bodyPr>
          <a:lstStyle/>
          <a:p>
            <a:pPr indent="0" marL="0">
              <a:buNone/>
            </a:pPr>
            <a:r>
              <a:rPr lang="en-US" sz="1400" b="1" dirty="0">
                <a:solidFill>
                  <a:srgbClr val="111311"/>
                </a:solidFill>
                <a:latin typeface="Inter" pitchFamily="34" charset="0"/>
                <a:ea typeface="Inter" pitchFamily="34" charset="-122"/>
                <a:cs typeface="Inter" pitchFamily="34" charset="-120"/>
              </a:rPr>
              <a:t>16%</a:t>
            </a:r>
            <a:endParaRPr lang="en-US" sz="1400" dirty="0"/>
          </a:p>
        </p:txBody>
      </p:sp>
      <p:sp>
        <p:nvSpPr>
          <p:cNvPr id="20" name="Text 17"/>
          <p:cNvSpPr/>
          <p:nvPr/>
        </p:nvSpPr>
        <p:spPr>
          <a:xfrm>
            <a:off x="7644384" y="3886200"/>
            <a:ext cx="1444752" cy="274320"/>
          </a:xfrm>
          <a:prstGeom prst="rect">
            <a:avLst/>
          </a:prstGeom>
          <a:noFill/>
          <a:ln/>
        </p:spPr>
        <p:txBody>
          <a:bodyPr wrap="square" lIns="0" tIns="0" rIns="0" bIns="0" rtlCol="0" anchor="ctr">
            <a:normAutofit/>
          </a:bodyPr>
          <a:lstStyle/>
          <a:p>
            <a:pPr indent="0" marL="0">
              <a:buNone/>
            </a:pPr>
            <a:r>
              <a:rPr lang="en-US" sz="1120" b="1" dirty="0">
                <a:solidFill>
                  <a:srgbClr val="111311"/>
                </a:solidFill>
                <a:latin typeface="Inter" pitchFamily="34" charset="0"/>
                <a:ea typeface="Inter" pitchFamily="34" charset="-122"/>
                <a:cs typeface="Inter" pitchFamily="34" charset="-120"/>
              </a:rPr>
              <a:t>Product transport</a:t>
            </a:r>
            <a:endParaRPr lang="en-US" sz="1120" dirty="0"/>
          </a:p>
        </p:txBody>
      </p:sp>
      <p:sp>
        <p:nvSpPr>
          <p:cNvPr id="21" name="Text 18"/>
          <p:cNvSpPr/>
          <p:nvPr/>
        </p:nvSpPr>
        <p:spPr>
          <a:xfrm>
            <a:off x="9189720" y="3895344"/>
            <a:ext cx="2011680" cy="256032"/>
          </a:xfrm>
          <a:prstGeom prst="rect">
            <a:avLst/>
          </a:prstGeom>
          <a:noFill/>
          <a:ln/>
        </p:spPr>
        <p:txBody>
          <a:bodyPr wrap="square" lIns="0" tIns="0" rIns="0" bIns="0" rtlCol="0" anchor="ctr">
            <a:normAutofit/>
          </a:bodyPr>
          <a:lstStyle/>
          <a:p>
            <a:pPr algn="r" indent="0" marL="0">
              <a:buNone/>
            </a:pPr>
            <a:r>
              <a:rPr lang="en-US" sz="820" dirty="0">
                <a:solidFill>
                  <a:srgbClr val="6D726D"/>
                </a:solidFill>
                <a:latin typeface="Inter" pitchFamily="34" charset="0"/>
                <a:ea typeface="Inter" pitchFamily="34" charset="-122"/>
                <a:cs typeface="Inter" pitchFamily="34" charset="-120"/>
              </a:rPr>
              <a:t>Modal shift &amp; logistics design</a:t>
            </a:r>
            <a:endParaRPr lang="en-US" sz="820" dirty="0"/>
          </a:p>
        </p:txBody>
      </p:sp>
      <p:sp>
        <p:nvSpPr>
          <p:cNvPr id="22" name="Shape 19"/>
          <p:cNvSpPr/>
          <p:nvPr/>
        </p:nvSpPr>
        <p:spPr>
          <a:xfrm>
            <a:off x="6912864" y="4517136"/>
            <a:ext cx="4279392" cy="0"/>
          </a:xfrm>
          <a:prstGeom prst="line">
            <a:avLst/>
          </a:prstGeom>
          <a:noFill/>
          <a:ln w="8890">
            <a:solidFill>
              <a:srgbClr val="E4E7E2"/>
            </a:solidFill>
            <a:prstDash val="solid"/>
          </a:ln>
        </p:spPr>
      </p:sp>
      <p:sp>
        <p:nvSpPr>
          <p:cNvPr id="23" name="Shape 20"/>
          <p:cNvSpPr/>
          <p:nvPr/>
        </p:nvSpPr>
        <p:spPr>
          <a:xfrm>
            <a:off x="6537960" y="4974336"/>
            <a:ext cx="164592" cy="164592"/>
          </a:xfrm>
          <a:prstGeom prst="ellipse">
            <a:avLst/>
          </a:prstGeom>
          <a:solidFill>
            <a:srgbClr val="E4E7E2"/>
          </a:solidFill>
          <a:ln w="12700">
            <a:solidFill>
              <a:srgbClr val="E4E7E2"/>
            </a:solidFill>
            <a:prstDash val="solid"/>
          </a:ln>
        </p:spPr>
      </p:sp>
      <p:sp>
        <p:nvSpPr>
          <p:cNvPr id="24" name="Text 21"/>
          <p:cNvSpPr/>
          <p:nvPr/>
        </p:nvSpPr>
        <p:spPr>
          <a:xfrm>
            <a:off x="6912864" y="4901184"/>
            <a:ext cx="685800" cy="320040"/>
          </a:xfrm>
          <a:prstGeom prst="rect">
            <a:avLst/>
          </a:prstGeom>
          <a:noFill/>
          <a:ln/>
        </p:spPr>
        <p:txBody>
          <a:bodyPr wrap="square" lIns="0" tIns="0" rIns="0" bIns="0" rtlCol="0" anchor="ctr">
            <a:normAutofit/>
          </a:bodyPr>
          <a:lstStyle/>
          <a:p>
            <a:pPr indent="0" marL="0">
              <a:buNone/>
            </a:pPr>
            <a:r>
              <a:rPr lang="en-US" sz="1400" b="1" dirty="0">
                <a:solidFill>
                  <a:srgbClr val="111311"/>
                </a:solidFill>
                <a:latin typeface="Inter" pitchFamily="34" charset="0"/>
                <a:ea typeface="Inter" pitchFamily="34" charset="-122"/>
                <a:cs typeface="Inter" pitchFamily="34" charset="-120"/>
              </a:rPr>
              <a:t>~4%</a:t>
            </a:r>
            <a:endParaRPr lang="en-US" sz="1400" dirty="0"/>
          </a:p>
        </p:txBody>
      </p:sp>
      <p:sp>
        <p:nvSpPr>
          <p:cNvPr id="25" name="Text 22"/>
          <p:cNvSpPr/>
          <p:nvPr/>
        </p:nvSpPr>
        <p:spPr>
          <a:xfrm>
            <a:off x="7644384" y="4901184"/>
            <a:ext cx="1444752" cy="274320"/>
          </a:xfrm>
          <a:prstGeom prst="rect">
            <a:avLst/>
          </a:prstGeom>
          <a:noFill/>
          <a:ln/>
        </p:spPr>
        <p:txBody>
          <a:bodyPr wrap="square" lIns="0" tIns="0" rIns="0" bIns="0" rtlCol="0" anchor="ctr">
            <a:normAutofit/>
          </a:bodyPr>
          <a:lstStyle/>
          <a:p>
            <a:pPr indent="0" marL="0">
              <a:buNone/>
            </a:pPr>
            <a:r>
              <a:rPr lang="en-US" sz="1120" b="1" dirty="0">
                <a:solidFill>
                  <a:srgbClr val="111311"/>
                </a:solidFill>
                <a:latin typeface="Inter" pitchFamily="34" charset="0"/>
                <a:ea typeface="Inter" pitchFamily="34" charset="-122"/>
                <a:cs typeface="Inter" pitchFamily="34" charset="-120"/>
              </a:rPr>
              <a:t>Business ops &amp; other</a:t>
            </a:r>
            <a:endParaRPr lang="en-US" sz="1120" dirty="0"/>
          </a:p>
        </p:txBody>
      </p:sp>
      <p:sp>
        <p:nvSpPr>
          <p:cNvPr id="26" name="Text 23"/>
          <p:cNvSpPr/>
          <p:nvPr/>
        </p:nvSpPr>
        <p:spPr>
          <a:xfrm>
            <a:off x="9189720" y="4910328"/>
            <a:ext cx="2011680" cy="256032"/>
          </a:xfrm>
          <a:prstGeom prst="rect">
            <a:avLst/>
          </a:prstGeom>
          <a:noFill/>
          <a:ln/>
        </p:spPr>
        <p:txBody>
          <a:bodyPr wrap="square" lIns="0" tIns="0" rIns="0" bIns="0" rtlCol="0" anchor="ctr">
            <a:normAutofit/>
          </a:bodyPr>
          <a:lstStyle/>
          <a:p>
            <a:pPr algn="r" indent="0" marL="0">
              <a:buNone/>
            </a:pPr>
            <a:r>
              <a:rPr lang="en-US" sz="820" dirty="0">
                <a:solidFill>
                  <a:srgbClr val="6D726D"/>
                </a:solidFill>
                <a:latin typeface="Inter" pitchFamily="34" charset="0"/>
                <a:ea typeface="Inter" pitchFamily="34" charset="-122"/>
                <a:cs typeface="Inter" pitchFamily="34" charset="-120"/>
              </a:rPr>
              <a:t>Scope 1–2, travel, end of life</a:t>
            </a:r>
            <a:endParaRPr lang="en-US" sz="820" dirty="0"/>
          </a:p>
        </p:txBody>
      </p:sp>
      <p:sp>
        <p:nvSpPr>
          <p:cNvPr id="27" name="Shape 24"/>
          <p:cNvSpPr/>
          <p:nvPr/>
        </p:nvSpPr>
        <p:spPr>
          <a:xfrm>
            <a:off x="6519672" y="5705856"/>
            <a:ext cx="4690872" cy="512064"/>
          </a:xfrm>
          <a:prstGeom prst="roundRect">
            <a:avLst>
              <a:gd name="adj" fmla="val 10714"/>
            </a:avLst>
          </a:prstGeom>
          <a:solidFill>
            <a:srgbClr val="E2F7E8"/>
          </a:solidFill>
          <a:ln w="12700">
            <a:solidFill>
              <a:srgbClr val="E2F7E8"/>
            </a:solidFill>
            <a:prstDash val="solid"/>
          </a:ln>
        </p:spPr>
      </p:sp>
      <p:sp>
        <p:nvSpPr>
          <p:cNvPr id="28" name="Text 25"/>
          <p:cNvSpPr/>
          <p:nvPr/>
        </p:nvSpPr>
        <p:spPr>
          <a:xfrm>
            <a:off x="6748272" y="5824728"/>
            <a:ext cx="1536192" cy="201168"/>
          </a:xfrm>
          <a:prstGeom prst="rect">
            <a:avLst/>
          </a:prstGeom>
          <a:noFill/>
          <a:ln/>
        </p:spPr>
        <p:txBody>
          <a:bodyPr wrap="square" lIns="0" tIns="0" rIns="0" bIns="0" rtlCol="0" anchor="ctr">
            <a:normAutofit/>
          </a:bodyPr>
          <a:lstStyle/>
          <a:p>
            <a:pPr indent="0" marL="0">
              <a:buNone/>
            </a:pPr>
            <a:r>
              <a:rPr lang="en-US" sz="720" b="1" dirty="0">
                <a:solidFill>
                  <a:srgbClr val="22A65A"/>
                </a:solidFill>
                <a:latin typeface="Inter" pitchFamily="34" charset="0"/>
                <a:ea typeface="Inter" pitchFamily="34" charset="-122"/>
                <a:cs typeface="Inter" pitchFamily="34" charset="-120"/>
              </a:rPr>
              <a:t>SELL THE LIFETIME COST</a:t>
            </a:r>
            <a:endParaRPr lang="en-US" sz="720" dirty="0"/>
          </a:p>
        </p:txBody>
      </p:sp>
      <p:sp>
        <p:nvSpPr>
          <p:cNvPr id="29" name="Text 26"/>
          <p:cNvSpPr/>
          <p:nvPr/>
        </p:nvSpPr>
        <p:spPr>
          <a:xfrm>
            <a:off x="8311896" y="5779008"/>
            <a:ext cx="2633472" cy="274320"/>
          </a:xfrm>
          <a:prstGeom prst="rect">
            <a:avLst/>
          </a:prstGeom>
          <a:noFill/>
          <a:ln/>
        </p:spPr>
        <p:txBody>
          <a:bodyPr wrap="square" lIns="0" tIns="0" rIns="0" bIns="0" rtlCol="0" anchor="ctr">
            <a:normAutofit/>
          </a:bodyPr>
          <a:lstStyle/>
          <a:p>
            <a:pPr algn="r" indent="0" marL="0">
              <a:buNone/>
            </a:pPr>
            <a:r>
              <a:rPr lang="en-US" sz="830" b="1" dirty="0">
                <a:solidFill>
                  <a:srgbClr val="111311"/>
                </a:solidFill>
                <a:latin typeface="Inter" pitchFamily="34" charset="0"/>
                <a:ea typeface="Inter" pitchFamily="34" charset="-122"/>
                <a:cs typeface="Inter" pitchFamily="34" charset="-120"/>
              </a:rPr>
              <a:t>Efficiency lowers customer energy use and downstream emissions.</a:t>
            </a:r>
            <a:endParaRPr lang="en-US" sz="830" dirty="0"/>
          </a:p>
        </p:txBody>
      </p:sp>
      <p:sp>
        <p:nvSpPr>
          <p:cNvPr id="30" name="Text 27"/>
          <p:cNvSpPr/>
          <p:nvPr/>
        </p:nvSpPr>
        <p:spPr>
          <a:xfrm>
            <a:off x="7424928" y="6583680"/>
            <a:ext cx="3931920" cy="146304"/>
          </a:xfrm>
          <a:prstGeom prst="rect">
            <a:avLst/>
          </a:prstGeom>
          <a:noFill/>
          <a:ln/>
        </p:spPr>
        <p:txBody>
          <a:bodyPr wrap="square" lIns="0" tIns="0" rIns="0" bIns="0" rtlCol="0" anchor="ctr">
            <a:normAutofit/>
          </a:bodyPr>
          <a:lstStyle/>
          <a:p>
            <a:pPr algn="r" indent="0" marL="0">
              <a:buNone/>
            </a:pPr>
            <a:r>
              <a:rPr lang="en-US" sz="530" dirty="0">
                <a:solidFill>
                  <a:srgbClr val="858A84"/>
                </a:solidFill>
                <a:latin typeface="Inter" pitchFamily="34" charset="0"/>
                <a:ea typeface="Inter" pitchFamily="34" charset="-122"/>
                <a:cs typeface="Inter" pitchFamily="34" charset="-120"/>
              </a:rPr>
              <a:t>SOURCE: APPLE EPR 2026, CARBON FOOTPRINT</a:t>
            </a:r>
            <a:endParaRPr lang="en-US" sz="530" dirty="0"/>
          </a:p>
        </p:txBody>
      </p:sp>
      <p:sp>
        <p:nvSpPr>
          <p:cNvPr id="25" name="Slide Number Placeholder 0"/>
          <p:cNvSpPr>
            <a:spLocks noGrp="1"/>
          </p:cNvSpPr>
          <p:nvPr>
            <p:ph type="sldNum" sz="quarter" idx="4294967295"/>
          </p:nvPr>
        </p:nvSpPr>
        <p:spPr>
          <a:xfrm>
            <a:off x="11384280" y="6583680"/>
            <a:ext cx="256032"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858A84"/>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10896"/>
            <a:ext cx="4114800" cy="219456"/>
          </a:xfrm>
          <a:prstGeom prst="rect">
            <a:avLst/>
          </a:prstGeom>
          <a:noFill/>
          <a:ln/>
        </p:spPr>
        <p:txBody>
          <a:bodyPr wrap="square" lIns="0" tIns="0" rIns="0" bIns="0" rtlCol="0" anchor="ctr">
            <a:normAutofit/>
          </a:bodyPr>
          <a:lstStyle/>
          <a:p>
            <a:pPr indent="0" marL="0">
              <a:buNone/>
            </a:pPr>
            <a:r>
              <a:rPr lang="en-US" sz="850" b="1" spc="120" kern="0" dirty="0">
                <a:solidFill>
                  <a:srgbClr val="22A65A"/>
                </a:solidFill>
                <a:latin typeface="Inter" pitchFamily="34" charset="0"/>
                <a:ea typeface="Inter" pitchFamily="34" charset="-122"/>
                <a:cs typeface="Inter" pitchFamily="34" charset="-120"/>
              </a:rPr>
              <a:t>CAPITAL STRATEGY</a:t>
            </a:r>
            <a:endParaRPr lang="en-US" sz="850" dirty="0"/>
          </a:p>
        </p:txBody>
      </p:sp>
      <p:sp>
        <p:nvSpPr>
          <p:cNvPr id="3" name="Text 1"/>
          <p:cNvSpPr/>
          <p:nvPr/>
        </p:nvSpPr>
        <p:spPr>
          <a:xfrm>
            <a:off x="548640" y="621792"/>
            <a:ext cx="11018520" cy="502920"/>
          </a:xfrm>
          <a:prstGeom prst="rect">
            <a:avLst/>
          </a:prstGeom>
          <a:noFill/>
          <a:ln/>
        </p:spPr>
        <p:txBody>
          <a:bodyPr wrap="square" lIns="0" tIns="0" rIns="0" bIns="0" rtlCol="0" anchor="ctr">
            <a:normAutofit/>
          </a:bodyPr>
          <a:lstStyle/>
          <a:p>
            <a:pPr indent="0" marL="0">
              <a:buNone/>
            </a:pPr>
            <a:r>
              <a:rPr lang="en-US" sz="2500" b="1" dirty="0">
                <a:solidFill>
                  <a:srgbClr val="111311"/>
                </a:solidFill>
                <a:latin typeface="Inter" pitchFamily="34" charset="0"/>
                <a:ea typeface="Inter" pitchFamily="34" charset="-122"/>
                <a:cs typeface="Inter" pitchFamily="34" charset="-120"/>
              </a:rPr>
              <a:t>Funding the transition: return on environmental programs</a:t>
            </a:r>
            <a:endParaRPr lang="en-US" sz="2500" dirty="0"/>
          </a:p>
        </p:txBody>
      </p:sp>
      <p:sp>
        <p:nvSpPr>
          <p:cNvPr id="4" name="Text 2"/>
          <p:cNvSpPr/>
          <p:nvPr/>
        </p:nvSpPr>
        <p:spPr>
          <a:xfrm>
            <a:off x="548640" y="1133856"/>
            <a:ext cx="11018520" cy="310896"/>
          </a:xfrm>
          <a:prstGeom prst="rect">
            <a:avLst/>
          </a:prstGeom>
          <a:noFill/>
          <a:ln/>
        </p:spPr>
        <p:txBody>
          <a:bodyPr wrap="square" lIns="0" tIns="0" rIns="0" bIns="0" rtlCol="0" anchor="ctr">
            <a:normAutofit/>
          </a:bodyPr>
          <a:lstStyle/>
          <a:p>
            <a:pPr indent="0" marL="0">
              <a:buNone/>
            </a:pPr>
            <a:r>
              <a:rPr lang="en-US" sz="1050" dirty="0">
                <a:solidFill>
                  <a:srgbClr val="6D726D"/>
                </a:solidFill>
                <a:latin typeface="Inter" pitchFamily="34" charset="0"/>
                <a:ea typeface="Inter" pitchFamily="34" charset="-122"/>
                <a:cs typeface="Inter" pitchFamily="34" charset="-120"/>
              </a:rPr>
              <a:t>Operational abatement plus green finance expands strategic capacity</a:t>
            </a:r>
            <a:endParaRPr lang="en-US" sz="1050" dirty="0"/>
          </a:p>
        </p:txBody>
      </p:sp>
      <p:sp>
        <p:nvSpPr>
          <p:cNvPr id="5" name="Shape 3"/>
          <p:cNvSpPr/>
          <p:nvPr/>
        </p:nvSpPr>
        <p:spPr>
          <a:xfrm>
            <a:off x="566928" y="1664208"/>
            <a:ext cx="4882896" cy="4462272"/>
          </a:xfrm>
          <a:prstGeom prst="roundRect">
            <a:avLst>
              <a:gd name="adj" fmla="val 2049"/>
            </a:avLst>
          </a:prstGeom>
          <a:solidFill>
            <a:srgbClr val="10382B"/>
          </a:solidFill>
          <a:ln w="12700">
            <a:solidFill>
              <a:srgbClr val="10382B"/>
            </a:solidFill>
            <a:prstDash val="solid"/>
          </a:ln>
        </p:spPr>
      </p:sp>
      <p:sp>
        <p:nvSpPr>
          <p:cNvPr id="6" name="Text 4"/>
          <p:cNvSpPr/>
          <p:nvPr/>
        </p:nvSpPr>
        <p:spPr>
          <a:xfrm>
            <a:off x="877824" y="2075688"/>
            <a:ext cx="4279392" cy="1152144"/>
          </a:xfrm>
          <a:prstGeom prst="rect">
            <a:avLst/>
          </a:prstGeom>
          <a:noFill/>
          <a:ln/>
        </p:spPr>
        <p:txBody>
          <a:bodyPr wrap="square" lIns="0" tIns="0" rIns="0" bIns="0" rtlCol="0" anchor="ctr">
            <a:normAutofit/>
          </a:bodyPr>
          <a:lstStyle/>
          <a:p>
            <a:pPr indent="0" marL="0">
              <a:buNone/>
            </a:pPr>
            <a:r>
              <a:rPr lang="en-US" sz="5700" b="1" dirty="0">
                <a:solidFill>
                  <a:srgbClr val="FFFFFF"/>
                </a:solidFill>
                <a:latin typeface="Inter" pitchFamily="34" charset="0"/>
                <a:ea typeface="Inter" pitchFamily="34" charset="-122"/>
                <a:cs typeface="Inter" pitchFamily="34" charset="-120"/>
              </a:rPr>
              <a:t>43M</a:t>
            </a:r>
            <a:endParaRPr lang="en-US" sz="5700" dirty="0"/>
          </a:p>
        </p:txBody>
      </p:sp>
      <p:sp>
        <p:nvSpPr>
          <p:cNvPr id="7" name="Text 5"/>
          <p:cNvSpPr/>
          <p:nvPr/>
        </p:nvSpPr>
        <p:spPr>
          <a:xfrm>
            <a:off x="896112" y="3310128"/>
            <a:ext cx="3246120" cy="438912"/>
          </a:xfrm>
          <a:prstGeom prst="rect">
            <a:avLst/>
          </a:prstGeom>
          <a:noFill/>
          <a:ln/>
        </p:spPr>
        <p:txBody>
          <a:bodyPr wrap="square" lIns="0" tIns="0" rIns="0" bIns="0" rtlCol="0" anchor="ctr">
            <a:normAutofit/>
          </a:bodyPr>
          <a:lstStyle/>
          <a:p>
            <a:pPr indent="0" marL="0">
              <a:buNone/>
            </a:pPr>
            <a:r>
              <a:rPr lang="en-US" sz="1800" b="1" dirty="0">
                <a:solidFill>
                  <a:srgbClr val="D5F1DE"/>
                </a:solidFill>
                <a:latin typeface="Inter" pitchFamily="34" charset="0"/>
                <a:ea typeface="Inter" pitchFamily="34" charset="-122"/>
                <a:cs typeface="Inter" pitchFamily="34" charset="-120"/>
              </a:rPr>
              <a:t>metric tons CO₂e</a:t>
            </a:r>
            <a:endParaRPr lang="en-US" sz="1800" dirty="0"/>
          </a:p>
        </p:txBody>
      </p:sp>
      <p:sp>
        <p:nvSpPr>
          <p:cNvPr id="8" name="Text 6"/>
          <p:cNvSpPr/>
          <p:nvPr/>
        </p:nvSpPr>
        <p:spPr>
          <a:xfrm>
            <a:off x="896112" y="3904488"/>
            <a:ext cx="3895344" cy="658368"/>
          </a:xfrm>
          <a:prstGeom prst="rect">
            <a:avLst/>
          </a:prstGeom>
          <a:noFill/>
          <a:ln/>
        </p:spPr>
        <p:txBody>
          <a:bodyPr wrap="square" lIns="0" tIns="0" rIns="0" bIns="0" rtlCol="0" anchor="t">
            <a:normAutofit/>
          </a:bodyPr>
          <a:lstStyle/>
          <a:p>
            <a:pPr indent="0" marL="0">
              <a:buNone/>
            </a:pPr>
            <a:r>
              <a:rPr lang="en-US" sz="1100" dirty="0">
                <a:solidFill>
                  <a:srgbClr val="D5E7DA"/>
                </a:solidFill>
                <a:latin typeface="Inter" pitchFamily="34" charset="0"/>
                <a:ea typeface="Inter" pitchFamily="34" charset="-122"/>
                <a:cs typeface="Inter" pitchFamily="34" charset="-120"/>
              </a:rPr>
              <a:t>Estimated emissions avoided by FY2025 programs across all scopes.</a:t>
            </a:r>
            <a:endParaRPr lang="en-US" sz="1100" dirty="0"/>
          </a:p>
        </p:txBody>
      </p:sp>
      <p:sp>
        <p:nvSpPr>
          <p:cNvPr id="9" name="Text 7"/>
          <p:cNvSpPr/>
          <p:nvPr/>
        </p:nvSpPr>
        <p:spPr>
          <a:xfrm>
            <a:off x="896112" y="4828032"/>
            <a:ext cx="1517904" cy="228600"/>
          </a:xfrm>
          <a:prstGeom prst="rect">
            <a:avLst/>
          </a:prstGeom>
          <a:noFill/>
          <a:ln/>
        </p:spPr>
        <p:txBody>
          <a:bodyPr wrap="square" lIns="0" tIns="0" rIns="0" bIns="0" rtlCol="0" anchor="ctr">
            <a:normAutofit/>
          </a:bodyPr>
          <a:lstStyle/>
          <a:p>
            <a:pPr indent="0" marL="0">
              <a:buNone/>
            </a:pPr>
            <a:r>
              <a:rPr lang="en-US" sz="800" b="1" dirty="0">
                <a:solidFill>
                  <a:srgbClr val="9BDFB3"/>
                </a:solidFill>
                <a:latin typeface="Inter" pitchFamily="34" charset="0"/>
                <a:ea typeface="Inter" pitchFamily="34" charset="-122"/>
                <a:cs typeface="Inter" pitchFamily="34" charset="-120"/>
              </a:rPr>
              <a:t>Primary engines</a:t>
            </a:r>
            <a:endParaRPr lang="en-US" sz="800" dirty="0"/>
          </a:p>
        </p:txBody>
      </p:sp>
      <p:sp>
        <p:nvSpPr>
          <p:cNvPr id="10" name="Text 8"/>
          <p:cNvSpPr/>
          <p:nvPr/>
        </p:nvSpPr>
        <p:spPr>
          <a:xfrm>
            <a:off x="896112" y="5166360"/>
            <a:ext cx="3913632" cy="475488"/>
          </a:xfrm>
          <a:prstGeom prst="rect">
            <a:avLst/>
          </a:prstGeom>
          <a:noFill/>
          <a:ln/>
        </p:spPr>
        <p:txBody>
          <a:bodyPr wrap="square" lIns="0" tIns="0" rIns="0" bIns="0" rtlCol="0" anchor="ctr">
            <a:normAutofit/>
          </a:bodyPr>
          <a:lstStyle/>
          <a:p>
            <a:pPr indent="0" marL="0">
              <a:buNone/>
            </a:pPr>
            <a:r>
              <a:rPr lang="en-US" sz="920" b="1" dirty="0">
                <a:solidFill>
                  <a:srgbClr val="FFFFFF"/>
                </a:solidFill>
                <a:latin typeface="Inter" pitchFamily="34" charset="0"/>
                <a:ea typeface="Inter" pitchFamily="34" charset="-122"/>
                <a:cs typeface="Inter" pitchFamily="34" charset="-120"/>
              </a:rPr>
              <a:t>Supplier clean energy  •  Low-carbon materials  •  Efficiency</a:t>
            </a:r>
            <a:endParaRPr lang="en-US" sz="920" dirty="0"/>
          </a:p>
        </p:txBody>
      </p:sp>
      <p:sp>
        <p:nvSpPr>
          <p:cNvPr id="11" name="Shape 9"/>
          <p:cNvSpPr/>
          <p:nvPr/>
        </p:nvSpPr>
        <p:spPr>
          <a:xfrm>
            <a:off x="5916168" y="1847088"/>
            <a:ext cx="5312664" cy="2898648"/>
          </a:xfrm>
          <a:prstGeom prst="roundRect">
            <a:avLst>
              <a:gd name="adj" fmla="val 2524"/>
            </a:avLst>
          </a:prstGeom>
          <a:solidFill>
            <a:srgbClr val="FFFFFF"/>
          </a:solidFill>
          <a:ln w="13970">
            <a:solidFill>
              <a:srgbClr val="C6D1C9"/>
            </a:solidFill>
            <a:prstDash val="solid"/>
          </a:ln>
          <a:effectLst>
            <a:outerShdw sx="100000" sy="100000" kx="0" ky="0" algn="bl" rotWithShape="0" blurRad="12700" dist="50800" dir="2700000">
              <a:srgbClr val="949A95">
                <a:alpha val="15000"/>
              </a:srgbClr>
            </a:outerShdw>
          </a:effectLst>
        </p:spPr>
      </p:sp>
      <p:sp>
        <p:nvSpPr>
          <p:cNvPr id="12" name="Shape 10"/>
          <p:cNvSpPr/>
          <p:nvPr/>
        </p:nvSpPr>
        <p:spPr>
          <a:xfrm>
            <a:off x="6181344" y="2139696"/>
            <a:ext cx="4754880" cy="0"/>
          </a:xfrm>
          <a:prstGeom prst="line">
            <a:avLst/>
          </a:prstGeom>
          <a:noFill/>
          <a:ln w="27940">
            <a:solidFill>
              <a:srgbClr val="22A65A"/>
            </a:solidFill>
            <a:prstDash val="solid"/>
          </a:ln>
        </p:spPr>
      </p:sp>
      <p:sp>
        <p:nvSpPr>
          <p:cNvPr id="13" name="Text 11"/>
          <p:cNvSpPr/>
          <p:nvPr/>
        </p:nvSpPr>
        <p:spPr>
          <a:xfrm>
            <a:off x="6236208" y="2304288"/>
            <a:ext cx="2514600" cy="274320"/>
          </a:xfrm>
          <a:prstGeom prst="rect">
            <a:avLst/>
          </a:prstGeom>
          <a:noFill/>
          <a:ln/>
        </p:spPr>
        <p:txBody>
          <a:bodyPr wrap="square" lIns="0" tIns="0" rIns="0" bIns="0" rtlCol="0" anchor="ctr">
            <a:normAutofit/>
          </a:bodyPr>
          <a:lstStyle/>
          <a:p>
            <a:pPr indent="0" marL="0">
              <a:buNone/>
            </a:pPr>
            <a:r>
              <a:rPr lang="en-US" sz="800" b="1" spc="100" kern="0" dirty="0">
                <a:solidFill>
                  <a:srgbClr val="22A65A"/>
                </a:solidFill>
                <a:latin typeface="Inter" pitchFamily="34" charset="0"/>
                <a:ea typeface="Inter" pitchFamily="34" charset="-122"/>
                <a:cs typeface="Inter" pitchFamily="34" charset="-120"/>
              </a:rPr>
              <a:t>GREEN BOND PROGRAM</a:t>
            </a:r>
            <a:endParaRPr lang="en-US" sz="800" dirty="0"/>
          </a:p>
        </p:txBody>
      </p:sp>
      <p:sp>
        <p:nvSpPr>
          <p:cNvPr id="14" name="Text 12"/>
          <p:cNvSpPr/>
          <p:nvPr/>
        </p:nvSpPr>
        <p:spPr>
          <a:xfrm>
            <a:off x="6236208" y="2679192"/>
            <a:ext cx="2450592" cy="713232"/>
          </a:xfrm>
          <a:prstGeom prst="rect">
            <a:avLst/>
          </a:prstGeom>
          <a:noFill/>
          <a:ln/>
        </p:spPr>
        <p:txBody>
          <a:bodyPr wrap="square" lIns="0" tIns="0" rIns="0" bIns="0" rtlCol="0" anchor="ctr">
            <a:normAutofit/>
          </a:bodyPr>
          <a:lstStyle/>
          <a:p>
            <a:pPr indent="0" marL="0">
              <a:buNone/>
            </a:pPr>
            <a:r>
              <a:rPr lang="en-US" sz="3500" b="1" dirty="0">
                <a:solidFill>
                  <a:srgbClr val="111311"/>
                </a:solidFill>
                <a:latin typeface="Inter" pitchFamily="34" charset="0"/>
                <a:ea typeface="Inter" pitchFamily="34" charset="-122"/>
                <a:cs typeface="Inter" pitchFamily="34" charset="-120"/>
              </a:rPr>
              <a:t>$4.7B</a:t>
            </a:r>
            <a:endParaRPr lang="en-US" sz="3500" dirty="0"/>
          </a:p>
        </p:txBody>
      </p:sp>
      <p:sp>
        <p:nvSpPr>
          <p:cNvPr id="15" name="Text 13"/>
          <p:cNvSpPr/>
          <p:nvPr/>
        </p:nvSpPr>
        <p:spPr>
          <a:xfrm>
            <a:off x="8558784" y="2935224"/>
            <a:ext cx="2075688" cy="256032"/>
          </a:xfrm>
          <a:prstGeom prst="rect">
            <a:avLst/>
          </a:prstGeom>
          <a:noFill/>
          <a:ln/>
        </p:spPr>
        <p:txBody>
          <a:bodyPr wrap="square" lIns="0" tIns="0" rIns="0" bIns="0" rtlCol="0" anchor="ctr">
            <a:normAutofit/>
          </a:bodyPr>
          <a:lstStyle/>
          <a:p>
            <a:pPr algn="r" indent="0" marL="0">
              <a:buNone/>
            </a:pPr>
            <a:r>
              <a:rPr lang="en-US" sz="930" dirty="0">
                <a:solidFill>
                  <a:srgbClr val="6D726D"/>
                </a:solidFill>
                <a:latin typeface="Inter" pitchFamily="34" charset="0"/>
                <a:ea typeface="Inter" pitchFamily="34" charset="-122"/>
                <a:cs typeface="Inter" pitchFamily="34" charset="-120"/>
              </a:rPr>
              <a:t>cumulative issuance</a:t>
            </a:r>
            <a:endParaRPr lang="en-US" sz="930" dirty="0"/>
          </a:p>
        </p:txBody>
      </p:sp>
      <p:sp>
        <p:nvSpPr>
          <p:cNvPr id="16" name="Text 14"/>
          <p:cNvSpPr/>
          <p:nvPr/>
        </p:nvSpPr>
        <p:spPr>
          <a:xfrm>
            <a:off x="6236208" y="3529584"/>
            <a:ext cx="4480560" cy="274320"/>
          </a:xfrm>
          <a:prstGeom prst="rect">
            <a:avLst/>
          </a:prstGeom>
          <a:noFill/>
          <a:ln/>
        </p:spPr>
        <p:txBody>
          <a:bodyPr wrap="square" lIns="0" tIns="0" rIns="0" bIns="0" rtlCol="0" anchor="ctr">
            <a:normAutofit/>
          </a:bodyPr>
          <a:lstStyle/>
          <a:p>
            <a:pPr indent="0" marL="0">
              <a:buNone/>
            </a:pPr>
            <a:r>
              <a:rPr lang="en-US" sz="900" dirty="0">
                <a:solidFill>
                  <a:srgbClr val="6D726D"/>
                </a:solidFill>
                <a:latin typeface="Inter" pitchFamily="34" charset="0"/>
                <a:ea typeface="Inter" pitchFamily="34" charset="-122"/>
                <a:cs typeface="Inter" pitchFamily="34" charset="-120"/>
              </a:rPr>
              <a:t>Three issuances since 2016  •  Most recent: 2019</a:t>
            </a:r>
            <a:endParaRPr lang="en-US" sz="900" dirty="0"/>
          </a:p>
        </p:txBody>
      </p:sp>
      <p:sp>
        <p:nvSpPr>
          <p:cNvPr id="17" name="Shape 15"/>
          <p:cNvSpPr/>
          <p:nvPr/>
        </p:nvSpPr>
        <p:spPr>
          <a:xfrm>
            <a:off x="6400800" y="4325112"/>
            <a:ext cx="4023360" cy="-896112"/>
          </a:xfrm>
          <a:prstGeom prst="line">
            <a:avLst/>
          </a:prstGeom>
          <a:noFill/>
          <a:ln w="29210">
            <a:solidFill>
              <a:srgbClr val="22A65A"/>
            </a:solidFill>
            <a:prstDash val="solid"/>
            <a:tailEnd type="triangle"/>
          </a:ln>
        </p:spPr>
      </p:sp>
      <p:sp>
        <p:nvSpPr>
          <p:cNvPr id="18" name="Shape 16"/>
          <p:cNvSpPr/>
          <p:nvPr/>
        </p:nvSpPr>
        <p:spPr>
          <a:xfrm>
            <a:off x="6400800" y="4325112"/>
            <a:ext cx="4462272" cy="0"/>
          </a:xfrm>
          <a:prstGeom prst="line">
            <a:avLst/>
          </a:prstGeom>
          <a:noFill/>
          <a:ln w="8890">
            <a:solidFill>
              <a:srgbClr val="BFC5BF"/>
            </a:solidFill>
            <a:prstDash val="solid"/>
          </a:ln>
        </p:spPr>
      </p:sp>
      <p:sp>
        <p:nvSpPr>
          <p:cNvPr id="19" name="Shape 17"/>
          <p:cNvSpPr/>
          <p:nvPr/>
        </p:nvSpPr>
        <p:spPr>
          <a:xfrm>
            <a:off x="6400800" y="4325112"/>
            <a:ext cx="0" cy="-621792"/>
          </a:xfrm>
          <a:prstGeom prst="line">
            <a:avLst/>
          </a:prstGeom>
          <a:noFill/>
          <a:ln w="8890">
            <a:solidFill>
              <a:srgbClr val="BFC5BF"/>
            </a:solidFill>
            <a:prstDash val="solid"/>
          </a:ln>
        </p:spPr>
      </p:sp>
      <p:sp>
        <p:nvSpPr>
          <p:cNvPr id="20" name="Shape 18"/>
          <p:cNvSpPr/>
          <p:nvPr/>
        </p:nvSpPr>
        <p:spPr>
          <a:xfrm>
            <a:off x="5916168" y="5029200"/>
            <a:ext cx="5312664" cy="1097280"/>
          </a:xfrm>
          <a:prstGeom prst="roundRect">
            <a:avLst>
              <a:gd name="adj" fmla="val 5833"/>
            </a:avLst>
          </a:prstGeom>
          <a:solidFill>
            <a:srgbClr val="E2F7E8"/>
          </a:solidFill>
          <a:ln w="12700">
            <a:solidFill>
              <a:srgbClr val="E2F7E8"/>
            </a:solidFill>
            <a:prstDash val="solid"/>
          </a:ln>
        </p:spPr>
      </p:sp>
      <p:sp>
        <p:nvSpPr>
          <p:cNvPr id="21" name="Text 19"/>
          <p:cNvSpPr/>
          <p:nvPr/>
        </p:nvSpPr>
        <p:spPr>
          <a:xfrm>
            <a:off x="6190488" y="5239512"/>
            <a:ext cx="1234440" cy="201168"/>
          </a:xfrm>
          <a:prstGeom prst="rect">
            <a:avLst/>
          </a:prstGeom>
          <a:noFill/>
          <a:ln/>
        </p:spPr>
        <p:txBody>
          <a:bodyPr wrap="square" lIns="0" tIns="0" rIns="0" bIns="0" rtlCol="0" anchor="ctr">
            <a:normAutofit/>
          </a:bodyPr>
          <a:lstStyle/>
          <a:p>
            <a:pPr indent="0" marL="0">
              <a:buNone/>
            </a:pPr>
            <a:r>
              <a:rPr lang="en-US" sz="750" b="1" dirty="0">
                <a:solidFill>
                  <a:srgbClr val="22A65A"/>
                </a:solidFill>
                <a:latin typeface="Inter" pitchFamily="34" charset="0"/>
                <a:ea typeface="Inter" pitchFamily="34" charset="-122"/>
                <a:cs typeface="Inter" pitchFamily="34" charset="-120"/>
              </a:rPr>
              <a:t>ROI  •  LOGIC</a:t>
            </a:r>
            <a:endParaRPr lang="en-US" sz="750" dirty="0"/>
          </a:p>
        </p:txBody>
      </p:sp>
      <p:sp>
        <p:nvSpPr>
          <p:cNvPr id="22" name="Text 20"/>
          <p:cNvSpPr/>
          <p:nvPr/>
        </p:nvSpPr>
        <p:spPr>
          <a:xfrm>
            <a:off x="6190488" y="5513832"/>
            <a:ext cx="4663440" cy="393192"/>
          </a:xfrm>
          <a:prstGeom prst="rect">
            <a:avLst/>
          </a:prstGeom>
          <a:noFill/>
          <a:ln/>
        </p:spPr>
        <p:txBody>
          <a:bodyPr wrap="square" lIns="0" tIns="0" rIns="0" bIns="0" rtlCol="0" anchor="ctr">
            <a:normAutofit/>
          </a:bodyPr>
          <a:lstStyle/>
          <a:p>
            <a:pPr indent="0" marL="0">
              <a:buNone/>
            </a:pPr>
            <a:r>
              <a:rPr lang="en-US" sz="930" b="1" dirty="0">
                <a:solidFill>
                  <a:srgbClr val="111311"/>
                </a:solidFill>
                <a:latin typeface="Inter" pitchFamily="34" charset="0"/>
                <a:ea typeface="Inter" pitchFamily="34" charset="-122"/>
                <a:cs typeface="Inter" pitchFamily="34" charset="-120"/>
              </a:rPr>
              <a:t>Fund decarbonization  →  strengthen resilience and ESG credibility  →  preserve strategic financing options</a:t>
            </a:r>
            <a:endParaRPr lang="en-US" sz="930" dirty="0"/>
          </a:p>
        </p:txBody>
      </p:sp>
      <p:sp>
        <p:nvSpPr>
          <p:cNvPr id="23" name="Text 21"/>
          <p:cNvSpPr/>
          <p:nvPr/>
        </p:nvSpPr>
        <p:spPr>
          <a:xfrm>
            <a:off x="7424928" y="6583680"/>
            <a:ext cx="3931920" cy="146304"/>
          </a:xfrm>
          <a:prstGeom prst="rect">
            <a:avLst/>
          </a:prstGeom>
          <a:noFill/>
          <a:ln/>
        </p:spPr>
        <p:txBody>
          <a:bodyPr wrap="square" lIns="0" tIns="0" rIns="0" bIns="0" rtlCol="0" anchor="ctr">
            <a:normAutofit/>
          </a:bodyPr>
          <a:lstStyle/>
          <a:p>
            <a:pPr algn="r" indent="0" marL="0">
              <a:buNone/>
            </a:pPr>
            <a:r>
              <a:rPr lang="en-US" sz="530" dirty="0">
                <a:solidFill>
                  <a:srgbClr val="858A84"/>
                </a:solidFill>
                <a:latin typeface="Inter" pitchFamily="34" charset="0"/>
                <a:ea typeface="Inter" pitchFamily="34" charset="-122"/>
                <a:cs typeface="Inter" pitchFamily="34" charset="-120"/>
              </a:rPr>
              <a:t>SOURCE: APPLE EPR 2026, CARBON &amp; GREEN BOND REPORT</a:t>
            </a:r>
            <a:endParaRPr lang="en-US" sz="530" dirty="0"/>
          </a:p>
        </p:txBody>
      </p:sp>
      <p:sp>
        <p:nvSpPr>
          <p:cNvPr id="25" name="Slide Number Placeholder 0"/>
          <p:cNvSpPr>
            <a:spLocks noGrp="1"/>
          </p:cNvSpPr>
          <p:nvPr>
            <p:ph type="sldNum" sz="quarter" idx="4294967295"/>
          </p:nvPr>
        </p:nvSpPr>
        <p:spPr>
          <a:xfrm>
            <a:off x="11384280" y="6583680"/>
            <a:ext cx="256032"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858A84"/>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10896"/>
            <a:ext cx="4114800" cy="219456"/>
          </a:xfrm>
          <a:prstGeom prst="rect">
            <a:avLst/>
          </a:prstGeom>
          <a:noFill/>
          <a:ln/>
        </p:spPr>
        <p:txBody>
          <a:bodyPr wrap="square" lIns="0" tIns="0" rIns="0" bIns="0" rtlCol="0" anchor="ctr">
            <a:normAutofit/>
          </a:bodyPr>
          <a:lstStyle/>
          <a:p>
            <a:pPr indent="0" marL="0">
              <a:buNone/>
            </a:pPr>
            <a:r>
              <a:rPr lang="en-US" sz="850" b="1" spc="120" kern="0" dirty="0">
                <a:solidFill>
                  <a:srgbClr val="22A65A"/>
                </a:solidFill>
                <a:latin typeface="Inter" pitchFamily="34" charset="0"/>
                <a:ea typeface="Inter" pitchFamily="34" charset="-122"/>
                <a:cs typeface="Inter" pitchFamily="34" charset="-120"/>
              </a:rPr>
              <a:t>GO-TO-MARKET ACTIVATION</a:t>
            </a:r>
            <a:endParaRPr lang="en-US" sz="850" dirty="0"/>
          </a:p>
        </p:txBody>
      </p:sp>
      <p:sp>
        <p:nvSpPr>
          <p:cNvPr id="3" name="Text 1"/>
          <p:cNvSpPr/>
          <p:nvPr/>
        </p:nvSpPr>
        <p:spPr>
          <a:xfrm>
            <a:off x="548640" y="621792"/>
            <a:ext cx="11018520" cy="502920"/>
          </a:xfrm>
          <a:prstGeom prst="rect">
            <a:avLst/>
          </a:prstGeom>
          <a:noFill/>
          <a:ln/>
        </p:spPr>
        <p:txBody>
          <a:bodyPr wrap="square" lIns="0" tIns="0" rIns="0" bIns="0" rtlCol="0" anchor="ctr">
            <a:normAutofit/>
          </a:bodyPr>
          <a:lstStyle/>
          <a:p>
            <a:pPr indent="0" marL="0">
              <a:buNone/>
            </a:pPr>
            <a:r>
              <a:rPr lang="en-US" sz="2500" b="1" dirty="0">
                <a:solidFill>
                  <a:srgbClr val="111311"/>
                </a:solidFill>
                <a:latin typeface="Inter" pitchFamily="34" charset="0"/>
                <a:ea typeface="Inter" pitchFamily="34" charset="-122"/>
                <a:cs typeface="Inter" pitchFamily="34" charset="-120"/>
              </a:rPr>
              <a:t>Leverage FY25 wins in the market</a:t>
            </a:r>
            <a:endParaRPr lang="en-US" sz="2500" dirty="0"/>
          </a:p>
        </p:txBody>
      </p:sp>
      <p:sp>
        <p:nvSpPr>
          <p:cNvPr id="4" name="Text 2"/>
          <p:cNvSpPr/>
          <p:nvPr/>
        </p:nvSpPr>
        <p:spPr>
          <a:xfrm>
            <a:off x="548640" y="1133856"/>
            <a:ext cx="11018520" cy="310896"/>
          </a:xfrm>
          <a:prstGeom prst="rect">
            <a:avLst/>
          </a:prstGeom>
          <a:noFill/>
          <a:ln/>
        </p:spPr>
        <p:txBody>
          <a:bodyPr wrap="square" lIns="0" tIns="0" rIns="0" bIns="0" rtlCol="0" anchor="ctr">
            <a:normAutofit/>
          </a:bodyPr>
          <a:lstStyle/>
          <a:p>
            <a:pPr indent="0" marL="0">
              <a:buNone/>
            </a:pPr>
            <a:r>
              <a:rPr lang="en-US" sz="1050" dirty="0">
                <a:solidFill>
                  <a:srgbClr val="6D726D"/>
                </a:solidFill>
                <a:latin typeface="Inter" pitchFamily="34" charset="0"/>
                <a:ea typeface="Inter" pitchFamily="34" charset="-122"/>
                <a:cs typeface="Inter" pitchFamily="34" charset="-120"/>
              </a:rPr>
              <a:t>Convert proof points into RFP advantage, retail storytelling, and premium experience</a:t>
            </a:r>
            <a:endParaRPr lang="en-US" sz="1050" dirty="0"/>
          </a:p>
        </p:txBody>
      </p:sp>
      <p:sp>
        <p:nvSpPr>
          <p:cNvPr id="5" name="Shape 3"/>
          <p:cNvSpPr/>
          <p:nvPr/>
        </p:nvSpPr>
        <p:spPr>
          <a:xfrm>
            <a:off x="9482328" y="283464"/>
            <a:ext cx="2112264" cy="292608"/>
          </a:xfrm>
          <a:prstGeom prst="roundRect">
            <a:avLst>
              <a:gd name="adj" fmla="val 21875"/>
            </a:avLst>
          </a:prstGeom>
          <a:solidFill>
            <a:srgbClr val="10382B"/>
          </a:solidFill>
          <a:ln w="12700">
            <a:solidFill>
              <a:srgbClr val="10382B">
                <a:alpha val="0"/>
              </a:srgbClr>
            </a:solidFill>
            <a:prstDash val="solid"/>
          </a:ln>
        </p:spPr>
      </p:sp>
      <p:sp>
        <p:nvSpPr>
          <p:cNvPr id="6" name="Text 4"/>
          <p:cNvSpPr/>
          <p:nvPr/>
        </p:nvSpPr>
        <p:spPr>
          <a:xfrm>
            <a:off x="9573768" y="292608"/>
            <a:ext cx="1929384" cy="256032"/>
          </a:xfrm>
          <a:prstGeom prst="rect">
            <a:avLst/>
          </a:prstGeom>
          <a:noFill/>
          <a:ln/>
        </p:spPr>
        <p:txBody>
          <a:bodyPr wrap="square" lIns="0" tIns="0" rIns="0" bIns="0" rtlCol="0" anchor="ctr">
            <a:normAutofit/>
          </a:bodyPr>
          <a:lstStyle/>
          <a:p>
            <a:pPr algn="ctr" indent="0" marL="0">
              <a:buNone/>
            </a:pPr>
            <a:r>
              <a:rPr lang="en-US" sz="700" b="1" spc="50" kern="0" dirty="0">
                <a:solidFill>
                  <a:srgbClr val="FFFFFF"/>
                </a:solidFill>
                <a:latin typeface="Inter" pitchFamily="34" charset="0"/>
                <a:ea typeface="Inter" pitchFamily="34" charset="-122"/>
                <a:cs typeface="Inter" pitchFamily="34" charset="-120"/>
              </a:rPr>
              <a:t>Q3–Q4 ACTION PLAN</a:t>
            </a:r>
            <a:endParaRPr lang="en-US" sz="700" dirty="0"/>
          </a:p>
        </p:txBody>
      </p:sp>
      <p:sp>
        <p:nvSpPr>
          <p:cNvPr id="7" name="Shape 5"/>
          <p:cNvSpPr/>
          <p:nvPr/>
        </p:nvSpPr>
        <p:spPr>
          <a:xfrm>
            <a:off x="566928" y="1856232"/>
            <a:ext cx="3300984" cy="3493008"/>
          </a:xfrm>
          <a:prstGeom prst="roundRect">
            <a:avLst>
              <a:gd name="adj" fmla="val 2216"/>
            </a:avLst>
          </a:prstGeom>
          <a:solidFill>
            <a:srgbClr val="10382B"/>
          </a:solidFill>
          <a:ln w="12700">
            <a:solidFill>
              <a:srgbClr val="10382B"/>
            </a:solidFill>
            <a:prstDash val="solid"/>
          </a:ln>
          <a:effectLst>
            <a:outerShdw sx="100000" sy="100000" kx="0" ky="0" algn="bl" rotWithShape="0" blurRad="12700" dist="50800" dir="2700000">
              <a:srgbClr val="9AA19B">
                <a:alpha val="12000"/>
              </a:srgbClr>
            </a:outerShdw>
          </a:effectLst>
        </p:spPr>
      </p:sp>
      <p:sp>
        <p:nvSpPr>
          <p:cNvPr id="8" name="Text 6"/>
          <p:cNvSpPr/>
          <p:nvPr/>
        </p:nvSpPr>
        <p:spPr>
          <a:xfrm>
            <a:off x="822960" y="2112264"/>
            <a:ext cx="603504" cy="411480"/>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Inter" pitchFamily="34" charset="0"/>
                <a:ea typeface="Inter" pitchFamily="34" charset="-122"/>
                <a:cs typeface="Inter" pitchFamily="34" charset="-120"/>
              </a:rPr>
              <a:t>01</a:t>
            </a:r>
            <a:endParaRPr lang="en-US" sz="1900" dirty="0"/>
          </a:p>
        </p:txBody>
      </p:sp>
      <p:sp>
        <p:nvSpPr>
          <p:cNvPr id="9" name="Text 7"/>
          <p:cNvSpPr/>
          <p:nvPr/>
        </p:nvSpPr>
        <p:spPr>
          <a:xfrm>
            <a:off x="822960" y="2724912"/>
            <a:ext cx="2651760" cy="429768"/>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Inter" pitchFamily="34" charset="0"/>
                <a:ea typeface="Inter" pitchFamily="34" charset="-122"/>
                <a:cs typeface="Inter" pitchFamily="34" charset="-120"/>
              </a:rPr>
              <a:t>Enterprise</a:t>
            </a:r>
            <a:endParaRPr lang="en-US" sz="2000" dirty="0"/>
          </a:p>
        </p:txBody>
      </p:sp>
      <p:sp>
        <p:nvSpPr>
          <p:cNvPr id="10" name="Text 8"/>
          <p:cNvSpPr/>
          <p:nvPr/>
        </p:nvSpPr>
        <p:spPr>
          <a:xfrm>
            <a:off x="822960" y="3410712"/>
            <a:ext cx="2752344" cy="950976"/>
          </a:xfrm>
          <a:prstGeom prst="rect">
            <a:avLst/>
          </a:prstGeom>
          <a:noFill/>
          <a:ln/>
        </p:spPr>
        <p:txBody>
          <a:bodyPr wrap="square" lIns="0" tIns="0" rIns="0" bIns="0" rtlCol="0" anchor="t">
            <a:normAutofit/>
          </a:bodyPr>
          <a:lstStyle/>
          <a:p>
            <a:pPr indent="0" marL="0">
              <a:buNone/>
            </a:pPr>
            <a:r>
              <a:rPr lang="en-US" sz="1050" dirty="0">
                <a:solidFill>
                  <a:srgbClr val="FFFFFF"/>
                </a:solidFill>
                <a:latin typeface="Inter" pitchFamily="34" charset="0"/>
                <a:ea typeface="Inter" pitchFamily="34" charset="-122"/>
                <a:cs typeface="Inter" pitchFamily="34" charset="-120"/>
              </a:rPr>
              <a:t>Add recycled-material and Scope 3 proof points to RFPs, pitch decks, and account plans.</a:t>
            </a:r>
            <a:endParaRPr lang="en-US" sz="1050" dirty="0"/>
          </a:p>
        </p:txBody>
      </p:sp>
      <p:sp>
        <p:nvSpPr>
          <p:cNvPr id="11" name="Shape 9"/>
          <p:cNvSpPr/>
          <p:nvPr/>
        </p:nvSpPr>
        <p:spPr>
          <a:xfrm>
            <a:off x="822960" y="4590288"/>
            <a:ext cx="2752344" cy="0"/>
          </a:xfrm>
          <a:prstGeom prst="line">
            <a:avLst/>
          </a:prstGeom>
          <a:noFill/>
          <a:ln w="10160">
            <a:solidFill>
              <a:srgbClr val="FFFFFF">
                <a:alpha val="38000"/>
              </a:srgbClr>
            </a:solidFill>
            <a:prstDash val="solid"/>
          </a:ln>
        </p:spPr>
      </p:sp>
      <p:sp>
        <p:nvSpPr>
          <p:cNvPr id="12" name="Text 10"/>
          <p:cNvSpPr/>
          <p:nvPr/>
        </p:nvSpPr>
        <p:spPr>
          <a:xfrm>
            <a:off x="822960" y="4782312"/>
            <a:ext cx="2752344" cy="274320"/>
          </a:xfrm>
          <a:prstGeom prst="rect">
            <a:avLst/>
          </a:prstGeom>
          <a:noFill/>
          <a:ln/>
        </p:spPr>
        <p:txBody>
          <a:bodyPr wrap="square" lIns="0" tIns="0" rIns="0" bIns="0" rtlCol="0" anchor="ctr">
            <a:normAutofit/>
          </a:bodyPr>
          <a:lstStyle/>
          <a:p>
            <a:pPr indent="0" marL="0">
              <a:buNone/>
            </a:pPr>
            <a:r>
              <a:rPr lang="en-US" sz="700" b="1" spc="30" kern="0" dirty="0">
                <a:solidFill>
                  <a:srgbClr val="FFFFFF"/>
                </a:solidFill>
                <a:latin typeface="Inter" pitchFamily="34" charset="0"/>
                <a:ea typeface="Inter" pitchFamily="34" charset="-122"/>
                <a:cs typeface="Inter" pitchFamily="34" charset="-120"/>
              </a:rPr>
              <a:t>MEASURE  •  RFP inclusion + win-rate lift</a:t>
            </a:r>
            <a:endParaRPr lang="en-US" sz="700" dirty="0"/>
          </a:p>
        </p:txBody>
      </p:sp>
      <p:sp>
        <p:nvSpPr>
          <p:cNvPr id="13" name="Shape 11"/>
          <p:cNvSpPr/>
          <p:nvPr/>
        </p:nvSpPr>
        <p:spPr>
          <a:xfrm>
            <a:off x="3895344" y="3246120"/>
            <a:ext cx="493776" cy="731520"/>
          </a:xfrm>
          <a:prstGeom prst="chevron">
            <a:avLst/>
          </a:prstGeom>
          <a:solidFill>
            <a:srgbClr val="E4E7E2"/>
          </a:solidFill>
          <a:ln w="12700">
            <a:solidFill>
              <a:srgbClr val="E4E7E2"/>
            </a:solidFill>
            <a:prstDash val="solid"/>
          </a:ln>
        </p:spPr>
      </p:sp>
      <p:sp>
        <p:nvSpPr>
          <p:cNvPr id="14" name="Shape 12"/>
          <p:cNvSpPr/>
          <p:nvPr/>
        </p:nvSpPr>
        <p:spPr>
          <a:xfrm>
            <a:off x="4160520" y="1856232"/>
            <a:ext cx="3300984" cy="3493008"/>
          </a:xfrm>
          <a:prstGeom prst="roundRect">
            <a:avLst>
              <a:gd name="adj" fmla="val 2216"/>
            </a:avLst>
          </a:prstGeom>
          <a:solidFill>
            <a:srgbClr val="22A65A"/>
          </a:solidFill>
          <a:ln w="12700">
            <a:solidFill>
              <a:srgbClr val="22A65A"/>
            </a:solidFill>
            <a:prstDash val="solid"/>
          </a:ln>
          <a:effectLst>
            <a:outerShdw sx="100000" sy="100000" kx="0" ky="0" algn="bl" rotWithShape="0" blurRad="12700" dist="50800" dir="2700000">
              <a:srgbClr val="9AA19B">
                <a:alpha val="12000"/>
              </a:srgbClr>
            </a:outerShdw>
          </a:effectLst>
        </p:spPr>
      </p:sp>
      <p:sp>
        <p:nvSpPr>
          <p:cNvPr id="15" name="Text 13"/>
          <p:cNvSpPr/>
          <p:nvPr/>
        </p:nvSpPr>
        <p:spPr>
          <a:xfrm>
            <a:off x="4416552" y="2112264"/>
            <a:ext cx="603504" cy="411480"/>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Inter" pitchFamily="34" charset="0"/>
                <a:ea typeface="Inter" pitchFamily="34" charset="-122"/>
                <a:cs typeface="Inter" pitchFamily="34" charset="-120"/>
              </a:rPr>
              <a:t>02</a:t>
            </a:r>
            <a:endParaRPr lang="en-US" sz="1900" dirty="0"/>
          </a:p>
        </p:txBody>
      </p:sp>
      <p:sp>
        <p:nvSpPr>
          <p:cNvPr id="16" name="Text 14"/>
          <p:cNvSpPr/>
          <p:nvPr/>
        </p:nvSpPr>
        <p:spPr>
          <a:xfrm>
            <a:off x="4416552" y="2724912"/>
            <a:ext cx="2651760" cy="429768"/>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Inter" pitchFamily="34" charset="0"/>
                <a:ea typeface="Inter" pitchFamily="34" charset="-122"/>
                <a:cs typeface="Inter" pitchFamily="34" charset="-120"/>
              </a:rPr>
              <a:t>Retail</a:t>
            </a:r>
            <a:endParaRPr lang="en-US" sz="2000" dirty="0"/>
          </a:p>
        </p:txBody>
      </p:sp>
      <p:sp>
        <p:nvSpPr>
          <p:cNvPr id="17" name="Text 15"/>
          <p:cNvSpPr/>
          <p:nvPr/>
        </p:nvSpPr>
        <p:spPr>
          <a:xfrm>
            <a:off x="4416552" y="3410712"/>
            <a:ext cx="2752344" cy="950976"/>
          </a:xfrm>
          <a:prstGeom prst="rect">
            <a:avLst/>
          </a:prstGeom>
          <a:noFill/>
          <a:ln/>
        </p:spPr>
        <p:txBody>
          <a:bodyPr wrap="square" lIns="0" tIns="0" rIns="0" bIns="0" rtlCol="0" anchor="t">
            <a:normAutofit/>
          </a:bodyPr>
          <a:lstStyle/>
          <a:p>
            <a:pPr indent="0" marL="0">
              <a:buNone/>
            </a:pPr>
            <a:r>
              <a:rPr lang="en-US" sz="1050" dirty="0">
                <a:solidFill>
                  <a:srgbClr val="FFFFFF"/>
                </a:solidFill>
                <a:latin typeface="Inter" pitchFamily="34" charset="0"/>
                <a:ea typeface="Inter" pitchFamily="34" charset="-122"/>
                <a:cs typeface="Inter" pitchFamily="34" charset="-120"/>
              </a:rPr>
              <a:t>Train teams on the 17B-gallon water story and component-level recycled-content claims.</a:t>
            </a:r>
            <a:endParaRPr lang="en-US" sz="1050" dirty="0"/>
          </a:p>
        </p:txBody>
      </p:sp>
      <p:sp>
        <p:nvSpPr>
          <p:cNvPr id="18" name="Shape 16"/>
          <p:cNvSpPr/>
          <p:nvPr/>
        </p:nvSpPr>
        <p:spPr>
          <a:xfrm>
            <a:off x="4416552" y="4590288"/>
            <a:ext cx="2752344" cy="0"/>
          </a:xfrm>
          <a:prstGeom prst="line">
            <a:avLst/>
          </a:prstGeom>
          <a:noFill/>
          <a:ln w="10160">
            <a:solidFill>
              <a:srgbClr val="FFFFFF">
                <a:alpha val="38000"/>
              </a:srgbClr>
            </a:solidFill>
            <a:prstDash val="solid"/>
          </a:ln>
        </p:spPr>
      </p:sp>
      <p:sp>
        <p:nvSpPr>
          <p:cNvPr id="19" name="Text 17"/>
          <p:cNvSpPr/>
          <p:nvPr/>
        </p:nvSpPr>
        <p:spPr>
          <a:xfrm>
            <a:off x="4416552" y="4782312"/>
            <a:ext cx="2752344" cy="274320"/>
          </a:xfrm>
          <a:prstGeom prst="rect">
            <a:avLst/>
          </a:prstGeom>
          <a:noFill/>
          <a:ln/>
        </p:spPr>
        <p:txBody>
          <a:bodyPr wrap="square" lIns="0" tIns="0" rIns="0" bIns="0" rtlCol="0" anchor="ctr">
            <a:normAutofit/>
          </a:bodyPr>
          <a:lstStyle/>
          <a:p>
            <a:pPr indent="0" marL="0">
              <a:buNone/>
            </a:pPr>
            <a:r>
              <a:rPr lang="en-US" sz="700" b="1" spc="30" kern="0" dirty="0">
                <a:solidFill>
                  <a:srgbClr val="FFFFFF"/>
                </a:solidFill>
                <a:latin typeface="Inter" pitchFamily="34" charset="0"/>
                <a:ea typeface="Inter" pitchFamily="34" charset="-122"/>
                <a:cs typeface="Inter" pitchFamily="34" charset="-120"/>
              </a:rPr>
              <a:t>MEASURE  •  Training completion + recall</a:t>
            </a:r>
            <a:endParaRPr lang="en-US" sz="700" dirty="0"/>
          </a:p>
        </p:txBody>
      </p:sp>
      <p:sp>
        <p:nvSpPr>
          <p:cNvPr id="20" name="Shape 18"/>
          <p:cNvSpPr/>
          <p:nvPr/>
        </p:nvSpPr>
        <p:spPr>
          <a:xfrm>
            <a:off x="7488936" y="3246120"/>
            <a:ext cx="493776" cy="731520"/>
          </a:xfrm>
          <a:prstGeom prst="chevron">
            <a:avLst/>
          </a:prstGeom>
          <a:solidFill>
            <a:srgbClr val="E4E7E2"/>
          </a:solidFill>
          <a:ln w="12700">
            <a:solidFill>
              <a:srgbClr val="E4E7E2"/>
            </a:solidFill>
            <a:prstDash val="solid"/>
          </a:ln>
        </p:spPr>
      </p:sp>
      <p:sp>
        <p:nvSpPr>
          <p:cNvPr id="21" name="Shape 19"/>
          <p:cNvSpPr/>
          <p:nvPr/>
        </p:nvSpPr>
        <p:spPr>
          <a:xfrm>
            <a:off x="7754112" y="1856232"/>
            <a:ext cx="3300984" cy="3493008"/>
          </a:xfrm>
          <a:prstGeom prst="roundRect">
            <a:avLst>
              <a:gd name="adj" fmla="val 2216"/>
            </a:avLst>
          </a:prstGeom>
          <a:solidFill>
            <a:srgbClr val="E2F7E8"/>
          </a:solidFill>
          <a:ln w="12700">
            <a:solidFill>
              <a:srgbClr val="E2F7E8"/>
            </a:solidFill>
            <a:prstDash val="solid"/>
          </a:ln>
          <a:effectLst>
            <a:outerShdw sx="100000" sy="100000" kx="0" ky="0" algn="bl" rotWithShape="0" blurRad="12700" dist="50800" dir="2700000">
              <a:srgbClr val="9AA19B">
                <a:alpha val="12000"/>
              </a:srgbClr>
            </a:outerShdw>
          </a:effectLst>
        </p:spPr>
      </p:sp>
      <p:sp>
        <p:nvSpPr>
          <p:cNvPr id="22" name="Text 20"/>
          <p:cNvSpPr/>
          <p:nvPr/>
        </p:nvSpPr>
        <p:spPr>
          <a:xfrm>
            <a:off x="8010144" y="2112264"/>
            <a:ext cx="603504" cy="411480"/>
          </a:xfrm>
          <a:prstGeom prst="rect">
            <a:avLst/>
          </a:prstGeom>
          <a:noFill/>
          <a:ln/>
        </p:spPr>
        <p:txBody>
          <a:bodyPr wrap="square" lIns="0" tIns="0" rIns="0" bIns="0" rtlCol="0" anchor="ctr">
            <a:normAutofit/>
          </a:bodyPr>
          <a:lstStyle/>
          <a:p>
            <a:pPr indent="0" marL="0">
              <a:buNone/>
            </a:pPr>
            <a:r>
              <a:rPr lang="en-US" sz="1900" b="1" dirty="0">
                <a:solidFill>
                  <a:srgbClr val="111311"/>
                </a:solidFill>
                <a:latin typeface="Inter" pitchFamily="34" charset="0"/>
                <a:ea typeface="Inter" pitchFamily="34" charset="-122"/>
                <a:cs typeface="Inter" pitchFamily="34" charset="-120"/>
              </a:rPr>
              <a:t>03</a:t>
            </a:r>
            <a:endParaRPr lang="en-US" sz="1900" dirty="0"/>
          </a:p>
        </p:txBody>
      </p:sp>
      <p:sp>
        <p:nvSpPr>
          <p:cNvPr id="23" name="Text 21"/>
          <p:cNvSpPr/>
          <p:nvPr/>
        </p:nvSpPr>
        <p:spPr>
          <a:xfrm>
            <a:off x="8010144" y="2724912"/>
            <a:ext cx="2651760" cy="429768"/>
          </a:xfrm>
          <a:prstGeom prst="rect">
            <a:avLst/>
          </a:prstGeom>
          <a:noFill/>
          <a:ln/>
        </p:spPr>
        <p:txBody>
          <a:bodyPr wrap="square" lIns="0" tIns="0" rIns="0" bIns="0" rtlCol="0" anchor="ctr">
            <a:normAutofit/>
          </a:bodyPr>
          <a:lstStyle/>
          <a:p>
            <a:pPr indent="0" marL="0">
              <a:buNone/>
            </a:pPr>
            <a:r>
              <a:rPr lang="en-US" sz="2000" b="1" dirty="0">
                <a:solidFill>
                  <a:srgbClr val="111311"/>
                </a:solidFill>
                <a:latin typeface="Inter" pitchFamily="34" charset="0"/>
                <a:ea typeface="Inter" pitchFamily="34" charset="-122"/>
                <a:cs typeface="Inter" pitchFamily="34" charset="-120"/>
              </a:rPr>
              <a:t>Marketing</a:t>
            </a:r>
            <a:endParaRPr lang="en-US" sz="2000" dirty="0"/>
          </a:p>
        </p:txBody>
      </p:sp>
      <p:sp>
        <p:nvSpPr>
          <p:cNvPr id="24" name="Text 22"/>
          <p:cNvSpPr/>
          <p:nvPr/>
        </p:nvSpPr>
        <p:spPr>
          <a:xfrm>
            <a:off x="8010144" y="3410712"/>
            <a:ext cx="2752344" cy="950976"/>
          </a:xfrm>
          <a:prstGeom prst="rect">
            <a:avLst/>
          </a:prstGeom>
          <a:noFill/>
          <a:ln/>
        </p:spPr>
        <p:txBody>
          <a:bodyPr wrap="square" lIns="0" tIns="0" rIns="0" bIns="0" rtlCol="0" anchor="t">
            <a:normAutofit/>
          </a:bodyPr>
          <a:lstStyle/>
          <a:p>
            <a:pPr indent="0" marL="0">
              <a:buNone/>
            </a:pPr>
            <a:r>
              <a:rPr lang="en-US" sz="1050" dirty="0">
                <a:solidFill>
                  <a:srgbClr val="111311"/>
                </a:solidFill>
                <a:latin typeface="Inter" pitchFamily="34" charset="0"/>
                <a:ea typeface="Inter" pitchFamily="34" charset="-122"/>
                <a:cs typeface="Inter" pitchFamily="34" charset="-120"/>
              </a:rPr>
              <a:t>Make fiber-based packaging part of the premium unboxing and circular-design narrative.</a:t>
            </a:r>
            <a:endParaRPr lang="en-US" sz="1050" dirty="0"/>
          </a:p>
        </p:txBody>
      </p:sp>
      <p:sp>
        <p:nvSpPr>
          <p:cNvPr id="25" name="Shape 23"/>
          <p:cNvSpPr/>
          <p:nvPr/>
        </p:nvSpPr>
        <p:spPr>
          <a:xfrm>
            <a:off x="8010144" y="4590288"/>
            <a:ext cx="2752344" cy="0"/>
          </a:xfrm>
          <a:prstGeom prst="line">
            <a:avLst/>
          </a:prstGeom>
          <a:noFill/>
          <a:ln w="10160">
            <a:solidFill>
              <a:srgbClr val="111311">
                <a:alpha val="38000"/>
              </a:srgbClr>
            </a:solidFill>
            <a:prstDash val="solid"/>
          </a:ln>
        </p:spPr>
      </p:sp>
      <p:sp>
        <p:nvSpPr>
          <p:cNvPr id="26" name="Text 24"/>
          <p:cNvSpPr/>
          <p:nvPr/>
        </p:nvSpPr>
        <p:spPr>
          <a:xfrm>
            <a:off x="8010144" y="4782312"/>
            <a:ext cx="2752344" cy="274320"/>
          </a:xfrm>
          <a:prstGeom prst="rect">
            <a:avLst/>
          </a:prstGeom>
          <a:noFill/>
          <a:ln/>
        </p:spPr>
        <p:txBody>
          <a:bodyPr wrap="square" lIns="0" tIns="0" rIns="0" bIns="0" rtlCol="0" anchor="ctr">
            <a:normAutofit/>
          </a:bodyPr>
          <a:lstStyle/>
          <a:p>
            <a:pPr indent="0" marL="0">
              <a:buNone/>
            </a:pPr>
            <a:r>
              <a:rPr lang="en-US" sz="700" b="1" spc="30" kern="0" dirty="0">
                <a:solidFill>
                  <a:srgbClr val="111311"/>
                </a:solidFill>
                <a:latin typeface="Inter" pitchFamily="34" charset="0"/>
                <a:ea typeface="Inter" pitchFamily="34" charset="-122"/>
                <a:cs typeface="Inter" pitchFamily="34" charset="-120"/>
              </a:rPr>
              <a:t>MEASURE  •  Campaign reach + engagement</a:t>
            </a:r>
            <a:endParaRPr lang="en-US" sz="700" dirty="0"/>
          </a:p>
        </p:txBody>
      </p:sp>
      <p:sp>
        <p:nvSpPr>
          <p:cNvPr id="27" name="Shape 25"/>
          <p:cNvSpPr/>
          <p:nvPr/>
        </p:nvSpPr>
        <p:spPr>
          <a:xfrm>
            <a:off x="1325880" y="5650992"/>
            <a:ext cx="9546336" cy="603504"/>
          </a:xfrm>
          <a:prstGeom prst="roundRect">
            <a:avLst>
              <a:gd name="adj" fmla="val 9091"/>
            </a:avLst>
          </a:prstGeom>
          <a:solidFill>
            <a:srgbClr val="FFFFFF"/>
          </a:solidFill>
          <a:ln w="11430">
            <a:solidFill>
              <a:srgbClr val="E4E7E2"/>
            </a:solidFill>
            <a:prstDash val="solid"/>
          </a:ln>
        </p:spPr>
      </p:sp>
      <p:sp>
        <p:nvSpPr>
          <p:cNvPr id="28" name="Text 26"/>
          <p:cNvSpPr/>
          <p:nvPr/>
        </p:nvSpPr>
        <p:spPr>
          <a:xfrm>
            <a:off x="1609344" y="5815584"/>
            <a:ext cx="987552" cy="182880"/>
          </a:xfrm>
          <a:prstGeom prst="rect">
            <a:avLst/>
          </a:prstGeom>
          <a:noFill/>
          <a:ln/>
        </p:spPr>
        <p:txBody>
          <a:bodyPr wrap="square" lIns="0" tIns="0" rIns="0" bIns="0" rtlCol="0" anchor="ctr">
            <a:normAutofit/>
          </a:bodyPr>
          <a:lstStyle/>
          <a:p>
            <a:pPr indent="0" marL="0">
              <a:buNone/>
            </a:pPr>
            <a:r>
              <a:rPr lang="en-US" sz="750" b="1" dirty="0">
                <a:solidFill>
                  <a:srgbClr val="22A65A"/>
                </a:solidFill>
                <a:latin typeface="Inter" pitchFamily="34" charset="0"/>
                <a:ea typeface="Inter" pitchFamily="34" charset="-122"/>
                <a:cs typeface="Inter" pitchFamily="34" charset="-120"/>
              </a:rPr>
              <a:t>BOARD ASK</a:t>
            </a:r>
            <a:endParaRPr lang="en-US" sz="750" dirty="0"/>
          </a:p>
        </p:txBody>
      </p:sp>
      <p:sp>
        <p:nvSpPr>
          <p:cNvPr id="29" name="Text 27"/>
          <p:cNvSpPr/>
          <p:nvPr/>
        </p:nvSpPr>
        <p:spPr>
          <a:xfrm>
            <a:off x="2697480" y="5751576"/>
            <a:ext cx="7635240" cy="292608"/>
          </a:xfrm>
          <a:prstGeom prst="rect">
            <a:avLst/>
          </a:prstGeom>
          <a:noFill/>
          <a:ln/>
        </p:spPr>
        <p:txBody>
          <a:bodyPr wrap="square" lIns="0" tIns="0" rIns="0" bIns="0" rtlCol="0" anchor="ctr">
            <a:normAutofit/>
          </a:bodyPr>
          <a:lstStyle/>
          <a:p>
            <a:pPr algn="ctr" indent="0" marL="0">
              <a:buNone/>
            </a:pPr>
            <a:r>
              <a:rPr lang="en-US" sz="1020" b="1" dirty="0">
                <a:solidFill>
                  <a:srgbClr val="111311"/>
                </a:solidFill>
                <a:latin typeface="Inter" pitchFamily="34" charset="0"/>
                <a:ea typeface="Inter" pitchFamily="34" charset="-122"/>
                <a:cs typeface="Inter" pitchFamily="34" charset="-120"/>
              </a:rPr>
              <a:t>Sponsor a cross-functional sales enablement sprint with claim governance and outcome tracking.</a:t>
            </a:r>
            <a:endParaRPr lang="en-US" sz="1020" dirty="0"/>
          </a:p>
        </p:txBody>
      </p:sp>
      <p:sp>
        <p:nvSpPr>
          <p:cNvPr id="30" name="Text 28"/>
          <p:cNvSpPr/>
          <p:nvPr/>
        </p:nvSpPr>
        <p:spPr>
          <a:xfrm>
            <a:off x="7424928" y="6583680"/>
            <a:ext cx="3931920" cy="146304"/>
          </a:xfrm>
          <a:prstGeom prst="rect">
            <a:avLst/>
          </a:prstGeom>
          <a:noFill/>
          <a:ln/>
        </p:spPr>
        <p:txBody>
          <a:bodyPr wrap="square" lIns="0" tIns="0" rIns="0" bIns="0" rtlCol="0" anchor="ctr">
            <a:normAutofit/>
          </a:bodyPr>
          <a:lstStyle/>
          <a:p>
            <a:pPr algn="r" indent="0" marL="0">
              <a:buNone/>
            </a:pPr>
            <a:r>
              <a:rPr lang="en-US" sz="530" dirty="0">
                <a:solidFill>
                  <a:srgbClr val="858A84"/>
                </a:solidFill>
                <a:latin typeface="Inter" pitchFamily="34" charset="0"/>
                <a:ea typeface="Inter" pitchFamily="34" charset="-122"/>
                <a:cs typeface="Inter" pitchFamily="34" charset="-120"/>
              </a:rPr>
              <a:t>SOURCE: STRATEGY RECOMMENDATIONS BASED ON APPLE FY2025 RESULTS</a:t>
            </a:r>
            <a:endParaRPr lang="en-US" sz="530" dirty="0"/>
          </a:p>
        </p:txBody>
      </p:sp>
      <p:sp>
        <p:nvSpPr>
          <p:cNvPr id="25" name="Slide Number Placeholder 0"/>
          <p:cNvSpPr>
            <a:spLocks noGrp="1"/>
          </p:cNvSpPr>
          <p:nvPr>
            <p:ph type="sldNum" sz="quarter" idx="4294967295"/>
          </p:nvPr>
        </p:nvSpPr>
        <p:spPr>
          <a:xfrm>
            <a:off x="11384280" y="6583680"/>
            <a:ext cx="256032"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858A84"/>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Confidential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Apple FY2025: Environmental Progress as a Business &amp; Sales Driver</dc:title>
  <dc:subject>Apple FY2025 environmental progress as a business and sales driver</dc:subject>
  <dc:creator>Strategy &amp; Sales Leadership</dc:creator>
  <cp:lastModifiedBy>Strategy &amp; Sales Leadership</cp:lastModifiedBy>
  <cp:revision>1</cp:revision>
  <dcterms:created xsi:type="dcterms:W3CDTF">2026-08-14T17:00:26Z</dcterms:created>
  <dcterms:modified xsi:type="dcterms:W3CDTF">2026-08-14T17:00:26Z</dcterms:modified>
</cp:coreProperties>
</file>