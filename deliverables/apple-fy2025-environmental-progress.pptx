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Corporate</c:v>
                </c:pt>
              </c:strCache>
            </c:strRef>
          </c:tx>
          <c:spPr>
            <a:solidFill>
              <a:schemeClr val="accent1"/>
            </a:solidFill>
            <a:ln w="9525" cap="flat">
              <a:solidFill>
                <a:srgbClr val="F9F9F9"/>
              </a:solidFill>
              <a:prstDash val="solid"/>
              <a:round/>
            </a:ln>
            <a:effectLst/>
          </c:spPr>
          <c:dPt>
            <c:idx val="0"/>
            <c:bubble3D val="0"/>
            <c:spPr>
              <a:solidFill>
                <a:srgbClr val="086247"/>
              </a:solidFill>
              <a:effectLst/>
            </c:spPr>
          </c:dPt>
          <c:dPt>
            <c:idx val="1"/>
            <c:bubble3D val="0"/>
            <c:spPr>
              <a:solidFill>
                <a:srgbClr val="E2E5E3"/>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Achieved</c:v>
                </c:pt>
                <c:pt idx="1">
                  <c:v>Remainder</c:v>
                </c:pt>
              </c:strCache>
            </c:strRef>
          </c:cat>
          <c:val>
            <c:numRef>
              <c:f>Sheet1!$B$2:$B$3</c:f>
              <c:numCache>
                <c:ptCount val="2"/>
                <c:pt idx="0">
                  <c:v>100</c:v>
                </c:pt>
                <c:pt idx="1">
                  <c:v>0.001</c:v>
                </c:pt>
              </c:numCache>
            </c:numRef>
          </c:val>
        </c:ser>
        <c:firstSliceAng val="0"/>
        <c:holeSize val="80"/>
      </c:doughnutChart>
      <c:spPr>
        <a:noFill/>
        <a:ln w="12700" cap="flat">
          <a:solidFill>
            <a:srgbClr val="F5F5F7"/>
          </a:solid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Reduction</c:v>
                </c:pt>
              </c:strCache>
            </c:strRef>
          </c:tx>
          <c:spPr>
            <a:solidFill>
              <a:schemeClr val="accent1"/>
            </a:solidFill>
            <a:ln w="9525" cap="flat">
              <a:solidFill>
                <a:srgbClr val="F9F9F9"/>
              </a:solidFill>
              <a:prstDash val="solid"/>
              <a:round/>
            </a:ln>
            <a:effectLst/>
          </c:spPr>
          <c:dPt>
            <c:idx val="0"/>
            <c:bubble3D val="0"/>
            <c:spPr>
              <a:solidFill>
                <a:srgbClr val="0A8F62"/>
              </a:solidFill>
              <a:effectLst/>
            </c:spPr>
          </c:dPt>
          <c:dPt>
            <c:idx val="1"/>
            <c:bubble3D val="0"/>
            <c:spPr>
              <a:solidFill>
                <a:srgbClr val="E2E5E3"/>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Reduction</c:v>
                </c:pt>
                <c:pt idx="1">
                  <c:v>To target</c:v>
                </c:pt>
              </c:strCache>
            </c:strRef>
          </c:cat>
          <c:val>
            <c:numRef>
              <c:f>Sheet1!$B$2:$B$3</c:f>
              <c:numCache>
                <c:ptCount val="2"/>
                <c:pt idx="0">
                  <c:v>60</c:v>
                </c:pt>
                <c:pt idx="1">
                  <c:v>15</c:v>
                </c:pt>
              </c:numCache>
            </c:numRef>
          </c:val>
        </c:ser>
        <c:firstSliceAng val="0"/>
        <c:holeSize val="80"/>
      </c:doughnutChart>
      <c:spPr>
        <a:noFill/>
        <a:ln w="12700" cap="flat">
          <a:solidFill>
            <a:srgbClr val="F5F5F7"/>
          </a:solid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Footprint</c:v>
                </c:pt>
              </c:strCache>
            </c:strRef>
          </c:tx>
          <c:spPr>
            <a:solidFill>
              <a:schemeClr val="accent1"/>
            </a:solidFill>
            <a:ln w="9525" cap="flat">
              <a:solidFill>
                <a:srgbClr val="F9F9F9"/>
              </a:solidFill>
              <a:prstDash val="solid"/>
              <a:round/>
            </a:ln>
            <a:effectLst/>
          </c:spPr>
          <c:dPt>
            <c:idx val="0"/>
            <c:bubble3D val="0"/>
            <c:spPr>
              <a:solidFill>
                <a:srgbClr val="086247"/>
              </a:solidFill>
              <a:effectLst/>
            </c:spPr>
          </c:dPt>
          <c:dPt>
            <c:idx val="1"/>
            <c:bubble3D val="0"/>
            <c:spPr>
              <a:solidFill>
                <a:srgbClr val="0A8F62"/>
              </a:solidFill>
              <a:effectLst/>
            </c:spPr>
          </c:dPt>
          <c:dPt>
            <c:idx val="2"/>
            <c:bubble3D val="0"/>
            <c:spPr>
              <a:solidFill>
                <a:srgbClr val="2CB7A7"/>
              </a:solidFill>
              <a:effectLst/>
            </c:spPr>
          </c:dPt>
          <c:dPt>
            <c:idx val="3"/>
            <c:bubble3D val="0"/>
            <c:spPr>
              <a:solidFill>
                <a:srgbClr val="A9ADB3"/>
              </a:solidFill>
              <a:effectLst/>
            </c:spPr>
          </c:dPt>
          <c:dPt>
            <c:idx val="4"/>
            <c:bubble3D val="0"/>
            <c:spPr>
              <a:solidFill>
                <a:srgbClr val="D9DDDB"/>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4"/>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Manufacturing</c:v>
                </c:pt>
                <c:pt idx="1">
                  <c:v>Product use</c:v>
                </c:pt>
                <c:pt idx="2">
                  <c:v>Transport</c:v>
                </c:pt>
                <c:pt idx="3">
                  <c:v>Business operations</c:v>
                </c:pt>
                <c:pt idx="4">
                  <c:v>Other</c:v>
                </c:pt>
              </c:strCache>
            </c:strRef>
          </c:cat>
          <c:val>
            <c:numRef>
              <c:f>Sheet1!$B$2:$B$6</c:f>
              <c:numCache>
                <c:ptCount val="5"/>
                <c:pt idx="0">
                  <c:v>53</c:v>
                </c:pt>
                <c:pt idx="1">
                  <c:v>27</c:v>
                </c:pt>
                <c:pt idx="2">
                  <c:v>16</c:v>
                </c:pt>
                <c:pt idx="3">
                  <c:v>3</c:v>
                </c:pt>
                <c:pt idx="4">
                  <c:v>1</c:v>
                </c:pt>
              </c:numCache>
            </c:numRef>
          </c:val>
        </c:ser>
        <c:firstSliceAng val="0"/>
        <c:holeSize val="67"/>
      </c:doughnutChart>
      <c:spPr>
        <a:noFill/>
        <a:ln w="12700" cap="flat">
          <a:solidFill>
            <a:srgbClr val="F5F5F7"/>
          </a:solid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central thesis: Apple’s environmental execution is no longer only a responsibility narrative. It is a commercial asset — protecting the premium brand, making procurement decisions easier for enterprise buyers, and reducing exposure to energy, water, materials, and regulatory volatility.
Sources:
• https://www.apple.com/environment/pdf/Apple_Environmental_Progress_Report_2026.pdf
• https://www.apple.com/newsroom/2026/04/apple-accelerates-progress-with-highest-ever-recycled-material-in-its-products/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year marks a critical proof point. Apple held gross emissions more than 60 percent below the 2015 baseline even as revenue grew 78 percent over the same period. The 30 percent recycled-content milestone and completed fiber-packaging transition make environmental performance tangible at the product and customer level. The $4.7 billion green-bond program demonstrates durable financing capacity behind the transition. Together, these are commercial proof points — not standalone ESG statistics.
Sources:
• https://www.apple.com/environment/pdf/Apple_Environmental_Progress_Report_2026.pdf
• https://www.apple.com/newsroom/2026/04/apple-accelerates-progress-with-highest-ever-recycled-material-in-its-products/
• https://www.apple.com/newsroom/2022/03/apples-four-point-seven-billion-in-green-bonds-support-innovative-green-technology/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Apple eliminated net direct operational carbon exposure when it made global corporate operations carbon neutral in 2020. The strategic focus is now the full value chain. More than 60 percent lower gross emissions is progress toward Apple’s 75 percent reduction target — it should not be described as 60 percent carbon neutrality. This distinction matters with sophisticated enterprise buyers and regulators. The data-center certification milestone also strengthens the resilience narrative beyond carbon, particularly for water-constrained markets.
Sources:
• https://www.apple.com/environment/pdf/Apple_Environmental_Progress_Report_2026.pdf
• https://www.apple.com/newsroom/2026/04/apple-accelerates-progress-with-highest-ever-recycled-material-in-its-products/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Enterprise clients face pressure to reduce their own Scope 3 footprints. Apple can now speak in precise component-level terms: 100 percent recycled cobalt in all Apple-designed batteries, 100 percent recycled rare earth elements in all magnets, and 100 percent recycled gold plating and tin solder in all Apple-designed printed circuit boards. This is stronger than a vague 'select components' claim. Pair the procurement case with the visible 100 percent fiber-based packaging experience to connect enterprise rigor with premium consumer design.
Sources:
• https://www.apple.com/environment/pdf/Apple_Environmental_Progress_Report_2026.pdf
• https://www.apple.com/newsroom/2026/04/apple-accelerates-progress-with-highest-ever-recycled-material-in-its-products/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Water scarcity and waste disposal are material operating risks in manufacturing regions. Saving 17 billion gallons of freshwater and maintaining zero-waste-to-landfill operations at established final-assembly sites improve continuity and reduce exposure to utility and disposal costs. Corporate replenishment reached 55 percent in 2025, including 800 million gallons replenished. Keep the qualifier 'established sites' in external materials; it reflects Apple’s third-party verification boundary.
Sources:
• https://www.apple.com/environment/pdf/Apple_Environmental_Progress_Report_2026.pdf
• https://www.apple.com/newsroom/2026/04/apple-accelerates-progress-with-highest-ever-recycled-material-in-its-products/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largest emissions source is manufacturing at 53 percent. But 27 percent comes from the electricity customers use to charge and power devices. That creates a direct commercial bridge: Apple Silicon efficiency can support customer operating-cost and downstream-emissions goals. The original 4 percent 'business operations' shorthand is not precise. The report shows 3 percent for business operations, less than 1 percent each for Scope 1, Scope 2, and end-of-life. Use the report’s categories in enterprise materials.
Sources:
• https://www.apple.com/environment/pdf/Apple_Environmental_Progress_Report_2026.pdf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Apple estimates that FY2025 environmental programs avoided 43 million metric tons of emissions across all scopes. This is a program-impact estimate, not a direct year-over-year footprint reduction, and annual avoided emissions can exceed the baseline reduction because the business continues to grow. Apple’s cumulative $4.7 billion in green-bond issuance demonstrates access to and commitment of long-duration capital. Avoid making an unsupported claim that these bonds lower Apple’s cost of capital; instead, position them as evidence of financing depth and institutional credibility.
Sources:
• https://www.apple.com/environment/pdf/Apple_Environmental_Progress_Report_2026.pdf
• https://www.apple.com/newsroom/2022/03/apples-four-point-seven-billion-in-green-bonds-support-innovative-green-technology/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immediate opportunity is execution discipline. First, equip enterprise teams with a short, sourced claim library that maps recycled materials and product-use efficiency to customer Scope 3 and operating-cost goals. Second, give retail teams two memorable, human proof points: 17 billion gallons saved and the fiber-based packaging transition. Third, market material and packaging innovation as premium design leadership. The decision today is to authorize the claim library, enablement sprint, and Q3/Q4 campaign integration.
Sources:
• https://www.apple.com/environment/pdf/Apple_Environmental_Progress_Report_2026.pdf
• https://www.apple.com/newsroom/2026/04/apple-accelerates-progress-with-highest-ever-recycled-material-in-its-products/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PPLE_BOARD">
    <p:bg>
      <p:bgPr>
        <a:solidFill>
          <a:srgbClr val="F5F5F7"/>
        </a:solidFill>
      </p:bgPr>
    </p:bg>
    <p:spTree>
      <p:nvGrpSpPr>
        <p:cNvPr id="1" name=""/>
        <p:cNvGrpSpPr/>
        <p:nvPr/>
      </p:nvGrpSpPr>
      <p:grpSpPr>
        <a:xfrm>
          <a:off x="0" y="0"/>
          <a:ext cx="0" cy="0"/>
          <a:chOff x="0" y="0"/>
          <a:chExt cx="0" cy="0"/>
        </a:xfrm>
      </p:grpSpPr>
      <p:sp>
        <p:nvSpPr>
          <p:cNvPr id="2" name="Shape 0"/>
          <p:cNvSpPr/>
          <p:nvPr/>
        </p:nvSpPr>
        <p:spPr>
          <a:xfrm>
            <a:off x="502920" y="6473952"/>
            <a:ext cx="11183112" cy="0"/>
          </a:xfrm>
          <a:prstGeom prst="line">
            <a:avLst/>
          </a:prstGeom>
          <a:noFill/>
          <a:ln w="12700">
            <a:solidFill>
              <a:srgbClr val="D2D2D7"/>
            </a:solidFill>
            <a:prstDash val="solid"/>
          </a:ln>
        </p:spPr>
      </p:sp>
      <p:sp>
        <p:nvSpPr>
          <p:cNvPr id="3" name="Text 1"/>
          <p:cNvSpPr/>
          <p:nvPr/>
        </p:nvSpPr>
        <p:spPr>
          <a:xfrm>
            <a:off x="566928" y="6528816"/>
            <a:ext cx="6583680" cy="146304"/>
          </a:xfrm>
          <a:prstGeom prst="rect">
            <a:avLst/>
          </a:prstGeom>
          <a:noFill/>
          <a:ln/>
        </p:spPr>
        <p:txBody>
          <a:bodyPr wrap="square" lIns="0" tIns="0" rIns="0" bIns="0" rtlCol="0" anchor="ctr"/>
          <a:lstStyle/>
          <a:p>
            <a:pPr indent="0" marL="0">
              <a:buNone/>
            </a:pPr>
            <a:r>
              <a:rPr lang="en-US" sz="580" spc="110" kern="0" dirty="0">
                <a:solidFill>
                  <a:srgbClr val="6E6E73"/>
                </a:solidFill>
                <a:latin typeface="Aptos" pitchFamily="34" charset="0"/>
                <a:ea typeface="Aptos" pitchFamily="34" charset="-122"/>
                <a:cs typeface="Aptos" pitchFamily="34" charset="-120"/>
              </a:rPr>
              <a:t>CONFIDENTIAL  |  BOARD OF DIRECTORS &amp; SALES LEADERSHIP</a:t>
            </a:r>
            <a:endParaRPr lang="en-US" sz="580" dirty="0"/>
          </a:p>
        </p:txBody>
      </p:sp>
      <p:sp>
        <p:nvSpPr>
          <p:cNvPr id="25" name="Slide Number Placeholder 0"/>
          <p:cNvSpPr>
            <a:spLocks noGrp="1"/>
          </p:cNvSpPr>
          <p:nvPr>
            <p:ph type="sldNum" sz="quarter" idx="4294967295"/>
          </p:nvPr>
        </p:nvSpPr>
        <p:spPr>
          <a:xfrm>
            <a:off x="11210544" y="6519672"/>
            <a:ext cx="411480" cy="146304"/>
          </a:xfrm>
          <a:prstGeom prst="rect">
            <a:avLst/>
          </a:prstGeom>
          <a:extLst>
            <a:ext uri="{C572A759-6A51-4108-AA02-DFA0A04FC94B}">
              <ma14:wrappingTextBoxFlag xmlns:ma14="http://schemas.microsoft.com/office/mac/drawingml/2011/main" val="0"/>
            </a:ext>
          </a:extLst>
        </p:spPr>
        <p:txBody>
          <a:bodyPr lIns="0" tIns="0" rIns="0" bIns="0"/>
          <a:lstStyle>
            <a:lvl1pPr>
              <a:defRPr sz="600">
                <a:solidFill>
                  <a:srgbClr val="6E6E73"/>
                </a:solidFill>
                <a:latin typeface="Aptos"/>
                <a:ea typeface="Aptos"/>
                <a:cs typeface="Apto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10544" y="6519672"/>
            <a:ext cx="411480" cy="146304"/>
          </a:xfrm>
          <a:prstGeom prst="rect">
            <a:avLst/>
          </a:prstGeom>
          <a:extLst>
            <a:ext uri="{C572A759-6A51-4108-AA02-DFA0A04FC94B}">
              <ma14:wrappingTextBoxFlag xmlns:ma14="http://schemas.microsoft.com/office/mac/drawingml/2011/main" val="0"/>
            </a:ext>
          </a:extLst>
        </p:spPr>
        <p:txBody>
          <a:bodyPr lIns="0" tIns="0" rIns="0" bIns="0"/>
          <a:lstStyle>
            <a:lvl1pPr>
              <a:defRPr sz="600">
                <a:solidFill>
                  <a:srgbClr val="6E6E73"/>
                </a:solidFill>
                <a:latin typeface="Aptos"/>
                <a:ea typeface="Aptos"/>
                <a:cs typeface="Apto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apple.com/environment/pdf/Apple_Environmental_Progress_Report_2026.pdf" TargetMode="Externa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hyperlink" Target="https://www.apple.com/environment/pdf/Apple_Environmental_Progress_Report_2026.pdf" TargetMode="External"/><Relationship Id="rId1" Type="http://schemas.openxmlformats.org/officeDocument/2006/relationships/chart" Target="/ppt/charts/chart1.xml"/><Relationship Id="rId2" Type="http://schemas.openxmlformats.org/officeDocument/2006/relationships/chart" Target="/ppt/charts/chart2.xml"/><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apple.com/environment/pdf/Apple_Environmental_Progress_Report_2026.pdf" TargetMode="Externa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apple.com/environment/pdf/Apple_Environmental_Progress_Report_2026.pdf" TargetMode="Externa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www.apple.com/environment/pdf/Apple_Environmental_Progress_Report_2026.pdf" TargetMode="External"/><Relationship Id="rId1" Type="http://schemas.openxmlformats.org/officeDocument/2006/relationships/chart" Target="/ppt/charts/chart3.xml"/><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www.apple.com/environment/pdf/Apple_Environmental_Progress_Report_2026.pdf" TargetMode="Externa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www.apple.com/environment/pdf/Apple_Environmental_Progress_Report_2026.pdf" TargetMode="Externa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411"/>
        </a:solidFill>
      </p:bgPr>
    </p:bg>
    <p:spTree>
      <p:nvGrpSpPr>
        <p:cNvPr id="1" name=""/>
        <p:cNvGrpSpPr/>
        <p:nvPr/>
      </p:nvGrpSpPr>
      <p:grpSpPr>
        <a:xfrm>
          <a:off x="0" y="0"/>
          <a:ext cx="0" cy="0"/>
          <a:chOff x="0" y="0"/>
          <a:chExt cx="0" cy="0"/>
        </a:xfrm>
      </p:grpSpPr>
      <p:pic>
        <p:nvPicPr>
          <p:cNvPr id="2" name="Image 0" descr="/opt/cursor/artifacts/assets/apple_fy25_recycled_aluminum_hero.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7110D">
              <a:alpha val="62000"/>
            </a:srgbClr>
          </a:solidFill>
          <a:ln w="12700">
            <a:solidFill>
              <a:srgbClr val="07110D">
                <a:alpha val="0"/>
              </a:srgbClr>
            </a:solidFill>
            <a:prstDash val="solid"/>
          </a:ln>
        </p:spPr>
      </p:sp>
      <p:sp>
        <p:nvSpPr>
          <p:cNvPr id="4" name="Shape 1"/>
          <p:cNvSpPr/>
          <p:nvPr/>
        </p:nvSpPr>
        <p:spPr>
          <a:xfrm>
            <a:off x="7726680" y="2926080"/>
            <a:ext cx="2788920" cy="1783080"/>
          </a:xfrm>
          <a:prstGeom prst="roundRect">
            <a:avLst>
              <a:gd name="adj" fmla="val 4103"/>
            </a:avLst>
          </a:prstGeom>
          <a:solidFill>
            <a:srgbClr val="D9DED9">
              <a:alpha val="94000"/>
            </a:srgbClr>
          </a:solidFill>
          <a:ln w="12700">
            <a:solidFill>
              <a:srgbClr val="FFFFFF">
                <a:alpha val="22000"/>
              </a:srgbClr>
            </a:solidFill>
            <a:prstDash val="solid"/>
          </a:ln>
          <a:effectLst>
            <a:outerShdw sx="100000" sy="100000" kx="0" ky="0" algn="bl" rotWithShape="0" blurRad="38100" dist="50800" dir="2700000">
              <a:srgbClr val="000000">
                <a:alpha val="25000"/>
              </a:srgbClr>
            </a:outerShdw>
          </a:effectLst>
        </p:spPr>
      </p:sp>
      <p:sp>
        <p:nvSpPr>
          <p:cNvPr id="5" name="Shape 2"/>
          <p:cNvSpPr/>
          <p:nvPr/>
        </p:nvSpPr>
        <p:spPr>
          <a:xfrm>
            <a:off x="8010144" y="3182112"/>
            <a:ext cx="2221992" cy="1316736"/>
          </a:xfrm>
          <a:prstGeom prst="rect">
            <a:avLst/>
          </a:prstGeom>
          <a:solidFill>
            <a:srgbClr val="173B2E">
              <a:alpha val="94000"/>
            </a:srgbClr>
          </a:solidFill>
          <a:ln w="12700">
            <a:solidFill>
              <a:srgbClr val="173B2E">
                <a:alpha val="0"/>
              </a:srgbClr>
            </a:solidFill>
            <a:prstDash val="solid"/>
          </a:ln>
        </p:spPr>
      </p:sp>
      <p:sp>
        <p:nvSpPr>
          <p:cNvPr id="6" name="Shape 3"/>
          <p:cNvSpPr/>
          <p:nvPr/>
        </p:nvSpPr>
        <p:spPr>
          <a:xfrm>
            <a:off x="7360920" y="4645152"/>
            <a:ext cx="3520440" cy="265176"/>
          </a:xfrm>
          <a:prstGeom prst="trapezoid">
            <a:avLst/>
          </a:prstGeom>
          <a:solidFill>
            <a:srgbClr val="BFC7C1">
              <a:alpha val="98000"/>
            </a:srgbClr>
          </a:solidFill>
          <a:ln w="12700">
            <a:solidFill>
              <a:srgbClr val="FFFFFF">
                <a:alpha val="14000"/>
              </a:srgbClr>
            </a:solidFill>
            <a:prstDash val="solid"/>
          </a:ln>
        </p:spPr>
      </p:sp>
      <p:sp>
        <p:nvSpPr>
          <p:cNvPr id="7" name="Shape 4"/>
          <p:cNvSpPr/>
          <p:nvPr/>
        </p:nvSpPr>
        <p:spPr>
          <a:xfrm>
            <a:off x="9966960" y="2560320"/>
            <a:ext cx="1097280" cy="2286000"/>
          </a:xfrm>
          <a:prstGeom prst="roundRect">
            <a:avLst>
              <a:gd name="adj" fmla="val 13333"/>
            </a:avLst>
          </a:prstGeom>
          <a:solidFill>
            <a:srgbClr val="CBD3CD">
              <a:alpha val="97000"/>
            </a:srgbClr>
          </a:solidFill>
          <a:ln w="12700">
            <a:solidFill>
              <a:srgbClr val="FFFFFF">
                <a:alpha val="33000"/>
              </a:srgbClr>
            </a:solidFill>
            <a:prstDash val="solid"/>
          </a:ln>
          <a:effectLst>
            <a:outerShdw sx="100000" sy="100000" kx="0" ky="0" algn="bl" rotWithShape="0" blurRad="25400" dist="50800" dir="2700000">
              <a:srgbClr val="000000">
                <a:alpha val="22000"/>
              </a:srgbClr>
            </a:outerShdw>
          </a:effectLst>
        </p:spPr>
      </p:sp>
      <p:sp>
        <p:nvSpPr>
          <p:cNvPr id="8" name="Shape 5"/>
          <p:cNvSpPr/>
          <p:nvPr/>
        </p:nvSpPr>
        <p:spPr>
          <a:xfrm>
            <a:off x="10085832" y="2743200"/>
            <a:ext cx="859536" cy="1901952"/>
          </a:xfrm>
          <a:prstGeom prst="rect">
            <a:avLst/>
          </a:prstGeom>
          <a:solidFill>
            <a:srgbClr val="173B2E">
              <a:alpha val="98000"/>
            </a:srgbClr>
          </a:solidFill>
          <a:ln w="12700">
            <a:solidFill>
              <a:srgbClr val="173B2E">
                <a:alpha val="0"/>
              </a:srgbClr>
            </a:solidFill>
            <a:prstDash val="solid"/>
          </a:ln>
        </p:spPr>
      </p:sp>
      <p:sp>
        <p:nvSpPr>
          <p:cNvPr id="9" name="Shape 6"/>
          <p:cNvSpPr/>
          <p:nvPr/>
        </p:nvSpPr>
        <p:spPr>
          <a:xfrm>
            <a:off x="8961120" y="4105656"/>
            <a:ext cx="768096" cy="768096"/>
          </a:xfrm>
          <a:prstGeom prst="ellipse">
            <a:avLst/>
          </a:prstGeom>
          <a:solidFill>
            <a:srgbClr val="D7DDD8"/>
          </a:solidFill>
          <a:ln w="12700">
            <a:solidFill>
              <a:srgbClr val="FFFFFF">
                <a:alpha val="26000"/>
              </a:srgbClr>
            </a:solidFill>
            <a:prstDash val="solid"/>
          </a:ln>
        </p:spPr>
      </p:sp>
      <p:sp>
        <p:nvSpPr>
          <p:cNvPr id="10" name="Shape 7"/>
          <p:cNvSpPr/>
          <p:nvPr/>
        </p:nvSpPr>
        <p:spPr>
          <a:xfrm>
            <a:off x="9079992" y="4224528"/>
            <a:ext cx="530352" cy="530352"/>
          </a:xfrm>
          <a:prstGeom prst="ellipse">
            <a:avLst/>
          </a:prstGeom>
          <a:solidFill>
            <a:srgbClr val="16382C"/>
          </a:solidFill>
          <a:ln w="12700">
            <a:solidFill>
              <a:srgbClr val="16382C">
                <a:alpha val="0"/>
              </a:srgbClr>
            </a:solidFill>
            <a:prstDash val="solid"/>
          </a:ln>
        </p:spPr>
      </p:sp>
      <p:sp>
        <p:nvSpPr>
          <p:cNvPr id="11" name="Shape 8"/>
          <p:cNvSpPr/>
          <p:nvPr/>
        </p:nvSpPr>
        <p:spPr>
          <a:xfrm>
            <a:off x="4700016" y="960120"/>
            <a:ext cx="2788920" cy="274320"/>
          </a:xfrm>
          <a:prstGeom prst="roundRect">
            <a:avLst>
              <a:gd name="adj" fmla="val 26667"/>
            </a:avLst>
          </a:prstGeom>
          <a:solidFill>
            <a:srgbClr val="B9F240"/>
          </a:solidFill>
          <a:ln w="12700">
            <a:solidFill>
              <a:srgbClr val="B9F240">
                <a:alpha val="0"/>
              </a:srgbClr>
            </a:solidFill>
            <a:prstDash val="solid"/>
          </a:ln>
        </p:spPr>
      </p:sp>
      <p:sp>
        <p:nvSpPr>
          <p:cNvPr id="12" name="Text 9"/>
          <p:cNvSpPr/>
          <p:nvPr/>
        </p:nvSpPr>
        <p:spPr>
          <a:xfrm>
            <a:off x="4773168" y="978408"/>
            <a:ext cx="2642616" cy="219456"/>
          </a:xfrm>
          <a:prstGeom prst="rect">
            <a:avLst/>
          </a:prstGeom>
          <a:noFill/>
          <a:ln/>
        </p:spPr>
        <p:txBody>
          <a:bodyPr wrap="square" lIns="0" tIns="0" rIns="0" bIns="0" rtlCol="0" anchor="ctr">
            <a:normAutofit/>
          </a:bodyPr>
          <a:lstStyle/>
          <a:p>
            <a:pPr algn="ctr" indent="0" marL="0">
              <a:buNone/>
            </a:pPr>
            <a:r>
              <a:rPr lang="en-US" sz="650" b="1" spc="80" kern="0" dirty="0">
                <a:solidFill>
                  <a:srgbClr val="173B2E"/>
                </a:solidFill>
                <a:latin typeface="Aptos" pitchFamily="34" charset="0"/>
                <a:ea typeface="Aptos" pitchFamily="34" charset="-122"/>
                <a:cs typeface="Aptos" pitchFamily="34" charset="-120"/>
              </a:rPr>
              <a:t>FY2025 ENVIRONMENTAL PROGRESS</a:t>
            </a:r>
            <a:endParaRPr lang="en-US" sz="650" dirty="0"/>
          </a:p>
        </p:txBody>
      </p:sp>
      <p:sp>
        <p:nvSpPr>
          <p:cNvPr id="13" name="Text 10"/>
          <p:cNvSpPr/>
          <p:nvPr/>
        </p:nvSpPr>
        <p:spPr>
          <a:xfrm>
            <a:off x="1920240" y="1481328"/>
            <a:ext cx="8321040" cy="1508760"/>
          </a:xfrm>
          <a:prstGeom prst="rect">
            <a:avLst/>
          </a:prstGeom>
          <a:noFill/>
          <a:ln/>
          <a:effectLst>
            <a:outerShdw sx="100000" sy="100000" kx="0" ky="0" algn="bl" rotWithShape="0" blurRad="12700" dist="50800" dir="2700000">
              <a:srgbClr val="000000">
                <a:alpha val="25000"/>
              </a:srgbClr>
            </a:outerShdw>
          </a:effectLst>
        </p:spPr>
        <p:txBody>
          <a:bodyPr wrap="square" lIns="0" tIns="0" rIns="0" bIns="0" rtlCol="0" anchor="ctr">
            <a:normAutofit/>
          </a:bodyPr>
          <a:lstStyle/>
          <a:p>
            <a:pPr algn="ctr" indent="0" marL="0">
              <a:buNone/>
            </a:pPr>
            <a:r>
              <a:rPr lang="en-US" sz="4200" b="1" dirty="0">
                <a:solidFill>
                  <a:srgbClr val="FFFFFF"/>
                </a:solidFill>
                <a:latin typeface="Aptos" pitchFamily="34" charset="0"/>
                <a:ea typeface="Aptos" pitchFamily="34" charset="-122"/>
                <a:cs typeface="Aptos" pitchFamily="34" charset="-120"/>
              </a:rPr>
              <a:t>Decoupling growth</a:t>
            </a:r>
            <a:endParaRPr lang="en-US" sz="4200" dirty="0"/>
          </a:p>
          <a:p>
            <a:pPr algn="ctr" indent="0" marL="0">
              <a:buNone/>
            </a:pPr>
            <a:r>
              <a:rPr lang="en-US" sz="4200" b="1" dirty="0">
                <a:solidFill>
                  <a:srgbClr val="FFFFFF"/>
                </a:solidFill>
                <a:latin typeface="Aptos" pitchFamily="34" charset="0"/>
                <a:ea typeface="Aptos" pitchFamily="34" charset="-122"/>
                <a:cs typeface="Aptos" pitchFamily="34" charset="-120"/>
              </a:rPr>
              <a:t>from emissions.</a:t>
            </a:r>
            <a:endParaRPr lang="en-US" sz="4200" dirty="0"/>
          </a:p>
        </p:txBody>
      </p:sp>
      <p:sp>
        <p:nvSpPr>
          <p:cNvPr id="14" name="Text 11"/>
          <p:cNvSpPr/>
          <p:nvPr/>
        </p:nvSpPr>
        <p:spPr>
          <a:xfrm>
            <a:off x="2148840" y="3108960"/>
            <a:ext cx="7223760" cy="731520"/>
          </a:xfrm>
          <a:prstGeom prst="rect">
            <a:avLst/>
          </a:prstGeom>
          <a:noFill/>
          <a:ln/>
        </p:spPr>
        <p:txBody>
          <a:bodyPr wrap="square" lIns="0" tIns="0" rIns="0" bIns="0" rtlCol="0" anchor="ctr">
            <a:normAutofit/>
          </a:bodyPr>
          <a:lstStyle/>
          <a:p>
            <a:pPr algn="ctr" indent="0" marL="0">
              <a:buNone/>
            </a:pPr>
            <a:r>
              <a:rPr lang="en-US" sz="1600" dirty="0">
                <a:solidFill>
                  <a:srgbClr val="E7EEE9"/>
                </a:solidFill>
                <a:latin typeface="Aptos" pitchFamily="34" charset="0"/>
                <a:ea typeface="Aptos" pitchFamily="34" charset="-122"/>
                <a:cs typeface="Aptos" pitchFamily="34" charset="-120"/>
              </a:rPr>
              <a:t>How Apple 2030 strengthens premium positioning, enterprise relevance, and supply-chain resilience</a:t>
            </a:r>
            <a:endParaRPr lang="en-US" sz="1600" dirty="0"/>
          </a:p>
        </p:txBody>
      </p:sp>
      <p:sp>
        <p:nvSpPr>
          <p:cNvPr id="15" name="Text 12"/>
          <p:cNvSpPr/>
          <p:nvPr/>
        </p:nvSpPr>
        <p:spPr>
          <a:xfrm>
            <a:off x="1965960" y="6327648"/>
            <a:ext cx="8275320" cy="182880"/>
          </a:xfrm>
          <a:prstGeom prst="rect">
            <a:avLst/>
          </a:prstGeom>
          <a:noFill/>
          <a:ln/>
        </p:spPr>
        <p:txBody>
          <a:bodyPr wrap="square" lIns="0" tIns="0" rIns="0" bIns="0" rtlCol="0" anchor="ctr">
            <a:normAutofit/>
          </a:bodyPr>
          <a:lstStyle/>
          <a:p>
            <a:pPr algn="ctr" indent="0" marL="0">
              <a:buNone/>
            </a:pPr>
            <a:r>
              <a:rPr lang="en-US" sz="630" spc="125" kern="0" dirty="0">
                <a:solidFill>
                  <a:srgbClr val="D2DBD5"/>
                </a:solidFill>
                <a:latin typeface="Aptos" pitchFamily="34" charset="0"/>
                <a:ea typeface="Aptos" pitchFamily="34" charset="-122"/>
                <a:cs typeface="Aptos" pitchFamily="34" charset="-120"/>
              </a:rPr>
              <a:t>CONFIDENTIAL  |  BOARD OF DIRECTORS &amp; SALES LEADERSHIP STRATEGY</a:t>
            </a:r>
            <a:endParaRPr lang="en-US" sz="63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347472"/>
            <a:ext cx="4114800" cy="201168"/>
          </a:xfrm>
          <a:prstGeom prst="rect">
            <a:avLst/>
          </a:prstGeom>
          <a:noFill/>
          <a:ln/>
        </p:spPr>
        <p:txBody>
          <a:bodyPr wrap="square" lIns="0" tIns="0" rIns="0" bIns="0" rtlCol="0" anchor="ctr">
            <a:normAutofit/>
          </a:bodyPr>
          <a:lstStyle/>
          <a:p>
            <a:pPr algn="l" indent="0" marL="0">
              <a:buNone/>
            </a:pPr>
            <a:r>
              <a:rPr lang="en-US" sz="720" b="1" spc="135" kern="0" dirty="0">
                <a:solidFill>
                  <a:srgbClr val="086247"/>
                </a:solidFill>
                <a:latin typeface="Aptos" pitchFamily="34" charset="0"/>
                <a:ea typeface="Aptos" pitchFamily="34" charset="-122"/>
                <a:cs typeface="Aptos" pitchFamily="34" charset="-120"/>
              </a:rPr>
              <a:t>FY25 SNAPSHOT</a:t>
            </a:r>
            <a:endParaRPr lang="en-US" sz="720" dirty="0"/>
          </a:p>
        </p:txBody>
      </p:sp>
      <p:sp>
        <p:nvSpPr>
          <p:cNvPr id="3" name="Text 1"/>
          <p:cNvSpPr/>
          <p:nvPr/>
        </p:nvSpPr>
        <p:spPr>
          <a:xfrm>
            <a:off x="594360" y="649224"/>
            <a:ext cx="8046720" cy="548640"/>
          </a:xfrm>
          <a:prstGeom prst="rect">
            <a:avLst/>
          </a:prstGeom>
          <a:noFill/>
          <a:ln/>
        </p:spPr>
        <p:txBody>
          <a:bodyPr wrap="square" lIns="0" tIns="0" rIns="0" bIns="0" rtlCol="0" anchor="ctr">
            <a:normAutofit/>
          </a:bodyPr>
          <a:lstStyle/>
          <a:p>
            <a:pPr algn="l" indent="0" marL="0">
              <a:buNone/>
            </a:pPr>
            <a:r>
              <a:rPr lang="en-US" sz="2600" b="1" dirty="0">
                <a:solidFill>
                  <a:srgbClr val="111113"/>
                </a:solidFill>
                <a:latin typeface="Aptos" pitchFamily="34" charset="0"/>
                <a:ea typeface="Aptos" pitchFamily="34" charset="-122"/>
                <a:cs typeface="Aptos" pitchFamily="34" charset="-120"/>
              </a:rPr>
              <a:t>Four proof points. One commercial advantage.</a:t>
            </a:r>
            <a:endParaRPr lang="en-US" sz="2600" dirty="0"/>
          </a:p>
        </p:txBody>
      </p:sp>
      <p:sp>
        <p:nvSpPr>
          <p:cNvPr id="4" name="Text 2"/>
          <p:cNvSpPr/>
          <p:nvPr/>
        </p:nvSpPr>
        <p:spPr>
          <a:xfrm>
            <a:off x="8961120" y="612648"/>
            <a:ext cx="2651760" cy="502920"/>
          </a:xfrm>
          <a:prstGeom prst="rect">
            <a:avLst/>
          </a:prstGeom>
          <a:noFill/>
          <a:ln/>
        </p:spPr>
        <p:txBody>
          <a:bodyPr wrap="square" lIns="0" tIns="0" rIns="0" bIns="0" rtlCol="0" anchor="b">
            <a:normAutofit/>
          </a:bodyPr>
          <a:lstStyle/>
          <a:p>
            <a:pPr algn="r" indent="0" marL="0">
              <a:buNone/>
            </a:pPr>
            <a:r>
              <a:rPr lang="en-US" sz="950" dirty="0">
                <a:solidFill>
                  <a:srgbClr val="5F6368"/>
                </a:solidFill>
                <a:latin typeface="Aptos" pitchFamily="34" charset="0"/>
                <a:ea typeface="Aptos" pitchFamily="34" charset="-122"/>
                <a:cs typeface="Aptos" pitchFamily="34" charset="-120"/>
              </a:rPr>
              <a:t>ENVIRONMENTAL EXECUTION → SHAREHOLDER VALUE</a:t>
            </a:r>
            <a:endParaRPr lang="en-US" sz="950" dirty="0"/>
          </a:p>
        </p:txBody>
      </p:sp>
      <p:sp>
        <p:nvSpPr>
          <p:cNvPr id="5" name="Shape 3"/>
          <p:cNvSpPr/>
          <p:nvPr/>
        </p:nvSpPr>
        <p:spPr>
          <a:xfrm>
            <a:off x="594360" y="1298448"/>
            <a:ext cx="11018520" cy="0"/>
          </a:xfrm>
          <a:prstGeom prst="line">
            <a:avLst/>
          </a:prstGeom>
          <a:noFill/>
          <a:ln w="12700">
            <a:solidFill>
              <a:srgbClr val="D9DADD"/>
            </a:solidFill>
            <a:prstDash val="solid"/>
            <a:headEnd type="none"/>
            <a:tailEnd type="none"/>
          </a:ln>
        </p:spPr>
      </p:sp>
      <p:sp>
        <p:nvSpPr>
          <p:cNvPr id="6" name="Shape 4"/>
          <p:cNvSpPr/>
          <p:nvPr/>
        </p:nvSpPr>
        <p:spPr>
          <a:xfrm>
            <a:off x="621792" y="1572768"/>
            <a:ext cx="5394960" cy="2075688"/>
          </a:xfrm>
          <a:prstGeom prst="roundRect">
            <a:avLst>
              <a:gd name="adj" fmla="val 5286"/>
            </a:avLst>
          </a:prstGeom>
          <a:solidFill>
            <a:srgbClr val="FFFFFF"/>
          </a:solidFill>
          <a:ln w="12700">
            <a:solidFill>
              <a:srgbClr val="D9DADD"/>
            </a:solidFill>
            <a:prstDash val="solid"/>
          </a:ln>
        </p:spPr>
      </p:sp>
      <p:sp>
        <p:nvSpPr>
          <p:cNvPr id="7" name="Shape 5"/>
          <p:cNvSpPr/>
          <p:nvPr/>
        </p:nvSpPr>
        <p:spPr>
          <a:xfrm>
            <a:off x="621792" y="1572768"/>
            <a:ext cx="64008" cy="2075688"/>
          </a:xfrm>
          <a:prstGeom prst="rect">
            <a:avLst/>
          </a:prstGeom>
          <a:solidFill>
            <a:srgbClr val="086247"/>
          </a:solidFill>
          <a:ln w="12700">
            <a:solidFill>
              <a:srgbClr val="086247">
                <a:alpha val="0"/>
              </a:srgbClr>
            </a:solidFill>
            <a:prstDash val="solid"/>
          </a:ln>
        </p:spPr>
      </p:sp>
      <p:sp>
        <p:nvSpPr>
          <p:cNvPr id="8" name="Text 6"/>
          <p:cNvSpPr/>
          <p:nvPr/>
        </p:nvSpPr>
        <p:spPr>
          <a:xfrm>
            <a:off x="896112" y="1819656"/>
            <a:ext cx="4892040" cy="640080"/>
          </a:xfrm>
          <a:prstGeom prst="rect">
            <a:avLst/>
          </a:prstGeom>
          <a:noFill/>
          <a:ln/>
        </p:spPr>
        <p:txBody>
          <a:bodyPr wrap="square" lIns="0" tIns="0" rIns="0" bIns="0" rtlCol="0" anchor="ctr">
            <a:normAutofit/>
          </a:bodyPr>
          <a:lstStyle/>
          <a:p>
            <a:pPr algn="l" indent="0" marL="0">
              <a:buNone/>
            </a:pPr>
            <a:r>
              <a:rPr lang="en-US" sz="3400" b="1" dirty="0">
                <a:solidFill>
                  <a:srgbClr val="086247"/>
                </a:solidFill>
                <a:latin typeface="Aptos" pitchFamily="34" charset="0"/>
                <a:ea typeface="Aptos" pitchFamily="34" charset="-122"/>
                <a:cs typeface="Aptos" pitchFamily="34" charset="-120"/>
              </a:rPr>
              <a:t>&gt;60%</a:t>
            </a:r>
            <a:endParaRPr lang="en-US" sz="3400" dirty="0"/>
          </a:p>
        </p:txBody>
      </p:sp>
      <p:sp>
        <p:nvSpPr>
          <p:cNvPr id="9" name="Text 7"/>
          <p:cNvSpPr/>
          <p:nvPr/>
        </p:nvSpPr>
        <p:spPr>
          <a:xfrm>
            <a:off x="896112" y="2514600"/>
            <a:ext cx="4892040" cy="347472"/>
          </a:xfrm>
          <a:prstGeom prst="rect">
            <a:avLst/>
          </a:prstGeom>
          <a:noFill/>
          <a:ln/>
        </p:spPr>
        <p:txBody>
          <a:bodyPr wrap="square" lIns="0" tIns="0" rIns="0" bIns="0" rtlCol="0" anchor="ctr">
            <a:normAutofit/>
          </a:bodyPr>
          <a:lstStyle/>
          <a:p>
            <a:pPr algn="l" indent="0" marL="0">
              <a:buNone/>
            </a:pPr>
            <a:r>
              <a:rPr lang="en-US" sz="1250" b="1" dirty="0">
                <a:solidFill>
                  <a:srgbClr val="111113"/>
                </a:solidFill>
                <a:latin typeface="Aptos" pitchFamily="34" charset="0"/>
                <a:ea typeface="Aptos" pitchFamily="34" charset="-122"/>
                <a:cs typeface="Aptos" pitchFamily="34" charset="-120"/>
              </a:rPr>
              <a:t>Gross emissions reduction</a:t>
            </a:r>
            <a:endParaRPr lang="en-US" sz="1250" dirty="0"/>
          </a:p>
        </p:txBody>
      </p:sp>
      <p:sp>
        <p:nvSpPr>
          <p:cNvPr id="10" name="Text 8"/>
          <p:cNvSpPr/>
          <p:nvPr/>
        </p:nvSpPr>
        <p:spPr>
          <a:xfrm>
            <a:off x="896112" y="2880360"/>
            <a:ext cx="4892040" cy="576072"/>
          </a:xfrm>
          <a:prstGeom prst="rect">
            <a:avLst/>
          </a:prstGeom>
          <a:noFill/>
          <a:ln/>
        </p:spPr>
        <p:txBody>
          <a:bodyPr wrap="square" lIns="0" tIns="0" rIns="0" bIns="0" rtlCol="0" anchor="t">
            <a:normAutofit/>
          </a:bodyPr>
          <a:lstStyle/>
          <a:p>
            <a:pPr algn="l" indent="0" marL="0">
              <a:buNone/>
            </a:pPr>
            <a:r>
              <a:rPr lang="en-US" sz="840" dirty="0">
                <a:solidFill>
                  <a:srgbClr val="5F6368"/>
                </a:solidFill>
                <a:latin typeface="Aptos" pitchFamily="34" charset="0"/>
                <a:ea typeface="Aptos" pitchFamily="34" charset="-122"/>
                <a:cs typeface="Aptos" pitchFamily="34" charset="-120"/>
              </a:rPr>
              <a:t>vs. 2015, while revenue grew 78% over the same period.</a:t>
            </a:r>
            <a:endParaRPr lang="en-US" sz="840" dirty="0"/>
          </a:p>
        </p:txBody>
      </p:sp>
      <p:sp>
        <p:nvSpPr>
          <p:cNvPr id="11" name="Shape 9"/>
          <p:cNvSpPr/>
          <p:nvPr/>
        </p:nvSpPr>
        <p:spPr>
          <a:xfrm>
            <a:off x="6172200" y="1572768"/>
            <a:ext cx="5394960" cy="2075688"/>
          </a:xfrm>
          <a:prstGeom prst="roundRect">
            <a:avLst>
              <a:gd name="adj" fmla="val 5286"/>
            </a:avLst>
          </a:prstGeom>
          <a:solidFill>
            <a:srgbClr val="FFFFFF"/>
          </a:solidFill>
          <a:ln w="12700">
            <a:solidFill>
              <a:srgbClr val="D9DADD"/>
            </a:solidFill>
            <a:prstDash val="solid"/>
          </a:ln>
        </p:spPr>
      </p:sp>
      <p:sp>
        <p:nvSpPr>
          <p:cNvPr id="12" name="Shape 10"/>
          <p:cNvSpPr/>
          <p:nvPr/>
        </p:nvSpPr>
        <p:spPr>
          <a:xfrm>
            <a:off x="6172200" y="1572768"/>
            <a:ext cx="64008" cy="2075688"/>
          </a:xfrm>
          <a:prstGeom prst="rect">
            <a:avLst/>
          </a:prstGeom>
          <a:solidFill>
            <a:srgbClr val="0A8F62"/>
          </a:solidFill>
          <a:ln w="12700">
            <a:solidFill>
              <a:srgbClr val="0A8F62">
                <a:alpha val="0"/>
              </a:srgbClr>
            </a:solidFill>
            <a:prstDash val="solid"/>
          </a:ln>
        </p:spPr>
      </p:sp>
      <p:sp>
        <p:nvSpPr>
          <p:cNvPr id="13" name="Text 11"/>
          <p:cNvSpPr/>
          <p:nvPr/>
        </p:nvSpPr>
        <p:spPr>
          <a:xfrm>
            <a:off x="6446520" y="1819656"/>
            <a:ext cx="4892040" cy="640080"/>
          </a:xfrm>
          <a:prstGeom prst="rect">
            <a:avLst/>
          </a:prstGeom>
          <a:noFill/>
          <a:ln/>
        </p:spPr>
        <p:txBody>
          <a:bodyPr wrap="square" lIns="0" tIns="0" rIns="0" bIns="0" rtlCol="0" anchor="ctr">
            <a:normAutofit/>
          </a:bodyPr>
          <a:lstStyle/>
          <a:p>
            <a:pPr algn="l" indent="0" marL="0">
              <a:buNone/>
            </a:pPr>
            <a:r>
              <a:rPr lang="en-US" sz="3400" b="1" dirty="0">
                <a:solidFill>
                  <a:srgbClr val="0A8F62"/>
                </a:solidFill>
                <a:latin typeface="Aptos" pitchFamily="34" charset="0"/>
                <a:ea typeface="Aptos" pitchFamily="34" charset="-122"/>
                <a:cs typeface="Aptos" pitchFamily="34" charset="-120"/>
              </a:rPr>
              <a:t>30%</a:t>
            </a:r>
            <a:endParaRPr lang="en-US" sz="3400" dirty="0"/>
          </a:p>
        </p:txBody>
      </p:sp>
      <p:sp>
        <p:nvSpPr>
          <p:cNvPr id="14" name="Text 12"/>
          <p:cNvSpPr/>
          <p:nvPr/>
        </p:nvSpPr>
        <p:spPr>
          <a:xfrm>
            <a:off x="6446520" y="2514600"/>
            <a:ext cx="4892040" cy="347472"/>
          </a:xfrm>
          <a:prstGeom prst="rect">
            <a:avLst/>
          </a:prstGeom>
          <a:noFill/>
          <a:ln/>
        </p:spPr>
        <p:txBody>
          <a:bodyPr wrap="square" lIns="0" tIns="0" rIns="0" bIns="0" rtlCol="0" anchor="ctr">
            <a:normAutofit/>
          </a:bodyPr>
          <a:lstStyle/>
          <a:p>
            <a:pPr algn="l" indent="0" marL="0">
              <a:buNone/>
            </a:pPr>
            <a:r>
              <a:rPr lang="en-US" sz="1250" b="1" dirty="0">
                <a:solidFill>
                  <a:srgbClr val="111113"/>
                </a:solidFill>
                <a:latin typeface="Aptos" pitchFamily="34" charset="0"/>
                <a:ea typeface="Aptos" pitchFamily="34" charset="-122"/>
                <a:cs typeface="Aptos" pitchFamily="34" charset="-120"/>
              </a:rPr>
              <a:t>Recycled content</a:t>
            </a:r>
            <a:endParaRPr lang="en-US" sz="1250" dirty="0"/>
          </a:p>
        </p:txBody>
      </p:sp>
      <p:sp>
        <p:nvSpPr>
          <p:cNvPr id="15" name="Text 13"/>
          <p:cNvSpPr/>
          <p:nvPr/>
        </p:nvSpPr>
        <p:spPr>
          <a:xfrm>
            <a:off x="6446520" y="2880360"/>
            <a:ext cx="4892040" cy="576072"/>
          </a:xfrm>
          <a:prstGeom prst="rect">
            <a:avLst/>
          </a:prstGeom>
          <a:noFill/>
          <a:ln/>
        </p:spPr>
        <p:txBody>
          <a:bodyPr wrap="square" lIns="0" tIns="0" rIns="0" bIns="0" rtlCol="0" anchor="t">
            <a:normAutofit/>
          </a:bodyPr>
          <a:lstStyle/>
          <a:p>
            <a:pPr algn="l" indent="0" marL="0">
              <a:buNone/>
            </a:pPr>
            <a:r>
              <a:rPr lang="en-US" sz="840" dirty="0">
                <a:solidFill>
                  <a:srgbClr val="5F6368"/>
                </a:solidFill>
                <a:latin typeface="Aptos" pitchFamily="34" charset="0"/>
                <a:ea typeface="Aptos" pitchFamily="34" charset="-122"/>
                <a:cs typeface="Aptos" pitchFamily="34" charset="-120"/>
              </a:rPr>
              <a:t>Across all products shipped in 2025 — Apple’s highest level yet.</a:t>
            </a:r>
            <a:endParaRPr lang="en-US" sz="840" dirty="0"/>
          </a:p>
        </p:txBody>
      </p:sp>
      <p:sp>
        <p:nvSpPr>
          <p:cNvPr id="16" name="Shape 14"/>
          <p:cNvSpPr/>
          <p:nvPr/>
        </p:nvSpPr>
        <p:spPr>
          <a:xfrm>
            <a:off x="621792" y="3840480"/>
            <a:ext cx="5394960" cy="2075688"/>
          </a:xfrm>
          <a:prstGeom prst="roundRect">
            <a:avLst>
              <a:gd name="adj" fmla="val 5286"/>
            </a:avLst>
          </a:prstGeom>
          <a:solidFill>
            <a:srgbClr val="FFFFFF"/>
          </a:solidFill>
          <a:ln w="12700">
            <a:solidFill>
              <a:srgbClr val="D9DADD"/>
            </a:solidFill>
            <a:prstDash val="solid"/>
          </a:ln>
        </p:spPr>
      </p:sp>
      <p:sp>
        <p:nvSpPr>
          <p:cNvPr id="17" name="Shape 15"/>
          <p:cNvSpPr/>
          <p:nvPr/>
        </p:nvSpPr>
        <p:spPr>
          <a:xfrm>
            <a:off x="621792" y="3840480"/>
            <a:ext cx="64008" cy="2075688"/>
          </a:xfrm>
          <a:prstGeom prst="rect">
            <a:avLst/>
          </a:prstGeom>
          <a:solidFill>
            <a:srgbClr val="529D68"/>
          </a:solidFill>
          <a:ln w="12700">
            <a:solidFill>
              <a:srgbClr val="529D68">
                <a:alpha val="0"/>
              </a:srgbClr>
            </a:solidFill>
            <a:prstDash val="solid"/>
          </a:ln>
        </p:spPr>
      </p:sp>
      <p:sp>
        <p:nvSpPr>
          <p:cNvPr id="18" name="Text 16"/>
          <p:cNvSpPr/>
          <p:nvPr/>
        </p:nvSpPr>
        <p:spPr>
          <a:xfrm>
            <a:off x="896112" y="4087368"/>
            <a:ext cx="4892040" cy="640080"/>
          </a:xfrm>
          <a:prstGeom prst="rect">
            <a:avLst/>
          </a:prstGeom>
          <a:noFill/>
          <a:ln/>
        </p:spPr>
        <p:txBody>
          <a:bodyPr wrap="square" lIns="0" tIns="0" rIns="0" bIns="0" rtlCol="0" anchor="ctr">
            <a:normAutofit/>
          </a:bodyPr>
          <a:lstStyle/>
          <a:p>
            <a:pPr algn="l" indent="0" marL="0">
              <a:buNone/>
            </a:pPr>
            <a:r>
              <a:rPr lang="en-US" sz="3400" b="1" dirty="0">
                <a:solidFill>
                  <a:srgbClr val="529D68"/>
                </a:solidFill>
                <a:latin typeface="Aptos" pitchFamily="34" charset="0"/>
                <a:ea typeface="Aptos" pitchFamily="34" charset="-122"/>
                <a:cs typeface="Aptos" pitchFamily="34" charset="-120"/>
              </a:rPr>
              <a:t>100%</a:t>
            </a:r>
            <a:endParaRPr lang="en-US" sz="3400" dirty="0"/>
          </a:p>
        </p:txBody>
      </p:sp>
      <p:sp>
        <p:nvSpPr>
          <p:cNvPr id="19" name="Text 17"/>
          <p:cNvSpPr/>
          <p:nvPr/>
        </p:nvSpPr>
        <p:spPr>
          <a:xfrm>
            <a:off x="896112" y="4782312"/>
            <a:ext cx="4892040" cy="347472"/>
          </a:xfrm>
          <a:prstGeom prst="rect">
            <a:avLst/>
          </a:prstGeom>
          <a:noFill/>
          <a:ln/>
        </p:spPr>
        <p:txBody>
          <a:bodyPr wrap="square" lIns="0" tIns="0" rIns="0" bIns="0" rtlCol="0" anchor="ctr">
            <a:normAutofit/>
          </a:bodyPr>
          <a:lstStyle/>
          <a:p>
            <a:pPr algn="l" indent="0" marL="0">
              <a:buNone/>
            </a:pPr>
            <a:r>
              <a:rPr lang="en-US" sz="1250" b="1" dirty="0">
                <a:solidFill>
                  <a:srgbClr val="111113"/>
                </a:solidFill>
                <a:latin typeface="Aptos" pitchFamily="34" charset="0"/>
                <a:ea typeface="Aptos" pitchFamily="34" charset="-122"/>
                <a:cs typeface="Aptos" pitchFamily="34" charset="-120"/>
              </a:rPr>
              <a:t>Fiber-based packaging</a:t>
            </a:r>
            <a:endParaRPr lang="en-US" sz="1250" dirty="0"/>
          </a:p>
        </p:txBody>
      </p:sp>
      <p:sp>
        <p:nvSpPr>
          <p:cNvPr id="20" name="Text 18"/>
          <p:cNvSpPr/>
          <p:nvPr/>
        </p:nvSpPr>
        <p:spPr>
          <a:xfrm>
            <a:off x="896112" y="5148072"/>
            <a:ext cx="4892040" cy="576072"/>
          </a:xfrm>
          <a:prstGeom prst="rect">
            <a:avLst/>
          </a:prstGeom>
          <a:noFill/>
          <a:ln/>
        </p:spPr>
        <p:txBody>
          <a:bodyPr wrap="square" lIns="0" tIns="0" rIns="0" bIns="0" rtlCol="0" anchor="t">
            <a:normAutofit/>
          </a:bodyPr>
          <a:lstStyle/>
          <a:p>
            <a:pPr algn="l" indent="0" marL="0">
              <a:buNone/>
            </a:pPr>
            <a:r>
              <a:rPr lang="en-US" sz="840" dirty="0">
                <a:solidFill>
                  <a:srgbClr val="5F6368"/>
                </a:solidFill>
                <a:latin typeface="Aptos" pitchFamily="34" charset="0"/>
                <a:ea typeface="Aptos" pitchFamily="34" charset="-122"/>
                <a:cs typeface="Aptos" pitchFamily="34" charset="-120"/>
              </a:rPr>
              <a:t>Every package manufactured today; residual prior inventory was &lt;0.4% of FY25 packaging.</a:t>
            </a:r>
            <a:endParaRPr lang="en-US" sz="840" dirty="0"/>
          </a:p>
        </p:txBody>
      </p:sp>
      <p:sp>
        <p:nvSpPr>
          <p:cNvPr id="21" name="Shape 19"/>
          <p:cNvSpPr/>
          <p:nvPr/>
        </p:nvSpPr>
        <p:spPr>
          <a:xfrm>
            <a:off x="6172200" y="3840480"/>
            <a:ext cx="5394960" cy="2075688"/>
          </a:xfrm>
          <a:prstGeom prst="roundRect">
            <a:avLst>
              <a:gd name="adj" fmla="val 5286"/>
            </a:avLst>
          </a:prstGeom>
          <a:solidFill>
            <a:srgbClr val="FFFFFF"/>
          </a:solidFill>
          <a:ln w="12700">
            <a:solidFill>
              <a:srgbClr val="D9DADD"/>
            </a:solidFill>
            <a:prstDash val="solid"/>
          </a:ln>
        </p:spPr>
      </p:sp>
      <p:sp>
        <p:nvSpPr>
          <p:cNvPr id="22" name="Shape 20"/>
          <p:cNvSpPr/>
          <p:nvPr/>
        </p:nvSpPr>
        <p:spPr>
          <a:xfrm>
            <a:off x="6172200" y="3840480"/>
            <a:ext cx="64008" cy="2075688"/>
          </a:xfrm>
          <a:prstGeom prst="rect">
            <a:avLst/>
          </a:prstGeom>
          <a:solidFill>
            <a:srgbClr val="2CB7A7"/>
          </a:solidFill>
          <a:ln w="12700">
            <a:solidFill>
              <a:srgbClr val="2CB7A7">
                <a:alpha val="0"/>
              </a:srgbClr>
            </a:solidFill>
            <a:prstDash val="solid"/>
          </a:ln>
        </p:spPr>
      </p:sp>
      <p:sp>
        <p:nvSpPr>
          <p:cNvPr id="23" name="Text 21"/>
          <p:cNvSpPr/>
          <p:nvPr/>
        </p:nvSpPr>
        <p:spPr>
          <a:xfrm>
            <a:off x="6446520" y="4087368"/>
            <a:ext cx="4892040" cy="640080"/>
          </a:xfrm>
          <a:prstGeom prst="rect">
            <a:avLst/>
          </a:prstGeom>
          <a:noFill/>
          <a:ln/>
        </p:spPr>
        <p:txBody>
          <a:bodyPr wrap="square" lIns="0" tIns="0" rIns="0" bIns="0" rtlCol="0" anchor="ctr">
            <a:normAutofit/>
          </a:bodyPr>
          <a:lstStyle/>
          <a:p>
            <a:pPr algn="l" indent="0" marL="0">
              <a:buNone/>
            </a:pPr>
            <a:r>
              <a:rPr lang="en-US" sz="3400" b="1" dirty="0">
                <a:solidFill>
                  <a:srgbClr val="2CB7A7"/>
                </a:solidFill>
                <a:latin typeface="Aptos" pitchFamily="34" charset="0"/>
                <a:ea typeface="Aptos" pitchFamily="34" charset="-122"/>
                <a:cs typeface="Aptos" pitchFamily="34" charset="-120"/>
              </a:rPr>
              <a:t>$4.7B</a:t>
            </a:r>
            <a:endParaRPr lang="en-US" sz="3400" dirty="0"/>
          </a:p>
        </p:txBody>
      </p:sp>
      <p:sp>
        <p:nvSpPr>
          <p:cNvPr id="24" name="Text 22"/>
          <p:cNvSpPr/>
          <p:nvPr/>
        </p:nvSpPr>
        <p:spPr>
          <a:xfrm>
            <a:off x="6446520" y="4782312"/>
            <a:ext cx="4892040" cy="347472"/>
          </a:xfrm>
          <a:prstGeom prst="rect">
            <a:avLst/>
          </a:prstGeom>
          <a:noFill/>
          <a:ln/>
        </p:spPr>
        <p:txBody>
          <a:bodyPr wrap="square" lIns="0" tIns="0" rIns="0" bIns="0" rtlCol="0" anchor="ctr">
            <a:normAutofit/>
          </a:bodyPr>
          <a:lstStyle/>
          <a:p>
            <a:pPr algn="l" indent="0" marL="0">
              <a:buNone/>
            </a:pPr>
            <a:r>
              <a:rPr lang="en-US" sz="1250" b="1" dirty="0">
                <a:solidFill>
                  <a:srgbClr val="111113"/>
                </a:solidFill>
                <a:latin typeface="Aptos" pitchFamily="34" charset="0"/>
                <a:ea typeface="Aptos" pitchFamily="34" charset="-122"/>
                <a:cs typeface="Aptos" pitchFamily="34" charset="-120"/>
              </a:rPr>
              <a:t>Green bonds issued</a:t>
            </a:r>
            <a:endParaRPr lang="en-US" sz="1250" dirty="0"/>
          </a:p>
        </p:txBody>
      </p:sp>
      <p:sp>
        <p:nvSpPr>
          <p:cNvPr id="25" name="Text 23"/>
          <p:cNvSpPr/>
          <p:nvPr/>
        </p:nvSpPr>
        <p:spPr>
          <a:xfrm>
            <a:off x="6446520" y="5148072"/>
            <a:ext cx="4892040" cy="576072"/>
          </a:xfrm>
          <a:prstGeom prst="rect">
            <a:avLst/>
          </a:prstGeom>
          <a:noFill/>
          <a:ln/>
        </p:spPr>
        <p:txBody>
          <a:bodyPr wrap="square" lIns="0" tIns="0" rIns="0" bIns="0" rtlCol="0" anchor="t">
            <a:normAutofit/>
          </a:bodyPr>
          <a:lstStyle/>
          <a:p>
            <a:pPr algn="l" indent="0" marL="0">
              <a:buNone/>
            </a:pPr>
            <a:r>
              <a:rPr lang="en-US" sz="840" dirty="0">
                <a:solidFill>
                  <a:srgbClr val="5F6368"/>
                </a:solidFill>
                <a:latin typeface="Aptos" pitchFamily="34" charset="0"/>
                <a:ea typeface="Aptos" pitchFamily="34" charset="-122"/>
                <a:cs typeface="Aptos" pitchFamily="34" charset="-120"/>
              </a:rPr>
              <a:t>Long-term financing signal supporting clean energy, low-carbon manufacturing, and recycling innovation.</a:t>
            </a:r>
            <a:endParaRPr lang="en-US" sz="840" dirty="0"/>
          </a:p>
        </p:txBody>
      </p:sp>
      <p:sp>
        <p:nvSpPr>
          <p:cNvPr id="26" name="Text 24">
            <a:hlinkClick r:id="rId1" tooltip=""/>
          </p:cNvPr>
          <p:cNvSpPr/>
          <p:nvPr/>
        </p:nvSpPr>
        <p:spPr>
          <a:xfrm>
            <a:off x="594360" y="6245352"/>
            <a:ext cx="10881360" cy="128016"/>
          </a:xfrm>
          <a:prstGeom prst="rect">
            <a:avLst/>
          </a:prstGeom>
          <a:noFill/>
          <a:ln/>
        </p:spPr>
        <p:txBody>
          <a:bodyPr wrap="square" lIns="0" tIns="0" rIns="0" bIns="0" rtlCol="0" anchor="ctr">
            <a:normAutofit/>
          </a:bodyPr>
          <a:lstStyle/>
          <a:p>
            <a:pPr algn="l" indent="0" marL="0">
              <a:buNone/>
            </a:pPr>
            <a:r>
              <a:rPr lang="en-US" sz="570" i="1" u="sng" dirty="0">
                <a:solidFill>
                  <a:srgbClr val="77777C"/>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Apple 2026 Environmental Progress Report; Apple Newsroom (Apr. 16, 2026). Packaging claim excludes inks, coatings, and adhesives.</a:t>
            </a:r>
            <a:endParaRPr lang="en-US" sz="570" dirty="0"/>
          </a:p>
        </p:txBody>
      </p:sp>
      <p:sp>
        <p:nvSpPr>
          <p:cNvPr id="25" name="Slide Number Placeholder 0"/>
          <p:cNvSpPr>
            <a:spLocks noGrp="1"/>
          </p:cNvSpPr>
          <p:nvPr>
            <p:ph type="sldNum" sz="quarter" idx="4294967295"/>
          </p:nvPr>
        </p:nvSpPr>
        <p:spPr>
          <a:xfrm>
            <a:off x="11210544" y="6519672"/>
            <a:ext cx="411480" cy="146304"/>
          </a:xfrm>
          <a:prstGeom prst="rect">
            <a:avLst/>
          </a:prstGeom>
          <a:extLst>
            <a:ext uri="{C572A759-6A51-4108-AA02-DFA0A04FC94B}">
              <ma14:wrappingTextBoxFlag xmlns:ma14="http://schemas.microsoft.com/office/mac/drawingml/2011/main" val="0"/>
            </a:ext>
          </a:extLst>
        </p:spPr>
        <p:txBody>
          <a:bodyPr lIns="0" tIns="0" rIns="0" bIns="0"/>
          <a:lstStyle>
            <a:lvl1pPr>
              <a:defRPr sz="600">
                <a:solidFill>
                  <a:srgbClr val="6E6E73"/>
                </a:solidFill>
                <a:latin typeface="Aptos"/>
                <a:ea typeface="Aptos"/>
                <a:cs typeface="Apto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347472"/>
            <a:ext cx="4114800" cy="201168"/>
          </a:xfrm>
          <a:prstGeom prst="rect">
            <a:avLst/>
          </a:prstGeom>
          <a:noFill/>
          <a:ln/>
        </p:spPr>
        <p:txBody>
          <a:bodyPr wrap="square" lIns="0" tIns="0" rIns="0" bIns="0" rtlCol="0" anchor="ctr">
            <a:normAutofit/>
          </a:bodyPr>
          <a:lstStyle/>
          <a:p>
            <a:pPr algn="l" indent="0" marL="0">
              <a:buNone/>
            </a:pPr>
            <a:r>
              <a:rPr lang="en-US" sz="720" b="1" spc="135" kern="0" dirty="0">
                <a:solidFill>
                  <a:srgbClr val="086247"/>
                </a:solidFill>
                <a:latin typeface="Aptos" pitchFamily="34" charset="0"/>
                <a:ea typeface="Aptos" pitchFamily="34" charset="-122"/>
                <a:cs typeface="Aptos" pitchFamily="34" charset="-120"/>
              </a:rPr>
              <a:t>DE-RISKING THE BUSINESS</a:t>
            </a:r>
            <a:endParaRPr lang="en-US" sz="720" dirty="0"/>
          </a:p>
        </p:txBody>
      </p:sp>
      <p:sp>
        <p:nvSpPr>
          <p:cNvPr id="3" name="Text 1"/>
          <p:cNvSpPr/>
          <p:nvPr/>
        </p:nvSpPr>
        <p:spPr>
          <a:xfrm>
            <a:off x="594360" y="649224"/>
            <a:ext cx="8046720" cy="548640"/>
          </a:xfrm>
          <a:prstGeom prst="rect">
            <a:avLst/>
          </a:prstGeom>
          <a:noFill/>
          <a:ln/>
        </p:spPr>
        <p:txBody>
          <a:bodyPr wrap="square" lIns="0" tIns="0" rIns="0" bIns="0" rtlCol="0" anchor="ctr">
            <a:normAutofit/>
          </a:bodyPr>
          <a:lstStyle/>
          <a:p>
            <a:pPr algn="l" indent="0" marL="0">
              <a:buNone/>
            </a:pPr>
            <a:r>
              <a:rPr lang="en-US" sz="2600" b="1" dirty="0">
                <a:solidFill>
                  <a:srgbClr val="111113"/>
                </a:solidFill>
                <a:latin typeface="Aptos" pitchFamily="34" charset="0"/>
                <a:ea typeface="Aptos" pitchFamily="34" charset="-122"/>
                <a:cs typeface="Aptos" pitchFamily="34" charset="-120"/>
              </a:rPr>
              <a:t>Operational exposure is controlled; value-chain work is the moat.</a:t>
            </a:r>
            <a:endParaRPr lang="en-US" sz="2600" dirty="0"/>
          </a:p>
        </p:txBody>
      </p:sp>
      <p:sp>
        <p:nvSpPr>
          <p:cNvPr id="4" name="Text 2"/>
          <p:cNvSpPr/>
          <p:nvPr/>
        </p:nvSpPr>
        <p:spPr>
          <a:xfrm>
            <a:off x="8961120" y="612648"/>
            <a:ext cx="2651760" cy="502920"/>
          </a:xfrm>
          <a:prstGeom prst="rect">
            <a:avLst/>
          </a:prstGeom>
          <a:noFill/>
          <a:ln/>
        </p:spPr>
        <p:txBody>
          <a:bodyPr wrap="square" lIns="0" tIns="0" rIns="0" bIns="0" rtlCol="0" anchor="b">
            <a:normAutofit/>
          </a:bodyPr>
          <a:lstStyle/>
          <a:p>
            <a:pPr algn="r" indent="0" marL="0">
              <a:buNone/>
            </a:pPr>
            <a:r>
              <a:rPr lang="en-US" sz="950" dirty="0">
                <a:solidFill>
                  <a:srgbClr val="5F6368"/>
                </a:solidFill>
                <a:latin typeface="Aptos" pitchFamily="34" charset="0"/>
                <a:ea typeface="Aptos" pitchFamily="34" charset="-122"/>
                <a:cs typeface="Aptos" pitchFamily="34" charset="-120"/>
              </a:rPr>
              <a:t>SCOPE 3 READINESS IS A PROCUREMENT ADVANTAGE</a:t>
            </a:r>
            <a:endParaRPr lang="en-US" sz="950" dirty="0"/>
          </a:p>
        </p:txBody>
      </p:sp>
      <p:sp>
        <p:nvSpPr>
          <p:cNvPr id="5" name="Shape 3"/>
          <p:cNvSpPr/>
          <p:nvPr/>
        </p:nvSpPr>
        <p:spPr>
          <a:xfrm>
            <a:off x="594360" y="1298448"/>
            <a:ext cx="11018520" cy="0"/>
          </a:xfrm>
          <a:prstGeom prst="line">
            <a:avLst/>
          </a:prstGeom>
          <a:noFill/>
          <a:ln w="12700">
            <a:solidFill>
              <a:srgbClr val="D9DADD"/>
            </a:solidFill>
            <a:prstDash val="solid"/>
            <a:headEnd type="none"/>
            <a:tailEnd type="none"/>
          </a:ln>
        </p:spPr>
      </p:sp>
      <p:sp>
        <p:nvSpPr>
          <p:cNvPr id="6" name="Shape 4"/>
          <p:cNvSpPr/>
          <p:nvPr/>
        </p:nvSpPr>
        <p:spPr>
          <a:xfrm>
            <a:off x="621792" y="1572768"/>
            <a:ext cx="4617720" cy="4389120"/>
          </a:xfrm>
          <a:prstGeom prst="roundRect">
            <a:avLst>
              <a:gd name="adj" fmla="val 2500"/>
            </a:avLst>
          </a:prstGeom>
          <a:solidFill>
            <a:srgbClr val="FFFFFF"/>
          </a:solidFill>
          <a:ln w="12700">
            <a:solidFill>
              <a:srgbClr val="D9DADD"/>
            </a:solidFill>
            <a:prstDash val="solid"/>
          </a:ln>
        </p:spPr>
      </p:sp>
      <p:sp>
        <p:nvSpPr>
          <p:cNvPr id="7" name="Shape 5"/>
          <p:cNvSpPr/>
          <p:nvPr/>
        </p:nvSpPr>
        <p:spPr>
          <a:xfrm>
            <a:off x="932688" y="1856232"/>
            <a:ext cx="1115568" cy="274320"/>
          </a:xfrm>
          <a:prstGeom prst="roundRect">
            <a:avLst>
              <a:gd name="adj" fmla="val 26667"/>
            </a:avLst>
          </a:prstGeom>
          <a:solidFill>
            <a:srgbClr val="DDF5EA"/>
          </a:solidFill>
          <a:ln w="12700">
            <a:solidFill>
              <a:srgbClr val="DDF5EA">
                <a:alpha val="0"/>
              </a:srgbClr>
            </a:solidFill>
            <a:prstDash val="solid"/>
          </a:ln>
        </p:spPr>
      </p:sp>
      <p:sp>
        <p:nvSpPr>
          <p:cNvPr id="8" name="Text 6"/>
          <p:cNvSpPr/>
          <p:nvPr/>
        </p:nvSpPr>
        <p:spPr>
          <a:xfrm>
            <a:off x="1005840" y="1874520"/>
            <a:ext cx="969264" cy="219456"/>
          </a:xfrm>
          <a:prstGeom prst="rect">
            <a:avLst/>
          </a:prstGeom>
          <a:noFill/>
          <a:ln/>
        </p:spPr>
        <p:txBody>
          <a:bodyPr wrap="square" lIns="0" tIns="0" rIns="0" bIns="0" rtlCol="0" anchor="ctr">
            <a:normAutofit/>
          </a:bodyPr>
          <a:lstStyle/>
          <a:p>
            <a:pPr algn="ctr" indent="0" marL="0">
              <a:buNone/>
            </a:pPr>
            <a:r>
              <a:rPr lang="en-US" sz="650" b="1" spc="80" kern="0" dirty="0">
                <a:solidFill>
                  <a:srgbClr val="086247"/>
                </a:solidFill>
                <a:latin typeface="Aptos" pitchFamily="34" charset="0"/>
                <a:ea typeface="Aptos" pitchFamily="34" charset="-122"/>
                <a:cs typeface="Aptos" pitchFamily="34" charset="-120"/>
              </a:rPr>
              <a:t>ACHIEVED</a:t>
            </a:r>
            <a:endParaRPr lang="en-US" sz="650" dirty="0"/>
          </a:p>
        </p:txBody>
      </p:sp>
      <p:sp>
        <p:nvSpPr>
          <p:cNvPr id="9" name="Text 7"/>
          <p:cNvSpPr/>
          <p:nvPr/>
        </p:nvSpPr>
        <p:spPr>
          <a:xfrm>
            <a:off x="932688" y="2286000"/>
            <a:ext cx="3566160" cy="310896"/>
          </a:xfrm>
          <a:prstGeom prst="rect">
            <a:avLst/>
          </a:prstGeom>
          <a:noFill/>
          <a:ln/>
        </p:spPr>
        <p:txBody>
          <a:bodyPr wrap="square" lIns="0" tIns="0" rIns="0" bIns="0" rtlCol="0" anchor="ctr">
            <a:normAutofit/>
          </a:bodyPr>
          <a:lstStyle/>
          <a:p>
            <a:pPr algn="l" indent="0" marL="0">
              <a:buNone/>
            </a:pPr>
            <a:r>
              <a:rPr lang="en-US" sz="1300" b="1" dirty="0">
                <a:solidFill>
                  <a:srgbClr val="111113"/>
                </a:solidFill>
                <a:latin typeface="Aptos" pitchFamily="34" charset="0"/>
                <a:ea typeface="Aptos" pitchFamily="34" charset="-122"/>
                <a:cs typeface="Aptos" pitchFamily="34" charset="-120"/>
              </a:rPr>
              <a:t>Corporate operations</a:t>
            </a:r>
            <a:endParaRPr lang="en-US" sz="1300" dirty="0"/>
          </a:p>
        </p:txBody>
      </p:sp>
      <p:sp>
        <p:nvSpPr>
          <p:cNvPr id="10" name="Text 8"/>
          <p:cNvSpPr/>
          <p:nvPr/>
        </p:nvSpPr>
        <p:spPr>
          <a:xfrm>
            <a:off x="932688" y="2651760"/>
            <a:ext cx="3639312" cy="429768"/>
          </a:xfrm>
          <a:prstGeom prst="rect">
            <a:avLst/>
          </a:prstGeom>
          <a:noFill/>
          <a:ln/>
        </p:spPr>
        <p:txBody>
          <a:bodyPr wrap="square" lIns="0" tIns="0" rIns="0" bIns="0" rtlCol="0" anchor="ctr">
            <a:normAutofit/>
          </a:bodyPr>
          <a:lstStyle/>
          <a:p>
            <a:pPr algn="l" indent="0" marL="0">
              <a:buNone/>
            </a:pPr>
            <a:r>
              <a:rPr lang="en-US" sz="2150" b="1" dirty="0">
                <a:solidFill>
                  <a:srgbClr val="086247"/>
                </a:solidFill>
                <a:latin typeface="Aptos" pitchFamily="34" charset="0"/>
                <a:ea typeface="Aptos" pitchFamily="34" charset="-122"/>
                <a:cs typeface="Aptos" pitchFamily="34" charset="-120"/>
              </a:rPr>
              <a:t>Carbon neutral since 2020</a:t>
            </a:r>
            <a:endParaRPr lang="en-US" sz="2150" dirty="0"/>
          </a:p>
        </p:txBody>
      </p:sp>
      <p:sp>
        <p:nvSpPr>
          <p:cNvPr id="11" name="Shape 9"/>
          <p:cNvSpPr/>
          <p:nvPr/>
        </p:nvSpPr>
        <p:spPr>
          <a:xfrm>
            <a:off x="932688" y="3273552"/>
            <a:ext cx="3977640" cy="0"/>
          </a:xfrm>
          <a:prstGeom prst="line">
            <a:avLst/>
          </a:prstGeom>
          <a:noFill/>
          <a:ln w="12700">
            <a:solidFill>
              <a:srgbClr val="D9DADD"/>
            </a:solidFill>
            <a:prstDash val="solid"/>
            <a:headEnd type="none"/>
            <a:tailEnd type="none"/>
          </a:ln>
        </p:spPr>
      </p:sp>
      <p:sp>
        <p:nvSpPr>
          <p:cNvPr id="12" name="Shape 10"/>
          <p:cNvSpPr/>
          <p:nvPr/>
        </p:nvSpPr>
        <p:spPr>
          <a:xfrm>
            <a:off x="932688" y="3566160"/>
            <a:ext cx="969264" cy="274320"/>
          </a:xfrm>
          <a:prstGeom prst="roundRect">
            <a:avLst>
              <a:gd name="adj" fmla="val 26667"/>
            </a:avLst>
          </a:prstGeom>
          <a:solidFill>
            <a:srgbClr val="E7EFEA"/>
          </a:solidFill>
          <a:ln w="12700">
            <a:solidFill>
              <a:srgbClr val="E7EFEA">
                <a:alpha val="0"/>
              </a:srgbClr>
            </a:solidFill>
            <a:prstDash val="solid"/>
          </a:ln>
        </p:spPr>
      </p:sp>
      <p:sp>
        <p:nvSpPr>
          <p:cNvPr id="13" name="Text 11"/>
          <p:cNvSpPr/>
          <p:nvPr/>
        </p:nvSpPr>
        <p:spPr>
          <a:xfrm>
            <a:off x="1005840" y="3584448"/>
            <a:ext cx="822960" cy="219456"/>
          </a:xfrm>
          <a:prstGeom prst="rect">
            <a:avLst/>
          </a:prstGeom>
          <a:noFill/>
          <a:ln/>
        </p:spPr>
        <p:txBody>
          <a:bodyPr wrap="square" lIns="0" tIns="0" rIns="0" bIns="0" rtlCol="0" anchor="ctr">
            <a:normAutofit/>
          </a:bodyPr>
          <a:lstStyle/>
          <a:p>
            <a:pPr algn="ctr" indent="0" marL="0">
              <a:buNone/>
            </a:pPr>
            <a:r>
              <a:rPr lang="en-US" sz="650" b="1" spc="80" kern="0" dirty="0">
                <a:solidFill>
                  <a:srgbClr val="5F6368"/>
                </a:solidFill>
                <a:latin typeface="Aptos" pitchFamily="34" charset="0"/>
                <a:ea typeface="Aptos" pitchFamily="34" charset="-122"/>
                <a:cs typeface="Aptos" pitchFamily="34" charset="-120"/>
              </a:rPr>
              <a:t>TARGET</a:t>
            </a:r>
            <a:endParaRPr lang="en-US" sz="650" dirty="0"/>
          </a:p>
        </p:txBody>
      </p:sp>
      <p:sp>
        <p:nvSpPr>
          <p:cNvPr id="14" name="Text 12"/>
          <p:cNvSpPr/>
          <p:nvPr/>
        </p:nvSpPr>
        <p:spPr>
          <a:xfrm>
            <a:off x="932688" y="3995928"/>
            <a:ext cx="3566160" cy="310896"/>
          </a:xfrm>
          <a:prstGeom prst="rect">
            <a:avLst/>
          </a:prstGeom>
          <a:noFill/>
          <a:ln/>
        </p:spPr>
        <p:txBody>
          <a:bodyPr wrap="square" lIns="0" tIns="0" rIns="0" bIns="0" rtlCol="0" anchor="ctr">
            <a:normAutofit/>
          </a:bodyPr>
          <a:lstStyle/>
          <a:p>
            <a:pPr algn="l" indent="0" marL="0">
              <a:buNone/>
            </a:pPr>
            <a:r>
              <a:rPr lang="en-US" sz="1300" b="1" dirty="0">
                <a:solidFill>
                  <a:srgbClr val="111113"/>
                </a:solidFill>
                <a:latin typeface="Aptos" pitchFamily="34" charset="0"/>
                <a:ea typeface="Aptos" pitchFamily="34" charset="-122"/>
                <a:cs typeface="Aptos" pitchFamily="34" charset="-120"/>
              </a:rPr>
              <a:t>Full value chain</a:t>
            </a:r>
            <a:endParaRPr lang="en-US" sz="1300" dirty="0"/>
          </a:p>
        </p:txBody>
      </p:sp>
      <p:sp>
        <p:nvSpPr>
          <p:cNvPr id="15" name="Text 13"/>
          <p:cNvSpPr/>
          <p:nvPr/>
        </p:nvSpPr>
        <p:spPr>
          <a:xfrm>
            <a:off x="932688" y="4343400"/>
            <a:ext cx="3749040" cy="411480"/>
          </a:xfrm>
          <a:prstGeom prst="rect">
            <a:avLst/>
          </a:prstGeom>
          <a:noFill/>
          <a:ln/>
        </p:spPr>
        <p:txBody>
          <a:bodyPr wrap="square" lIns="0" tIns="0" rIns="0" bIns="0" rtlCol="0" anchor="ctr">
            <a:normAutofit/>
          </a:bodyPr>
          <a:lstStyle/>
          <a:p>
            <a:pPr algn="l" indent="0" marL="0">
              <a:buNone/>
            </a:pPr>
            <a:r>
              <a:rPr lang="en-US" sz="2100" b="1" dirty="0">
                <a:solidFill>
                  <a:srgbClr val="0A8F62"/>
                </a:solidFill>
                <a:latin typeface="Aptos" pitchFamily="34" charset="0"/>
                <a:ea typeface="Aptos" pitchFamily="34" charset="-122"/>
                <a:cs typeface="Aptos" pitchFamily="34" charset="-120"/>
              </a:rPr>
              <a:t>&gt;60% lower gross emissions</a:t>
            </a:r>
            <a:endParaRPr lang="en-US" sz="2100" dirty="0"/>
          </a:p>
        </p:txBody>
      </p:sp>
      <p:sp>
        <p:nvSpPr>
          <p:cNvPr id="16" name="Text 14"/>
          <p:cNvSpPr/>
          <p:nvPr/>
        </p:nvSpPr>
        <p:spPr>
          <a:xfrm>
            <a:off x="932688" y="4809744"/>
            <a:ext cx="3840480" cy="310896"/>
          </a:xfrm>
          <a:prstGeom prst="rect">
            <a:avLst/>
          </a:prstGeom>
          <a:noFill/>
          <a:ln/>
        </p:spPr>
        <p:txBody>
          <a:bodyPr wrap="square" lIns="0" tIns="0" rIns="0" bIns="0" rtlCol="0" anchor="ctr">
            <a:normAutofit/>
          </a:bodyPr>
          <a:lstStyle/>
          <a:p>
            <a:pPr algn="l" indent="0" marL="0">
              <a:buNone/>
            </a:pPr>
            <a:r>
              <a:rPr lang="en-US" sz="930" dirty="0">
                <a:solidFill>
                  <a:srgbClr val="5F6368"/>
                </a:solidFill>
                <a:latin typeface="Aptos" pitchFamily="34" charset="0"/>
                <a:ea typeface="Aptos" pitchFamily="34" charset="-122"/>
                <a:cs typeface="Aptos" pitchFamily="34" charset="-120"/>
              </a:rPr>
              <a:t>vs. 2015  •  75% reduction target by 2030</a:t>
            </a:r>
            <a:endParaRPr lang="en-US" sz="930" dirty="0"/>
          </a:p>
        </p:txBody>
      </p:sp>
      <p:sp>
        <p:nvSpPr>
          <p:cNvPr id="17" name="Text 15"/>
          <p:cNvSpPr/>
          <p:nvPr/>
        </p:nvSpPr>
        <p:spPr>
          <a:xfrm>
            <a:off x="932688" y="5340096"/>
            <a:ext cx="3840480" cy="301752"/>
          </a:xfrm>
          <a:prstGeom prst="rect">
            <a:avLst/>
          </a:prstGeom>
          <a:noFill/>
          <a:ln/>
        </p:spPr>
        <p:txBody>
          <a:bodyPr wrap="square" lIns="0" tIns="0" rIns="0" bIns="0" rtlCol="0" anchor="ctr">
            <a:normAutofit/>
          </a:bodyPr>
          <a:lstStyle/>
          <a:p>
            <a:pPr algn="l" indent="0" marL="0">
              <a:buNone/>
            </a:pPr>
            <a:r>
              <a:rPr lang="en-US" sz="1030" b="1" dirty="0">
                <a:solidFill>
                  <a:srgbClr val="111113"/>
                </a:solidFill>
                <a:latin typeface="Aptos" pitchFamily="34" charset="0"/>
                <a:ea typeface="Aptos" pitchFamily="34" charset="-122"/>
                <a:cs typeface="Aptos" pitchFamily="34" charset="-120"/>
              </a:rPr>
              <a:t>All 8 Apple-owned data centers are AWS-certified.</a:t>
            </a:r>
            <a:endParaRPr lang="en-US" sz="1030" dirty="0"/>
          </a:p>
        </p:txBody>
      </p:sp>
      <p:graphicFrame>
        <p:nvGraphicFramePr>
          <p:cNvPr id="18" name="Chart 0" descr=""/>
          <p:cNvGraphicFramePr/>
          <p:nvPr/>
        </p:nvGraphicFramePr>
        <p:xfrm>
          <a:off x="5632704" y="1664208"/>
          <a:ext cx="2423160" cy="242316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p:nvPr/>
        </p:nvSpPr>
        <p:spPr>
          <a:xfrm>
            <a:off x="6153912" y="2404872"/>
            <a:ext cx="1371600" cy="475488"/>
          </a:xfrm>
          <a:prstGeom prst="rect">
            <a:avLst/>
          </a:prstGeom>
          <a:noFill/>
          <a:ln/>
        </p:spPr>
        <p:txBody>
          <a:bodyPr wrap="square" lIns="0" tIns="0" rIns="0" bIns="0" rtlCol="0" anchor="ctr">
            <a:normAutofit/>
          </a:bodyPr>
          <a:lstStyle/>
          <a:p>
            <a:pPr algn="ctr" indent="0" marL="0">
              <a:buNone/>
            </a:pPr>
            <a:r>
              <a:rPr lang="en-US" sz="2600" b="1" dirty="0">
                <a:solidFill>
                  <a:srgbClr val="086247"/>
                </a:solidFill>
                <a:latin typeface="Aptos" pitchFamily="34" charset="0"/>
                <a:ea typeface="Aptos" pitchFamily="34" charset="-122"/>
                <a:cs typeface="Aptos" pitchFamily="34" charset="-120"/>
              </a:rPr>
              <a:t>100%</a:t>
            </a:r>
            <a:endParaRPr lang="en-US" sz="2600" dirty="0"/>
          </a:p>
        </p:txBody>
      </p:sp>
      <p:sp>
        <p:nvSpPr>
          <p:cNvPr id="20" name="Text 17"/>
          <p:cNvSpPr/>
          <p:nvPr/>
        </p:nvSpPr>
        <p:spPr>
          <a:xfrm>
            <a:off x="6117336" y="2898648"/>
            <a:ext cx="1463040" cy="201168"/>
          </a:xfrm>
          <a:prstGeom prst="rect">
            <a:avLst/>
          </a:prstGeom>
          <a:noFill/>
          <a:ln/>
        </p:spPr>
        <p:txBody>
          <a:bodyPr wrap="square" lIns="0" tIns="0" rIns="0" bIns="0" rtlCol="0" anchor="ctr">
            <a:normAutofit/>
          </a:bodyPr>
          <a:lstStyle/>
          <a:p>
            <a:pPr algn="ctr" indent="0" marL="0">
              <a:buNone/>
            </a:pPr>
            <a:r>
              <a:rPr lang="en-US" sz="660" b="1" spc="80" kern="0" dirty="0">
                <a:solidFill>
                  <a:srgbClr val="5F6368"/>
                </a:solidFill>
                <a:latin typeface="Aptos" pitchFamily="34" charset="0"/>
                <a:ea typeface="Aptos" pitchFamily="34" charset="-122"/>
                <a:cs typeface="Aptos" pitchFamily="34" charset="-120"/>
              </a:rPr>
              <a:t>OPERATIONS</a:t>
            </a:r>
            <a:endParaRPr lang="en-US" sz="660" dirty="0"/>
          </a:p>
        </p:txBody>
      </p:sp>
      <p:graphicFrame>
        <p:nvGraphicFramePr>
          <p:cNvPr id="21" name="Chart 1" descr=""/>
          <p:cNvGraphicFramePr/>
          <p:nvPr/>
        </p:nvGraphicFramePr>
        <p:xfrm>
          <a:off x="8714232" y="1664208"/>
          <a:ext cx="2423160" cy="2423160"/>
        </p:xfrm>
        <a:graphic xmlns:a="http://schemas.openxmlformats.org/drawingml/2006/main">
          <a:graphicData uri="http://schemas.openxmlformats.org/drawingml/2006/chart">
            <c:chart xmlns:c="http://schemas.openxmlformats.org/drawingml/2006/chart" r:id="rId2"/>
          </a:graphicData>
        </a:graphic>
      </p:graphicFrame>
      <p:sp>
        <p:nvSpPr>
          <p:cNvPr id="22" name="Text 18"/>
          <p:cNvSpPr/>
          <p:nvPr/>
        </p:nvSpPr>
        <p:spPr>
          <a:xfrm>
            <a:off x="9171432" y="2404872"/>
            <a:ext cx="1508760" cy="475488"/>
          </a:xfrm>
          <a:prstGeom prst="rect">
            <a:avLst/>
          </a:prstGeom>
          <a:noFill/>
          <a:ln/>
        </p:spPr>
        <p:txBody>
          <a:bodyPr wrap="square" lIns="0" tIns="0" rIns="0" bIns="0" rtlCol="0" anchor="ctr">
            <a:normAutofit/>
          </a:bodyPr>
          <a:lstStyle/>
          <a:p>
            <a:pPr algn="ctr" indent="0" marL="0">
              <a:buNone/>
            </a:pPr>
            <a:r>
              <a:rPr lang="en-US" sz="2500" b="1" dirty="0">
                <a:solidFill>
                  <a:srgbClr val="0A8F62"/>
                </a:solidFill>
                <a:latin typeface="Aptos" pitchFamily="34" charset="0"/>
                <a:ea typeface="Aptos" pitchFamily="34" charset="-122"/>
                <a:cs typeface="Aptos" pitchFamily="34" charset="-120"/>
              </a:rPr>
              <a:t>&gt;60%</a:t>
            </a:r>
            <a:endParaRPr lang="en-US" sz="2500" dirty="0"/>
          </a:p>
        </p:txBody>
      </p:sp>
      <p:sp>
        <p:nvSpPr>
          <p:cNvPr id="23" name="Text 19"/>
          <p:cNvSpPr/>
          <p:nvPr/>
        </p:nvSpPr>
        <p:spPr>
          <a:xfrm>
            <a:off x="9171432" y="2898648"/>
            <a:ext cx="1508760" cy="201168"/>
          </a:xfrm>
          <a:prstGeom prst="rect">
            <a:avLst/>
          </a:prstGeom>
          <a:noFill/>
          <a:ln/>
        </p:spPr>
        <p:txBody>
          <a:bodyPr wrap="square" lIns="0" tIns="0" rIns="0" bIns="0" rtlCol="0" anchor="ctr">
            <a:normAutofit/>
          </a:bodyPr>
          <a:lstStyle/>
          <a:p>
            <a:pPr algn="ctr" indent="0" marL="0">
              <a:buNone/>
            </a:pPr>
            <a:r>
              <a:rPr lang="en-US" sz="660" b="1" spc="80" kern="0" dirty="0">
                <a:solidFill>
                  <a:srgbClr val="5F6368"/>
                </a:solidFill>
                <a:latin typeface="Aptos" pitchFamily="34" charset="0"/>
                <a:ea typeface="Aptos" pitchFamily="34" charset="-122"/>
                <a:cs typeface="Aptos" pitchFamily="34" charset="-120"/>
              </a:rPr>
              <a:t>VS. 2015</a:t>
            </a:r>
            <a:endParaRPr lang="en-US" sz="660" dirty="0"/>
          </a:p>
        </p:txBody>
      </p:sp>
      <p:sp>
        <p:nvSpPr>
          <p:cNvPr id="24" name="Shape 20"/>
          <p:cNvSpPr/>
          <p:nvPr/>
        </p:nvSpPr>
        <p:spPr>
          <a:xfrm>
            <a:off x="5806440" y="4315968"/>
            <a:ext cx="5230368" cy="1389888"/>
          </a:xfrm>
          <a:prstGeom prst="roundRect">
            <a:avLst>
              <a:gd name="adj" fmla="val 7895"/>
            </a:avLst>
          </a:prstGeom>
          <a:solidFill>
            <a:srgbClr val="086247"/>
          </a:solidFill>
          <a:ln w="12700">
            <a:solidFill>
              <a:srgbClr val="086247"/>
            </a:solidFill>
            <a:prstDash val="solid"/>
          </a:ln>
        </p:spPr>
      </p:sp>
      <p:sp>
        <p:nvSpPr>
          <p:cNvPr id="25" name="Text 21"/>
          <p:cNvSpPr/>
          <p:nvPr/>
        </p:nvSpPr>
        <p:spPr>
          <a:xfrm>
            <a:off x="6080760" y="4535424"/>
            <a:ext cx="1783080" cy="182880"/>
          </a:xfrm>
          <a:prstGeom prst="rect">
            <a:avLst/>
          </a:prstGeom>
          <a:noFill/>
          <a:ln/>
        </p:spPr>
        <p:txBody>
          <a:bodyPr wrap="square" lIns="0" tIns="0" rIns="0" bIns="0" rtlCol="0" anchor="ctr">
            <a:normAutofit/>
          </a:bodyPr>
          <a:lstStyle/>
          <a:p>
            <a:pPr algn="l" indent="0" marL="0">
              <a:buNone/>
            </a:pPr>
            <a:r>
              <a:rPr lang="en-US" sz="640" b="1" spc="100" kern="0" dirty="0">
                <a:solidFill>
                  <a:srgbClr val="B9F240"/>
                </a:solidFill>
                <a:latin typeface="Aptos" pitchFamily="34" charset="0"/>
                <a:ea typeface="Aptos" pitchFamily="34" charset="-122"/>
                <a:cs typeface="Aptos" pitchFamily="34" charset="-120"/>
              </a:rPr>
              <a:t>BOARD IMPLICATION</a:t>
            </a:r>
            <a:endParaRPr lang="en-US" sz="640" dirty="0"/>
          </a:p>
        </p:txBody>
      </p:sp>
      <p:sp>
        <p:nvSpPr>
          <p:cNvPr id="26" name="Text 22"/>
          <p:cNvSpPr/>
          <p:nvPr/>
        </p:nvSpPr>
        <p:spPr>
          <a:xfrm>
            <a:off x="6080760" y="4828032"/>
            <a:ext cx="4553712" cy="566928"/>
          </a:xfrm>
          <a:prstGeom prst="rect">
            <a:avLst/>
          </a:prstGeom>
          <a:noFill/>
          <a:ln/>
        </p:spPr>
        <p:txBody>
          <a:bodyPr wrap="square" lIns="0" tIns="0" rIns="0" bIns="0" rtlCol="0" anchor="t">
            <a:normAutofit/>
          </a:bodyPr>
          <a:lstStyle/>
          <a:p>
            <a:pPr algn="l" indent="0" marL="0">
              <a:buNone/>
            </a:pPr>
            <a:r>
              <a:rPr lang="en-US" sz="1200" b="1" dirty="0">
                <a:solidFill>
                  <a:srgbClr val="FFFFFF"/>
                </a:solidFill>
                <a:latin typeface="Aptos" pitchFamily="34" charset="0"/>
                <a:ea typeface="Aptos" pitchFamily="34" charset="-122"/>
                <a:cs typeface="Aptos" pitchFamily="34" charset="-120"/>
              </a:rPr>
              <a:t>Scope 3 evidence arrives before procurement mandates — reducing regulatory friction and strengthening RFP credibility.</a:t>
            </a:r>
            <a:endParaRPr lang="en-US" sz="1200" dirty="0"/>
          </a:p>
        </p:txBody>
      </p:sp>
      <p:sp>
        <p:nvSpPr>
          <p:cNvPr id="27" name="Text 23">
            <a:hlinkClick r:id="rId3" tooltip=""/>
          </p:cNvPr>
          <p:cNvSpPr/>
          <p:nvPr/>
        </p:nvSpPr>
        <p:spPr>
          <a:xfrm>
            <a:off x="594360" y="6245352"/>
            <a:ext cx="10881360" cy="128016"/>
          </a:xfrm>
          <a:prstGeom prst="rect">
            <a:avLst/>
          </a:prstGeom>
          <a:noFill/>
          <a:ln/>
        </p:spPr>
        <p:txBody>
          <a:bodyPr wrap="square" lIns="0" tIns="0" rIns="0" bIns="0" rtlCol="0" anchor="ctr">
            <a:normAutofit/>
          </a:bodyPr>
          <a:lstStyle/>
          <a:p>
            <a:pPr algn="l" indent="0" marL="0">
              <a:buNone/>
            </a:pPr>
            <a:r>
              <a:rPr lang="en-US" sz="570" i="1" u="sng" dirty="0">
                <a:solidFill>
                  <a:srgbClr val="77777C"/>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Source: Apple 2026 Environmental Progress Report, pp. 10–12; Apple Newsroom (Apr. 16, 2026).</a:t>
            </a:r>
            <a:endParaRPr lang="en-US" sz="570" dirty="0"/>
          </a:p>
        </p:txBody>
      </p:sp>
      <p:sp>
        <p:nvSpPr>
          <p:cNvPr id="25" name="Slide Number Placeholder 0"/>
          <p:cNvSpPr>
            <a:spLocks noGrp="1"/>
          </p:cNvSpPr>
          <p:nvPr>
            <p:ph type="sldNum" sz="quarter" idx="4294967295"/>
          </p:nvPr>
        </p:nvSpPr>
        <p:spPr>
          <a:xfrm>
            <a:off x="11210544" y="6519672"/>
            <a:ext cx="411480" cy="146304"/>
          </a:xfrm>
          <a:prstGeom prst="rect">
            <a:avLst/>
          </a:prstGeom>
          <a:extLst>
            <a:ext uri="{C572A759-6A51-4108-AA02-DFA0A04FC94B}">
              <ma14:wrappingTextBoxFlag xmlns:ma14="http://schemas.microsoft.com/office/mac/drawingml/2011/main" val="0"/>
            </a:ext>
          </a:extLst>
        </p:spPr>
        <p:txBody>
          <a:bodyPr lIns="0" tIns="0" rIns="0" bIns="0"/>
          <a:lstStyle>
            <a:lvl1pPr>
              <a:defRPr sz="600">
                <a:solidFill>
                  <a:srgbClr val="6E6E73"/>
                </a:solidFill>
                <a:latin typeface="Aptos"/>
                <a:ea typeface="Aptos"/>
                <a:cs typeface="Apto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347472"/>
            <a:ext cx="4114800" cy="201168"/>
          </a:xfrm>
          <a:prstGeom prst="rect">
            <a:avLst/>
          </a:prstGeom>
          <a:noFill/>
          <a:ln/>
        </p:spPr>
        <p:txBody>
          <a:bodyPr wrap="square" lIns="0" tIns="0" rIns="0" bIns="0" rtlCol="0" anchor="ctr">
            <a:normAutofit/>
          </a:bodyPr>
          <a:lstStyle/>
          <a:p>
            <a:pPr algn="l" indent="0" marL="0">
              <a:buNone/>
            </a:pPr>
            <a:r>
              <a:rPr lang="en-US" sz="720" b="1" spc="135" kern="0" dirty="0">
                <a:solidFill>
                  <a:srgbClr val="086247"/>
                </a:solidFill>
                <a:latin typeface="Aptos" pitchFamily="34" charset="0"/>
                <a:ea typeface="Aptos" pitchFamily="34" charset="-122"/>
                <a:cs typeface="Aptos" pitchFamily="34" charset="-120"/>
              </a:rPr>
              <a:t>PREMIUM PRODUCTS, PREMIUM ETHICS</a:t>
            </a:r>
            <a:endParaRPr lang="en-US" sz="720" dirty="0"/>
          </a:p>
        </p:txBody>
      </p:sp>
      <p:sp>
        <p:nvSpPr>
          <p:cNvPr id="3" name="Text 1"/>
          <p:cNvSpPr/>
          <p:nvPr/>
        </p:nvSpPr>
        <p:spPr>
          <a:xfrm>
            <a:off x="594360" y="649224"/>
            <a:ext cx="8046720" cy="548640"/>
          </a:xfrm>
          <a:prstGeom prst="rect">
            <a:avLst/>
          </a:prstGeom>
          <a:noFill/>
          <a:ln/>
        </p:spPr>
        <p:txBody>
          <a:bodyPr wrap="square" lIns="0" tIns="0" rIns="0" bIns="0" rtlCol="0" anchor="ctr">
            <a:normAutofit/>
          </a:bodyPr>
          <a:lstStyle/>
          <a:p>
            <a:pPr algn="l" indent="0" marL="0">
              <a:buNone/>
            </a:pPr>
            <a:r>
              <a:rPr lang="en-US" sz="2600" b="1" dirty="0">
                <a:solidFill>
                  <a:srgbClr val="111113"/>
                </a:solidFill>
                <a:latin typeface="Aptos" pitchFamily="34" charset="0"/>
                <a:ea typeface="Aptos" pitchFamily="34" charset="-122"/>
                <a:cs typeface="Aptos" pitchFamily="34" charset="-120"/>
              </a:rPr>
              <a:t>The recycled-material story moves from claim to component.</a:t>
            </a:r>
            <a:endParaRPr lang="en-US" sz="2600" dirty="0"/>
          </a:p>
        </p:txBody>
      </p:sp>
      <p:sp>
        <p:nvSpPr>
          <p:cNvPr id="4" name="Text 2"/>
          <p:cNvSpPr/>
          <p:nvPr/>
        </p:nvSpPr>
        <p:spPr>
          <a:xfrm>
            <a:off x="8961120" y="612648"/>
            <a:ext cx="2651760" cy="502920"/>
          </a:xfrm>
          <a:prstGeom prst="rect">
            <a:avLst/>
          </a:prstGeom>
          <a:noFill/>
          <a:ln/>
        </p:spPr>
        <p:txBody>
          <a:bodyPr wrap="square" lIns="0" tIns="0" rIns="0" bIns="0" rtlCol="0" anchor="b">
            <a:normAutofit/>
          </a:bodyPr>
          <a:lstStyle/>
          <a:p>
            <a:pPr algn="r" indent="0" marL="0">
              <a:buNone/>
            </a:pPr>
            <a:r>
              <a:rPr lang="en-US" sz="950" dirty="0">
                <a:solidFill>
                  <a:srgbClr val="5F6368"/>
                </a:solidFill>
                <a:latin typeface="Aptos" pitchFamily="34" charset="0"/>
                <a:ea typeface="Aptos" pitchFamily="34" charset="-122"/>
                <a:cs typeface="Aptos" pitchFamily="34" charset="-120"/>
              </a:rPr>
              <a:t>A PRODUCT BENEFIT ENTERPRISE BUYERS CAN QUANTIFY</a:t>
            </a:r>
            <a:endParaRPr lang="en-US" sz="950" dirty="0"/>
          </a:p>
        </p:txBody>
      </p:sp>
      <p:sp>
        <p:nvSpPr>
          <p:cNvPr id="5" name="Shape 3"/>
          <p:cNvSpPr/>
          <p:nvPr/>
        </p:nvSpPr>
        <p:spPr>
          <a:xfrm>
            <a:off x="594360" y="1298448"/>
            <a:ext cx="11018520" cy="0"/>
          </a:xfrm>
          <a:prstGeom prst="line">
            <a:avLst/>
          </a:prstGeom>
          <a:noFill/>
          <a:ln w="12700">
            <a:solidFill>
              <a:srgbClr val="D9DADD"/>
            </a:solidFill>
            <a:prstDash val="solid"/>
            <a:headEnd type="none"/>
            <a:tailEnd type="none"/>
          </a:ln>
        </p:spPr>
      </p:sp>
      <p:sp>
        <p:nvSpPr>
          <p:cNvPr id="6" name="Shape 4"/>
          <p:cNvSpPr/>
          <p:nvPr/>
        </p:nvSpPr>
        <p:spPr>
          <a:xfrm>
            <a:off x="621792" y="1572768"/>
            <a:ext cx="6995160" cy="4443984"/>
          </a:xfrm>
          <a:prstGeom prst="roundRect">
            <a:avLst>
              <a:gd name="adj" fmla="val 2469"/>
            </a:avLst>
          </a:prstGeom>
          <a:solidFill>
            <a:srgbClr val="EEF1EF"/>
          </a:solidFill>
          <a:ln w="12700">
            <a:solidFill>
              <a:srgbClr val="E2E5E3"/>
            </a:solidFill>
            <a:prstDash val="solid"/>
          </a:ln>
        </p:spPr>
      </p:sp>
      <p:sp>
        <p:nvSpPr>
          <p:cNvPr id="7" name="Text 5"/>
          <p:cNvSpPr/>
          <p:nvPr/>
        </p:nvSpPr>
        <p:spPr>
          <a:xfrm>
            <a:off x="932688" y="1828800"/>
            <a:ext cx="4297680" cy="201168"/>
          </a:xfrm>
          <a:prstGeom prst="rect">
            <a:avLst/>
          </a:prstGeom>
          <a:noFill/>
          <a:ln/>
        </p:spPr>
        <p:txBody>
          <a:bodyPr wrap="square" lIns="0" tIns="0" rIns="0" bIns="0" rtlCol="0" anchor="ctr">
            <a:normAutofit/>
          </a:bodyPr>
          <a:lstStyle/>
          <a:p>
            <a:pPr algn="l" indent="0" marL="0">
              <a:buNone/>
            </a:pPr>
            <a:r>
              <a:rPr lang="en-US" sz="640" b="1" spc="90" kern="0" dirty="0">
                <a:solidFill>
                  <a:srgbClr val="5F6368"/>
                </a:solidFill>
                <a:latin typeface="Aptos" pitchFamily="34" charset="0"/>
                <a:ea typeface="Aptos" pitchFamily="34" charset="-122"/>
                <a:cs typeface="Aptos" pitchFamily="34" charset="-120"/>
              </a:rPr>
              <a:t>COMPONENT VIEW  |  SELECT APPLE-DESIGNED PARTS</a:t>
            </a:r>
            <a:endParaRPr lang="en-US" sz="640" dirty="0"/>
          </a:p>
        </p:txBody>
      </p:sp>
      <p:sp>
        <p:nvSpPr>
          <p:cNvPr id="8" name="Shape 6"/>
          <p:cNvSpPr/>
          <p:nvPr/>
        </p:nvSpPr>
        <p:spPr>
          <a:xfrm>
            <a:off x="978408" y="2304288"/>
            <a:ext cx="1856232" cy="3090672"/>
          </a:xfrm>
          <a:prstGeom prst="roundRect">
            <a:avLst>
              <a:gd name="adj" fmla="val 8867"/>
            </a:avLst>
          </a:prstGeom>
          <a:solidFill>
            <a:srgbClr val="D3D8D5"/>
          </a:solidFill>
          <a:ln w="12700">
            <a:solidFill>
              <a:srgbClr val="FFFFFF"/>
            </a:solidFill>
            <a:prstDash val="solid"/>
          </a:ln>
          <a:effectLst>
            <a:outerShdw sx="100000" sy="100000" kx="0" ky="0" algn="bl" rotWithShape="0" blurRad="25400" dist="50800" dir="2700000">
              <a:srgbClr val="000000">
                <a:alpha val="16000"/>
              </a:srgbClr>
            </a:outerShdw>
          </a:effectLst>
        </p:spPr>
      </p:sp>
      <p:sp>
        <p:nvSpPr>
          <p:cNvPr id="9" name="Shape 7"/>
          <p:cNvSpPr/>
          <p:nvPr/>
        </p:nvSpPr>
        <p:spPr>
          <a:xfrm>
            <a:off x="1152144" y="2523744"/>
            <a:ext cx="1508760" cy="2670048"/>
          </a:xfrm>
          <a:prstGeom prst="roundRect">
            <a:avLst>
              <a:gd name="adj" fmla="val 7879"/>
            </a:avLst>
          </a:prstGeom>
          <a:solidFill>
            <a:srgbClr val="173B2E"/>
          </a:solidFill>
          <a:ln w="12700">
            <a:solidFill>
              <a:srgbClr val="173B2E">
                <a:alpha val="0"/>
              </a:srgbClr>
            </a:solidFill>
            <a:prstDash val="solid"/>
          </a:ln>
        </p:spPr>
      </p:sp>
      <p:sp>
        <p:nvSpPr>
          <p:cNvPr id="10" name="Shape 8"/>
          <p:cNvSpPr/>
          <p:nvPr/>
        </p:nvSpPr>
        <p:spPr>
          <a:xfrm>
            <a:off x="3429000" y="2057400"/>
            <a:ext cx="1325880" cy="2148840"/>
          </a:xfrm>
          <a:prstGeom prst="roundRect">
            <a:avLst>
              <a:gd name="adj" fmla="val 6207"/>
            </a:avLst>
          </a:prstGeom>
          <a:solidFill>
            <a:srgbClr val="23312B"/>
          </a:solidFill>
          <a:ln w="12700">
            <a:solidFill>
              <a:srgbClr val="627068"/>
            </a:solidFill>
            <a:prstDash val="solid"/>
          </a:ln>
        </p:spPr>
      </p:sp>
      <p:sp>
        <p:nvSpPr>
          <p:cNvPr id="11" name="Text 9"/>
          <p:cNvSpPr/>
          <p:nvPr/>
        </p:nvSpPr>
        <p:spPr>
          <a:xfrm>
            <a:off x="3666744" y="2916936"/>
            <a:ext cx="868680" cy="182880"/>
          </a:xfrm>
          <a:prstGeom prst="rect">
            <a:avLst/>
          </a:prstGeom>
          <a:noFill/>
          <a:ln/>
        </p:spPr>
        <p:txBody>
          <a:bodyPr wrap="square" lIns="0" tIns="0" rIns="0" bIns="0" rtlCol="0" anchor="ctr">
            <a:normAutofit/>
          </a:bodyPr>
          <a:lstStyle/>
          <a:p>
            <a:pPr algn="ctr" indent="0" marL="0">
              <a:buNone/>
            </a:pPr>
            <a:r>
              <a:rPr lang="en-US" sz="680" b="1" dirty="0">
                <a:solidFill>
                  <a:srgbClr val="FFFFFF"/>
                </a:solidFill>
                <a:latin typeface="Aptos" pitchFamily="34" charset="0"/>
                <a:ea typeface="Aptos" pitchFamily="34" charset="-122"/>
                <a:cs typeface="Aptos" pitchFamily="34" charset="-120"/>
              </a:rPr>
              <a:t>BATTERY</a:t>
            </a:r>
            <a:endParaRPr lang="en-US" sz="680" dirty="0"/>
          </a:p>
        </p:txBody>
      </p:sp>
      <p:sp>
        <p:nvSpPr>
          <p:cNvPr id="12" name="Shape 10"/>
          <p:cNvSpPr/>
          <p:nvPr/>
        </p:nvSpPr>
        <p:spPr>
          <a:xfrm>
            <a:off x="5330952" y="2340864"/>
            <a:ext cx="457200" cy="457200"/>
          </a:xfrm>
          <a:prstGeom prst="ellipse">
            <a:avLst/>
          </a:prstGeom>
          <a:solidFill>
            <a:srgbClr val="8BAE9F"/>
          </a:solidFill>
          <a:ln w="12700">
            <a:solidFill>
              <a:srgbClr val="FFFFFF"/>
            </a:solidFill>
            <a:prstDash val="solid"/>
          </a:ln>
        </p:spPr>
      </p:sp>
      <p:sp>
        <p:nvSpPr>
          <p:cNvPr id="13" name="Shape 11"/>
          <p:cNvSpPr/>
          <p:nvPr/>
        </p:nvSpPr>
        <p:spPr>
          <a:xfrm>
            <a:off x="5623560" y="2395728"/>
            <a:ext cx="457200" cy="457200"/>
          </a:xfrm>
          <a:prstGeom prst="ellipse">
            <a:avLst/>
          </a:prstGeom>
          <a:solidFill>
            <a:srgbClr val="0A8F62"/>
          </a:solidFill>
          <a:ln w="12700">
            <a:solidFill>
              <a:srgbClr val="FFFFFF"/>
            </a:solidFill>
            <a:prstDash val="solid"/>
          </a:ln>
        </p:spPr>
      </p:sp>
      <p:sp>
        <p:nvSpPr>
          <p:cNvPr id="14" name="Shape 12"/>
          <p:cNvSpPr/>
          <p:nvPr/>
        </p:nvSpPr>
        <p:spPr>
          <a:xfrm>
            <a:off x="5916168" y="2450592"/>
            <a:ext cx="457200" cy="457200"/>
          </a:xfrm>
          <a:prstGeom prst="ellipse">
            <a:avLst/>
          </a:prstGeom>
          <a:solidFill>
            <a:srgbClr val="8BAE9F"/>
          </a:solidFill>
          <a:ln w="12700">
            <a:solidFill>
              <a:srgbClr val="FFFFFF"/>
            </a:solidFill>
            <a:prstDash val="solid"/>
          </a:ln>
        </p:spPr>
      </p:sp>
      <p:sp>
        <p:nvSpPr>
          <p:cNvPr id="15" name="Shape 13"/>
          <p:cNvSpPr/>
          <p:nvPr/>
        </p:nvSpPr>
        <p:spPr>
          <a:xfrm>
            <a:off x="5047488" y="3995928"/>
            <a:ext cx="1773936" cy="960120"/>
          </a:xfrm>
          <a:prstGeom prst="rect">
            <a:avLst/>
          </a:prstGeom>
          <a:solidFill>
            <a:srgbClr val="295C48"/>
          </a:solidFill>
          <a:ln w="12700">
            <a:solidFill>
              <a:srgbClr val="9CC7B4"/>
            </a:solidFill>
            <a:prstDash val="solid"/>
          </a:ln>
        </p:spPr>
      </p:sp>
      <p:sp>
        <p:nvSpPr>
          <p:cNvPr id="16" name="Shape 14"/>
          <p:cNvSpPr/>
          <p:nvPr/>
        </p:nvSpPr>
        <p:spPr>
          <a:xfrm>
            <a:off x="5212080" y="4160520"/>
            <a:ext cx="384048" cy="182880"/>
          </a:xfrm>
          <a:prstGeom prst="rect">
            <a:avLst/>
          </a:prstGeom>
          <a:solidFill>
            <a:srgbClr val="C4A44C"/>
          </a:solidFill>
          <a:ln w="12700">
            <a:solidFill>
              <a:srgbClr val="FFFFFF">
                <a:alpha val="40000"/>
              </a:srgbClr>
            </a:solidFill>
            <a:prstDash val="solid"/>
          </a:ln>
        </p:spPr>
      </p:sp>
      <p:sp>
        <p:nvSpPr>
          <p:cNvPr id="17" name="Shape 15"/>
          <p:cNvSpPr/>
          <p:nvPr/>
        </p:nvSpPr>
        <p:spPr>
          <a:xfrm>
            <a:off x="5888736" y="4160520"/>
            <a:ext cx="384048" cy="182880"/>
          </a:xfrm>
          <a:prstGeom prst="rect">
            <a:avLst/>
          </a:prstGeom>
          <a:solidFill>
            <a:srgbClr val="A7B5AE"/>
          </a:solidFill>
          <a:ln w="12700">
            <a:solidFill>
              <a:srgbClr val="FFFFFF">
                <a:alpha val="40000"/>
              </a:srgbClr>
            </a:solidFill>
            <a:prstDash val="solid"/>
          </a:ln>
        </p:spPr>
      </p:sp>
      <p:sp>
        <p:nvSpPr>
          <p:cNvPr id="18" name="Shape 16"/>
          <p:cNvSpPr/>
          <p:nvPr/>
        </p:nvSpPr>
        <p:spPr>
          <a:xfrm>
            <a:off x="5212080" y="4480560"/>
            <a:ext cx="384048" cy="182880"/>
          </a:xfrm>
          <a:prstGeom prst="rect">
            <a:avLst/>
          </a:prstGeom>
          <a:solidFill>
            <a:srgbClr val="A7B5AE"/>
          </a:solidFill>
          <a:ln w="12700">
            <a:solidFill>
              <a:srgbClr val="FFFFFF">
                <a:alpha val="40000"/>
              </a:srgbClr>
            </a:solidFill>
            <a:prstDash val="solid"/>
          </a:ln>
        </p:spPr>
      </p:sp>
      <p:sp>
        <p:nvSpPr>
          <p:cNvPr id="19" name="Shape 17"/>
          <p:cNvSpPr/>
          <p:nvPr/>
        </p:nvSpPr>
        <p:spPr>
          <a:xfrm>
            <a:off x="5888736" y="4480560"/>
            <a:ext cx="384048" cy="182880"/>
          </a:xfrm>
          <a:prstGeom prst="rect">
            <a:avLst/>
          </a:prstGeom>
          <a:solidFill>
            <a:srgbClr val="A7B5AE"/>
          </a:solidFill>
          <a:ln w="12700">
            <a:solidFill>
              <a:srgbClr val="FFFFFF">
                <a:alpha val="40000"/>
              </a:srgbClr>
            </a:solidFill>
            <a:prstDash val="solid"/>
          </a:ln>
        </p:spPr>
      </p:sp>
      <p:sp>
        <p:nvSpPr>
          <p:cNvPr id="20" name="Shape 18"/>
          <p:cNvSpPr/>
          <p:nvPr/>
        </p:nvSpPr>
        <p:spPr>
          <a:xfrm>
            <a:off x="2852928" y="2926080"/>
            <a:ext cx="502920" cy="0"/>
          </a:xfrm>
          <a:prstGeom prst="line">
            <a:avLst/>
          </a:prstGeom>
          <a:noFill/>
          <a:ln w="12700">
            <a:solidFill>
              <a:srgbClr val="0A8F62"/>
            </a:solidFill>
            <a:prstDash val="solid"/>
            <a:headEnd type="none"/>
            <a:tailEnd type="none"/>
          </a:ln>
        </p:spPr>
      </p:sp>
      <p:sp>
        <p:nvSpPr>
          <p:cNvPr id="21" name="Shape 19"/>
          <p:cNvSpPr/>
          <p:nvPr/>
        </p:nvSpPr>
        <p:spPr>
          <a:xfrm>
            <a:off x="4773168" y="2779776"/>
            <a:ext cx="466344" cy="0"/>
          </a:xfrm>
          <a:prstGeom prst="line">
            <a:avLst/>
          </a:prstGeom>
          <a:noFill/>
          <a:ln w="12700">
            <a:solidFill>
              <a:srgbClr val="0A8F62"/>
            </a:solidFill>
            <a:prstDash val="solid"/>
            <a:headEnd type="none"/>
            <a:tailEnd type="none"/>
          </a:ln>
        </p:spPr>
      </p:sp>
      <p:sp>
        <p:nvSpPr>
          <p:cNvPr id="22" name="Shape 20"/>
          <p:cNvSpPr/>
          <p:nvPr/>
        </p:nvSpPr>
        <p:spPr>
          <a:xfrm>
            <a:off x="4773168" y="4489704"/>
            <a:ext cx="210312" cy="0"/>
          </a:xfrm>
          <a:prstGeom prst="line">
            <a:avLst/>
          </a:prstGeom>
          <a:noFill/>
          <a:ln w="12700">
            <a:solidFill>
              <a:srgbClr val="0A8F62"/>
            </a:solidFill>
            <a:prstDash val="solid"/>
            <a:headEnd type="none"/>
            <a:tailEnd type="none"/>
          </a:ln>
        </p:spPr>
      </p:sp>
      <p:sp>
        <p:nvSpPr>
          <p:cNvPr id="23" name="Text 21"/>
          <p:cNvSpPr/>
          <p:nvPr/>
        </p:nvSpPr>
        <p:spPr>
          <a:xfrm>
            <a:off x="3108960" y="4352544"/>
            <a:ext cx="1920240" cy="292608"/>
          </a:xfrm>
          <a:prstGeom prst="rect">
            <a:avLst/>
          </a:prstGeom>
          <a:noFill/>
          <a:ln/>
        </p:spPr>
        <p:txBody>
          <a:bodyPr wrap="square" lIns="0" tIns="0" rIns="0" bIns="0" rtlCol="0" anchor="ctr">
            <a:normAutofit/>
          </a:bodyPr>
          <a:lstStyle/>
          <a:p>
            <a:pPr algn="l" indent="0" marL="0">
              <a:buNone/>
            </a:pPr>
            <a:r>
              <a:rPr lang="en-US" sz="1080" b="1" dirty="0">
                <a:solidFill>
                  <a:srgbClr val="086247"/>
                </a:solidFill>
                <a:latin typeface="Aptos" pitchFamily="34" charset="0"/>
                <a:ea typeface="Aptos" pitchFamily="34" charset="-122"/>
                <a:cs typeface="Aptos" pitchFamily="34" charset="-120"/>
              </a:rPr>
              <a:t>100% recycled cobalt</a:t>
            </a:r>
            <a:endParaRPr lang="en-US" sz="1080" dirty="0"/>
          </a:p>
        </p:txBody>
      </p:sp>
      <p:sp>
        <p:nvSpPr>
          <p:cNvPr id="24" name="Text 22"/>
          <p:cNvSpPr/>
          <p:nvPr/>
        </p:nvSpPr>
        <p:spPr>
          <a:xfrm>
            <a:off x="3108960" y="4681728"/>
            <a:ext cx="1874520" cy="237744"/>
          </a:xfrm>
          <a:prstGeom prst="rect">
            <a:avLst/>
          </a:prstGeom>
          <a:noFill/>
          <a:ln/>
        </p:spPr>
        <p:txBody>
          <a:bodyPr wrap="square" lIns="0" tIns="0" rIns="0" bIns="0" rtlCol="0" anchor="ctr">
            <a:normAutofit/>
          </a:bodyPr>
          <a:lstStyle/>
          <a:p>
            <a:pPr algn="l" indent="0" marL="0">
              <a:buNone/>
            </a:pPr>
            <a:r>
              <a:rPr lang="en-US" sz="760" dirty="0">
                <a:solidFill>
                  <a:srgbClr val="5F6368"/>
                </a:solidFill>
                <a:latin typeface="Aptos" pitchFamily="34" charset="0"/>
                <a:ea typeface="Aptos" pitchFamily="34" charset="-122"/>
                <a:cs typeface="Aptos" pitchFamily="34" charset="-120"/>
              </a:rPr>
              <a:t>all Apple-designed batteries</a:t>
            </a:r>
            <a:endParaRPr lang="en-US" sz="760" dirty="0"/>
          </a:p>
        </p:txBody>
      </p:sp>
      <p:sp>
        <p:nvSpPr>
          <p:cNvPr id="25" name="Text 23"/>
          <p:cNvSpPr/>
          <p:nvPr/>
        </p:nvSpPr>
        <p:spPr>
          <a:xfrm>
            <a:off x="4828032" y="3090672"/>
            <a:ext cx="2286000" cy="274320"/>
          </a:xfrm>
          <a:prstGeom prst="rect">
            <a:avLst/>
          </a:prstGeom>
          <a:noFill/>
          <a:ln/>
        </p:spPr>
        <p:txBody>
          <a:bodyPr wrap="square" lIns="0" tIns="0" rIns="0" bIns="0" rtlCol="0" anchor="ctr">
            <a:normAutofit/>
          </a:bodyPr>
          <a:lstStyle/>
          <a:p>
            <a:pPr algn="l" indent="0" marL="0">
              <a:buNone/>
            </a:pPr>
            <a:r>
              <a:rPr lang="en-US" sz="1020" b="1" dirty="0">
                <a:solidFill>
                  <a:srgbClr val="086247"/>
                </a:solidFill>
                <a:latin typeface="Aptos" pitchFamily="34" charset="0"/>
                <a:ea typeface="Aptos" pitchFamily="34" charset="-122"/>
                <a:cs typeface="Aptos" pitchFamily="34" charset="-120"/>
              </a:rPr>
              <a:t>100% recycled rare earths</a:t>
            </a:r>
            <a:endParaRPr lang="en-US" sz="1020" dirty="0"/>
          </a:p>
        </p:txBody>
      </p:sp>
      <p:sp>
        <p:nvSpPr>
          <p:cNvPr id="26" name="Text 24"/>
          <p:cNvSpPr/>
          <p:nvPr/>
        </p:nvSpPr>
        <p:spPr>
          <a:xfrm>
            <a:off x="4828032" y="3401568"/>
            <a:ext cx="2011680" cy="219456"/>
          </a:xfrm>
          <a:prstGeom prst="rect">
            <a:avLst/>
          </a:prstGeom>
          <a:noFill/>
          <a:ln/>
        </p:spPr>
        <p:txBody>
          <a:bodyPr wrap="square" lIns="0" tIns="0" rIns="0" bIns="0" rtlCol="0" anchor="ctr">
            <a:normAutofit/>
          </a:bodyPr>
          <a:lstStyle/>
          <a:p>
            <a:pPr algn="l" indent="0" marL="0">
              <a:buNone/>
            </a:pPr>
            <a:r>
              <a:rPr lang="en-US" sz="760" dirty="0">
                <a:solidFill>
                  <a:srgbClr val="5F6368"/>
                </a:solidFill>
                <a:latin typeface="Aptos" pitchFamily="34" charset="0"/>
                <a:ea typeface="Aptos" pitchFamily="34" charset="-122"/>
                <a:cs typeface="Aptos" pitchFamily="34" charset="-120"/>
              </a:rPr>
              <a:t>all magnets</a:t>
            </a:r>
            <a:endParaRPr lang="en-US" sz="760" dirty="0"/>
          </a:p>
        </p:txBody>
      </p:sp>
      <p:sp>
        <p:nvSpPr>
          <p:cNvPr id="27" name="Text 25"/>
          <p:cNvSpPr/>
          <p:nvPr/>
        </p:nvSpPr>
        <p:spPr>
          <a:xfrm>
            <a:off x="4818888" y="5129784"/>
            <a:ext cx="2331720" cy="274320"/>
          </a:xfrm>
          <a:prstGeom prst="rect">
            <a:avLst/>
          </a:prstGeom>
          <a:noFill/>
          <a:ln/>
        </p:spPr>
        <p:txBody>
          <a:bodyPr wrap="square" lIns="0" tIns="0" rIns="0" bIns="0" rtlCol="0" anchor="ctr">
            <a:normAutofit/>
          </a:bodyPr>
          <a:lstStyle/>
          <a:p>
            <a:pPr algn="l" indent="0" marL="0">
              <a:buNone/>
            </a:pPr>
            <a:r>
              <a:rPr lang="en-US" sz="1020" b="1" dirty="0">
                <a:solidFill>
                  <a:srgbClr val="086247"/>
                </a:solidFill>
                <a:latin typeface="Aptos" pitchFamily="34" charset="0"/>
                <a:ea typeface="Aptos" pitchFamily="34" charset="-122"/>
                <a:cs typeface="Aptos" pitchFamily="34" charset="-120"/>
              </a:rPr>
              <a:t>100% recycled gold + tin</a:t>
            </a:r>
            <a:endParaRPr lang="en-US" sz="1020" dirty="0"/>
          </a:p>
        </p:txBody>
      </p:sp>
      <p:sp>
        <p:nvSpPr>
          <p:cNvPr id="28" name="Text 26"/>
          <p:cNvSpPr/>
          <p:nvPr/>
        </p:nvSpPr>
        <p:spPr>
          <a:xfrm>
            <a:off x="4818888" y="5431536"/>
            <a:ext cx="2011680" cy="219456"/>
          </a:xfrm>
          <a:prstGeom prst="rect">
            <a:avLst/>
          </a:prstGeom>
          <a:noFill/>
          <a:ln/>
        </p:spPr>
        <p:txBody>
          <a:bodyPr wrap="square" lIns="0" tIns="0" rIns="0" bIns="0" rtlCol="0" anchor="ctr">
            <a:normAutofit/>
          </a:bodyPr>
          <a:lstStyle/>
          <a:p>
            <a:pPr algn="l" indent="0" marL="0">
              <a:buNone/>
            </a:pPr>
            <a:r>
              <a:rPr lang="en-US" sz="760" dirty="0">
                <a:solidFill>
                  <a:srgbClr val="5F6368"/>
                </a:solidFill>
                <a:latin typeface="Aptos" pitchFamily="34" charset="0"/>
                <a:ea typeface="Aptos" pitchFamily="34" charset="-122"/>
                <a:cs typeface="Aptos" pitchFamily="34" charset="-120"/>
              </a:rPr>
              <a:t>all Apple-designed PCBs</a:t>
            </a:r>
            <a:endParaRPr lang="en-US" sz="760" dirty="0"/>
          </a:p>
        </p:txBody>
      </p:sp>
      <p:sp>
        <p:nvSpPr>
          <p:cNvPr id="29" name="Shape 27"/>
          <p:cNvSpPr/>
          <p:nvPr/>
        </p:nvSpPr>
        <p:spPr>
          <a:xfrm>
            <a:off x="7909560" y="1572768"/>
            <a:ext cx="3657600" cy="1993392"/>
          </a:xfrm>
          <a:prstGeom prst="roundRect">
            <a:avLst>
              <a:gd name="adj" fmla="val 5505"/>
            </a:avLst>
          </a:prstGeom>
          <a:solidFill>
            <a:srgbClr val="086247"/>
          </a:solidFill>
          <a:ln w="12700">
            <a:solidFill>
              <a:srgbClr val="086247"/>
            </a:solidFill>
            <a:prstDash val="solid"/>
          </a:ln>
        </p:spPr>
      </p:sp>
      <p:sp>
        <p:nvSpPr>
          <p:cNvPr id="30" name="Text 28"/>
          <p:cNvSpPr/>
          <p:nvPr/>
        </p:nvSpPr>
        <p:spPr>
          <a:xfrm>
            <a:off x="8211312" y="1874520"/>
            <a:ext cx="2468880" cy="182880"/>
          </a:xfrm>
          <a:prstGeom prst="rect">
            <a:avLst/>
          </a:prstGeom>
          <a:noFill/>
          <a:ln/>
        </p:spPr>
        <p:txBody>
          <a:bodyPr wrap="square" lIns="0" tIns="0" rIns="0" bIns="0" rtlCol="0" anchor="ctr">
            <a:normAutofit/>
          </a:bodyPr>
          <a:lstStyle/>
          <a:p>
            <a:pPr algn="l" indent="0" marL="0">
              <a:buNone/>
            </a:pPr>
            <a:r>
              <a:rPr lang="en-US" sz="650" b="1" spc="100" kern="0" dirty="0">
                <a:solidFill>
                  <a:srgbClr val="B9F240"/>
                </a:solidFill>
                <a:latin typeface="Aptos" pitchFamily="34" charset="0"/>
                <a:ea typeface="Aptos" pitchFamily="34" charset="-122"/>
                <a:cs typeface="Aptos" pitchFamily="34" charset="-120"/>
              </a:rPr>
              <a:t>THE ENTERPRISE CLOSE</a:t>
            </a:r>
            <a:endParaRPr lang="en-US" sz="650" dirty="0"/>
          </a:p>
        </p:txBody>
      </p:sp>
      <p:sp>
        <p:nvSpPr>
          <p:cNvPr id="31" name="Text 29"/>
          <p:cNvSpPr/>
          <p:nvPr/>
        </p:nvSpPr>
        <p:spPr>
          <a:xfrm>
            <a:off x="8211312" y="2240280"/>
            <a:ext cx="2962656" cy="868680"/>
          </a:xfrm>
          <a:prstGeom prst="rect">
            <a:avLst/>
          </a:prstGeom>
          <a:noFill/>
          <a:ln/>
        </p:spPr>
        <p:txBody>
          <a:bodyPr wrap="square" lIns="0" tIns="0" rIns="0" bIns="0" rtlCol="0" anchor="t">
            <a:normAutofit/>
          </a:bodyPr>
          <a:lstStyle/>
          <a:p>
            <a:pPr algn="l" indent="0" marL="0">
              <a:buNone/>
            </a:pPr>
            <a:r>
              <a:rPr lang="en-US" sz="1600" b="1" dirty="0">
                <a:solidFill>
                  <a:srgbClr val="FFFFFF"/>
                </a:solidFill>
                <a:latin typeface="Aptos" pitchFamily="34" charset="0"/>
                <a:ea typeface="Aptos" pitchFamily="34" charset="-122"/>
                <a:cs typeface="Aptos" pitchFamily="34" charset="-120"/>
              </a:rPr>
              <a:t>“Lower embodied emissions — without compromising performance or experience.”</a:t>
            </a:r>
            <a:endParaRPr lang="en-US" sz="1600" dirty="0"/>
          </a:p>
        </p:txBody>
      </p:sp>
      <p:sp>
        <p:nvSpPr>
          <p:cNvPr id="32" name="Shape 30"/>
          <p:cNvSpPr/>
          <p:nvPr/>
        </p:nvSpPr>
        <p:spPr>
          <a:xfrm>
            <a:off x="7909560" y="3767328"/>
            <a:ext cx="3657600" cy="2249424"/>
          </a:xfrm>
          <a:prstGeom prst="roundRect">
            <a:avLst>
              <a:gd name="adj" fmla="val 4878"/>
            </a:avLst>
          </a:prstGeom>
          <a:solidFill>
            <a:srgbClr val="FFFFFF"/>
          </a:solidFill>
          <a:ln w="12700">
            <a:solidFill>
              <a:srgbClr val="D9DADD"/>
            </a:solidFill>
            <a:prstDash val="solid"/>
          </a:ln>
        </p:spPr>
      </p:sp>
      <p:sp>
        <p:nvSpPr>
          <p:cNvPr id="33" name="Shape 31"/>
          <p:cNvSpPr/>
          <p:nvPr/>
        </p:nvSpPr>
        <p:spPr>
          <a:xfrm>
            <a:off x="8211312" y="4050792"/>
            <a:ext cx="1143000" cy="274320"/>
          </a:xfrm>
          <a:prstGeom prst="roundRect">
            <a:avLst>
              <a:gd name="adj" fmla="val 26667"/>
            </a:avLst>
          </a:prstGeom>
          <a:solidFill>
            <a:srgbClr val="DDF5EA"/>
          </a:solidFill>
          <a:ln w="12700">
            <a:solidFill>
              <a:srgbClr val="DDF5EA">
                <a:alpha val="0"/>
              </a:srgbClr>
            </a:solidFill>
            <a:prstDash val="solid"/>
          </a:ln>
        </p:spPr>
      </p:sp>
      <p:sp>
        <p:nvSpPr>
          <p:cNvPr id="34" name="Text 32"/>
          <p:cNvSpPr/>
          <p:nvPr/>
        </p:nvSpPr>
        <p:spPr>
          <a:xfrm>
            <a:off x="8284464" y="4069080"/>
            <a:ext cx="996696" cy="219456"/>
          </a:xfrm>
          <a:prstGeom prst="rect">
            <a:avLst/>
          </a:prstGeom>
          <a:noFill/>
          <a:ln/>
        </p:spPr>
        <p:txBody>
          <a:bodyPr wrap="square" lIns="0" tIns="0" rIns="0" bIns="0" rtlCol="0" anchor="ctr">
            <a:normAutofit/>
          </a:bodyPr>
          <a:lstStyle/>
          <a:p>
            <a:pPr algn="ctr" indent="0" marL="0">
              <a:buNone/>
            </a:pPr>
            <a:r>
              <a:rPr lang="en-US" sz="650" b="1" spc="80" kern="0" dirty="0">
                <a:solidFill>
                  <a:srgbClr val="086247"/>
                </a:solidFill>
                <a:latin typeface="Aptos" pitchFamily="34" charset="0"/>
                <a:ea typeface="Aptos" pitchFamily="34" charset="-122"/>
                <a:cs typeface="Aptos" pitchFamily="34" charset="-120"/>
              </a:rPr>
              <a:t>UNBOXING</a:t>
            </a:r>
            <a:endParaRPr lang="en-US" sz="650" dirty="0"/>
          </a:p>
        </p:txBody>
      </p:sp>
      <p:sp>
        <p:nvSpPr>
          <p:cNvPr id="35" name="Text 33"/>
          <p:cNvSpPr/>
          <p:nvPr/>
        </p:nvSpPr>
        <p:spPr>
          <a:xfrm>
            <a:off x="8211312" y="4480560"/>
            <a:ext cx="2926080" cy="365760"/>
          </a:xfrm>
          <a:prstGeom prst="rect">
            <a:avLst/>
          </a:prstGeom>
          <a:noFill/>
          <a:ln/>
        </p:spPr>
        <p:txBody>
          <a:bodyPr wrap="square" lIns="0" tIns="0" rIns="0" bIns="0" rtlCol="0" anchor="ctr">
            <a:normAutofit/>
          </a:bodyPr>
          <a:lstStyle/>
          <a:p>
            <a:pPr algn="l" indent="0" marL="0">
              <a:buNone/>
            </a:pPr>
            <a:r>
              <a:rPr lang="en-US" sz="1650" b="1" dirty="0">
                <a:solidFill>
                  <a:srgbClr val="111113"/>
                </a:solidFill>
                <a:latin typeface="Aptos" pitchFamily="34" charset="0"/>
                <a:ea typeface="Aptos" pitchFamily="34" charset="-122"/>
                <a:cs typeface="Aptos" pitchFamily="34" charset="-120"/>
              </a:rPr>
              <a:t>100% fiber-based packaging</a:t>
            </a:r>
            <a:endParaRPr lang="en-US" sz="1650" dirty="0"/>
          </a:p>
        </p:txBody>
      </p:sp>
      <p:sp>
        <p:nvSpPr>
          <p:cNvPr id="36" name="Text 34"/>
          <p:cNvSpPr/>
          <p:nvPr/>
        </p:nvSpPr>
        <p:spPr>
          <a:xfrm>
            <a:off x="8211312" y="4956048"/>
            <a:ext cx="2834640" cy="658368"/>
          </a:xfrm>
          <a:prstGeom prst="rect">
            <a:avLst/>
          </a:prstGeom>
          <a:noFill/>
          <a:ln/>
        </p:spPr>
        <p:txBody>
          <a:bodyPr wrap="square" lIns="0" tIns="0" rIns="0" bIns="0" rtlCol="0" anchor="t">
            <a:normAutofit/>
          </a:bodyPr>
          <a:lstStyle/>
          <a:p>
            <a:pPr algn="l" indent="0" marL="0">
              <a:buNone/>
            </a:pPr>
            <a:r>
              <a:rPr lang="en-US" sz="930" dirty="0">
                <a:solidFill>
                  <a:srgbClr val="5F6368"/>
                </a:solidFill>
                <a:latin typeface="Aptos" pitchFamily="34" charset="0"/>
                <a:ea typeface="Aptos" pitchFamily="34" charset="-122"/>
                <a:cs typeface="Aptos" pitchFamily="34" charset="-120"/>
              </a:rPr>
              <a:t>A visible, premium proof point at first customer touch — and an easy story for retail teams to tell.</a:t>
            </a:r>
            <a:endParaRPr lang="en-US" sz="930" dirty="0"/>
          </a:p>
        </p:txBody>
      </p:sp>
      <p:sp>
        <p:nvSpPr>
          <p:cNvPr id="37" name="Text 35">
            <a:hlinkClick r:id="rId1" tooltip=""/>
          </p:cNvPr>
          <p:cNvSpPr/>
          <p:nvPr/>
        </p:nvSpPr>
        <p:spPr>
          <a:xfrm>
            <a:off x="594360" y="6245352"/>
            <a:ext cx="10881360" cy="128016"/>
          </a:xfrm>
          <a:prstGeom prst="rect">
            <a:avLst/>
          </a:prstGeom>
          <a:noFill/>
          <a:ln/>
        </p:spPr>
        <p:txBody>
          <a:bodyPr wrap="square" lIns="0" tIns="0" rIns="0" bIns="0" rtlCol="0" anchor="ctr">
            <a:normAutofit/>
          </a:bodyPr>
          <a:lstStyle/>
          <a:p>
            <a:pPr algn="l" indent="0" marL="0">
              <a:buNone/>
            </a:pPr>
            <a:r>
              <a:rPr lang="en-US" sz="570" i="1" u="sng" dirty="0">
                <a:solidFill>
                  <a:srgbClr val="77777C"/>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Apple 2026 Environmental Progress Report, pp. 12, 30–33; Apple Newsroom (Apr. 16, 2026).</a:t>
            </a:r>
            <a:endParaRPr lang="en-US" sz="570" dirty="0"/>
          </a:p>
        </p:txBody>
      </p:sp>
      <p:sp>
        <p:nvSpPr>
          <p:cNvPr id="25" name="Slide Number Placeholder 0"/>
          <p:cNvSpPr>
            <a:spLocks noGrp="1"/>
          </p:cNvSpPr>
          <p:nvPr>
            <p:ph type="sldNum" sz="quarter" idx="4294967295"/>
          </p:nvPr>
        </p:nvSpPr>
        <p:spPr>
          <a:xfrm>
            <a:off x="11210544" y="6519672"/>
            <a:ext cx="411480" cy="146304"/>
          </a:xfrm>
          <a:prstGeom prst="rect">
            <a:avLst/>
          </a:prstGeom>
          <a:extLst>
            <a:ext uri="{C572A759-6A51-4108-AA02-DFA0A04FC94B}">
              <ma14:wrappingTextBoxFlag xmlns:ma14="http://schemas.microsoft.com/office/mac/drawingml/2011/main" val="0"/>
            </a:ext>
          </a:extLst>
        </p:spPr>
        <p:txBody>
          <a:bodyPr lIns="0" tIns="0" rIns="0" bIns="0"/>
          <a:lstStyle>
            <a:lvl1pPr>
              <a:defRPr sz="600">
                <a:solidFill>
                  <a:srgbClr val="6E6E73"/>
                </a:solidFill>
                <a:latin typeface="Aptos"/>
                <a:ea typeface="Aptos"/>
                <a:cs typeface="Apto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347472"/>
            <a:ext cx="4114800" cy="201168"/>
          </a:xfrm>
          <a:prstGeom prst="rect">
            <a:avLst/>
          </a:prstGeom>
          <a:noFill/>
          <a:ln/>
        </p:spPr>
        <p:txBody>
          <a:bodyPr wrap="square" lIns="0" tIns="0" rIns="0" bIns="0" rtlCol="0" anchor="ctr">
            <a:normAutofit/>
          </a:bodyPr>
          <a:lstStyle/>
          <a:p>
            <a:pPr algn="l" indent="0" marL="0">
              <a:buNone/>
            </a:pPr>
            <a:r>
              <a:rPr lang="en-US" sz="720" b="1" spc="135" kern="0" dirty="0">
                <a:solidFill>
                  <a:srgbClr val="086247"/>
                </a:solidFill>
                <a:latin typeface="Aptos" pitchFamily="34" charset="0"/>
                <a:ea typeface="Aptos" pitchFamily="34" charset="-122"/>
                <a:cs typeface="Aptos" pitchFamily="34" charset="-120"/>
              </a:rPr>
              <a:t>OPERATIONAL EFFICIENCY</a:t>
            </a:r>
            <a:endParaRPr lang="en-US" sz="720" dirty="0"/>
          </a:p>
        </p:txBody>
      </p:sp>
      <p:sp>
        <p:nvSpPr>
          <p:cNvPr id="3" name="Text 1"/>
          <p:cNvSpPr/>
          <p:nvPr/>
        </p:nvSpPr>
        <p:spPr>
          <a:xfrm>
            <a:off x="594360" y="649224"/>
            <a:ext cx="8046720" cy="548640"/>
          </a:xfrm>
          <a:prstGeom prst="rect">
            <a:avLst/>
          </a:prstGeom>
          <a:noFill/>
          <a:ln/>
        </p:spPr>
        <p:txBody>
          <a:bodyPr wrap="square" lIns="0" tIns="0" rIns="0" bIns="0" rtlCol="0" anchor="ctr">
            <a:normAutofit/>
          </a:bodyPr>
          <a:lstStyle/>
          <a:p>
            <a:pPr algn="l" indent="0" marL="0">
              <a:buNone/>
            </a:pPr>
            <a:r>
              <a:rPr lang="en-US" sz="2600" b="1" dirty="0">
                <a:solidFill>
                  <a:srgbClr val="111113"/>
                </a:solidFill>
                <a:latin typeface="Aptos" pitchFamily="34" charset="0"/>
                <a:ea typeface="Aptos" pitchFamily="34" charset="-122"/>
                <a:cs typeface="Aptos" pitchFamily="34" charset="-120"/>
              </a:rPr>
              <a:t>Resource stewardship protects continuity — and margins.</a:t>
            </a:r>
            <a:endParaRPr lang="en-US" sz="2600" dirty="0"/>
          </a:p>
        </p:txBody>
      </p:sp>
      <p:sp>
        <p:nvSpPr>
          <p:cNvPr id="4" name="Text 2"/>
          <p:cNvSpPr/>
          <p:nvPr/>
        </p:nvSpPr>
        <p:spPr>
          <a:xfrm>
            <a:off x="8961120" y="612648"/>
            <a:ext cx="2651760" cy="502920"/>
          </a:xfrm>
          <a:prstGeom prst="rect">
            <a:avLst/>
          </a:prstGeom>
          <a:noFill/>
          <a:ln/>
        </p:spPr>
        <p:txBody>
          <a:bodyPr wrap="square" lIns="0" tIns="0" rIns="0" bIns="0" rtlCol="0" anchor="b">
            <a:normAutofit/>
          </a:bodyPr>
          <a:lstStyle/>
          <a:p>
            <a:pPr algn="r" indent="0" marL="0">
              <a:buNone/>
            </a:pPr>
            <a:r>
              <a:rPr lang="en-US" sz="950" dirty="0">
                <a:solidFill>
                  <a:srgbClr val="5F6368"/>
                </a:solidFill>
                <a:latin typeface="Aptos" pitchFamily="34" charset="0"/>
                <a:ea typeface="Aptos" pitchFamily="34" charset="-122"/>
                <a:cs typeface="Aptos" pitchFamily="34" charset="-120"/>
              </a:rPr>
              <a:t>WATER + WASTE METRICS ARE SUPPLY-CHAIN METRICS</a:t>
            </a:r>
            <a:endParaRPr lang="en-US" sz="950" dirty="0"/>
          </a:p>
        </p:txBody>
      </p:sp>
      <p:sp>
        <p:nvSpPr>
          <p:cNvPr id="5" name="Shape 3"/>
          <p:cNvSpPr/>
          <p:nvPr/>
        </p:nvSpPr>
        <p:spPr>
          <a:xfrm>
            <a:off x="594360" y="1298448"/>
            <a:ext cx="11018520" cy="0"/>
          </a:xfrm>
          <a:prstGeom prst="line">
            <a:avLst/>
          </a:prstGeom>
          <a:noFill/>
          <a:ln w="12700">
            <a:solidFill>
              <a:srgbClr val="D9DADD"/>
            </a:solidFill>
            <a:prstDash val="solid"/>
            <a:headEnd type="none"/>
            <a:tailEnd type="none"/>
          </a:ln>
        </p:spPr>
      </p:sp>
      <p:sp>
        <p:nvSpPr>
          <p:cNvPr id="6" name="Shape 4"/>
          <p:cNvSpPr/>
          <p:nvPr/>
        </p:nvSpPr>
        <p:spPr>
          <a:xfrm>
            <a:off x="621792" y="1664208"/>
            <a:ext cx="3493008" cy="3456432"/>
          </a:xfrm>
          <a:prstGeom prst="roundRect">
            <a:avLst>
              <a:gd name="adj" fmla="val 3175"/>
            </a:avLst>
          </a:prstGeom>
          <a:solidFill>
            <a:srgbClr val="FFFFFF"/>
          </a:solidFill>
          <a:ln w="12700">
            <a:solidFill>
              <a:srgbClr val="D9DADD"/>
            </a:solidFill>
            <a:prstDash val="solid"/>
          </a:ln>
        </p:spPr>
      </p:sp>
      <p:sp>
        <p:nvSpPr>
          <p:cNvPr id="7" name="Shape 5"/>
          <p:cNvSpPr/>
          <p:nvPr/>
        </p:nvSpPr>
        <p:spPr>
          <a:xfrm>
            <a:off x="1874520" y="1975104"/>
            <a:ext cx="987552" cy="987552"/>
          </a:xfrm>
          <a:prstGeom prst="ellipse">
            <a:avLst/>
          </a:prstGeom>
          <a:solidFill>
            <a:srgbClr val="4A85E8">
              <a:alpha val="12000"/>
            </a:srgbClr>
          </a:solidFill>
          <a:ln w="12700">
            <a:solidFill>
              <a:srgbClr val="4A85E8">
                <a:alpha val="0"/>
              </a:srgbClr>
            </a:solidFill>
            <a:prstDash val="solid"/>
          </a:ln>
        </p:spPr>
      </p:sp>
      <p:sp>
        <p:nvSpPr>
          <p:cNvPr id="8" name="Shape 6"/>
          <p:cNvSpPr/>
          <p:nvPr/>
        </p:nvSpPr>
        <p:spPr>
          <a:xfrm rot="10800000">
            <a:off x="2075688" y="2103120"/>
            <a:ext cx="489661" cy="683971"/>
          </a:xfrm>
          <a:prstGeom prst="teardrop">
            <a:avLst/>
          </a:prstGeom>
          <a:solidFill>
            <a:srgbClr val="4A85E8"/>
          </a:solidFill>
          <a:ln w="12700">
            <a:solidFill>
              <a:srgbClr val="4A85E8">
                <a:alpha val="0"/>
              </a:srgbClr>
            </a:solidFill>
            <a:prstDash val="solid"/>
          </a:ln>
        </p:spPr>
      </p:sp>
      <p:sp>
        <p:nvSpPr>
          <p:cNvPr id="9" name="Text 7"/>
          <p:cNvSpPr/>
          <p:nvPr/>
        </p:nvSpPr>
        <p:spPr>
          <a:xfrm>
            <a:off x="896112" y="3145536"/>
            <a:ext cx="2944368" cy="566928"/>
          </a:xfrm>
          <a:prstGeom prst="rect">
            <a:avLst/>
          </a:prstGeom>
          <a:noFill/>
          <a:ln/>
        </p:spPr>
        <p:txBody>
          <a:bodyPr wrap="square" lIns="0" tIns="0" rIns="0" bIns="0" rtlCol="0" anchor="ctr">
            <a:normAutofit/>
          </a:bodyPr>
          <a:lstStyle/>
          <a:p>
            <a:pPr algn="ctr" indent="0" marL="0">
              <a:buNone/>
            </a:pPr>
            <a:r>
              <a:rPr lang="en-US" sz="3100" b="1" dirty="0">
                <a:solidFill>
                  <a:srgbClr val="4A85E8"/>
                </a:solidFill>
                <a:latin typeface="Aptos" pitchFamily="34" charset="0"/>
                <a:ea typeface="Aptos" pitchFamily="34" charset="-122"/>
                <a:cs typeface="Aptos" pitchFamily="34" charset="-120"/>
              </a:rPr>
              <a:t>17B</a:t>
            </a:r>
            <a:endParaRPr lang="en-US" sz="3100" dirty="0"/>
          </a:p>
        </p:txBody>
      </p:sp>
      <p:sp>
        <p:nvSpPr>
          <p:cNvPr id="10" name="Text 8"/>
          <p:cNvSpPr/>
          <p:nvPr/>
        </p:nvSpPr>
        <p:spPr>
          <a:xfrm>
            <a:off x="941832" y="3785616"/>
            <a:ext cx="2852928" cy="320040"/>
          </a:xfrm>
          <a:prstGeom prst="rect">
            <a:avLst/>
          </a:prstGeom>
          <a:noFill/>
          <a:ln/>
        </p:spPr>
        <p:txBody>
          <a:bodyPr wrap="square" lIns="0" tIns="0" rIns="0" bIns="0" rtlCol="0" anchor="ctr">
            <a:normAutofit/>
          </a:bodyPr>
          <a:lstStyle/>
          <a:p>
            <a:pPr algn="ctr" indent="0" marL="0">
              <a:buNone/>
            </a:pPr>
            <a:r>
              <a:rPr lang="en-US" sz="1250" b="1" dirty="0">
                <a:solidFill>
                  <a:srgbClr val="111113"/>
                </a:solidFill>
                <a:latin typeface="Aptos" pitchFamily="34" charset="0"/>
                <a:ea typeface="Aptos" pitchFamily="34" charset="-122"/>
                <a:cs typeface="Aptos" pitchFamily="34" charset="-120"/>
              </a:rPr>
              <a:t>Gallons saved</a:t>
            </a:r>
            <a:endParaRPr lang="en-US" sz="1250" dirty="0"/>
          </a:p>
        </p:txBody>
      </p:sp>
      <p:sp>
        <p:nvSpPr>
          <p:cNvPr id="11" name="Text 9"/>
          <p:cNvSpPr/>
          <p:nvPr/>
        </p:nvSpPr>
        <p:spPr>
          <a:xfrm>
            <a:off x="1042416" y="4224528"/>
            <a:ext cx="2651760" cy="566928"/>
          </a:xfrm>
          <a:prstGeom prst="rect">
            <a:avLst/>
          </a:prstGeom>
          <a:noFill/>
          <a:ln/>
        </p:spPr>
        <p:txBody>
          <a:bodyPr wrap="square" lIns="0" tIns="0" rIns="0" bIns="0" rtlCol="0" anchor="t">
            <a:normAutofit/>
          </a:bodyPr>
          <a:lstStyle/>
          <a:p>
            <a:pPr algn="ctr" indent="0" marL="0">
              <a:buNone/>
            </a:pPr>
            <a:r>
              <a:rPr lang="en-US" sz="880" dirty="0">
                <a:solidFill>
                  <a:srgbClr val="5F6368"/>
                </a:solidFill>
                <a:latin typeface="Aptos" pitchFamily="34" charset="0"/>
                <a:ea typeface="Aptos" pitchFamily="34" charset="-122"/>
                <a:cs typeface="Aptos" pitchFamily="34" charset="-120"/>
              </a:rPr>
              <a:t>Freshwater saved by Apple and suppliers in 2025.</a:t>
            </a:r>
            <a:endParaRPr lang="en-US" sz="880" dirty="0"/>
          </a:p>
        </p:txBody>
      </p:sp>
      <p:sp>
        <p:nvSpPr>
          <p:cNvPr id="12" name="Shape 10"/>
          <p:cNvSpPr/>
          <p:nvPr/>
        </p:nvSpPr>
        <p:spPr>
          <a:xfrm>
            <a:off x="4343400" y="1664208"/>
            <a:ext cx="3493008" cy="3456432"/>
          </a:xfrm>
          <a:prstGeom prst="roundRect">
            <a:avLst>
              <a:gd name="adj" fmla="val 3175"/>
            </a:avLst>
          </a:prstGeom>
          <a:solidFill>
            <a:srgbClr val="FFFFFF"/>
          </a:solidFill>
          <a:ln w="12700">
            <a:solidFill>
              <a:srgbClr val="D9DADD"/>
            </a:solidFill>
            <a:prstDash val="solid"/>
          </a:ln>
        </p:spPr>
      </p:sp>
      <p:sp>
        <p:nvSpPr>
          <p:cNvPr id="13" name="Shape 11"/>
          <p:cNvSpPr/>
          <p:nvPr/>
        </p:nvSpPr>
        <p:spPr>
          <a:xfrm>
            <a:off x="5596128" y="1975104"/>
            <a:ext cx="987552" cy="987552"/>
          </a:xfrm>
          <a:prstGeom prst="ellipse">
            <a:avLst/>
          </a:prstGeom>
          <a:solidFill>
            <a:srgbClr val="0A8F62">
              <a:alpha val="12000"/>
            </a:srgbClr>
          </a:solidFill>
          <a:ln w="12700">
            <a:solidFill>
              <a:srgbClr val="0A8F62">
                <a:alpha val="0"/>
              </a:srgbClr>
            </a:solidFill>
            <a:prstDash val="solid"/>
          </a:ln>
        </p:spPr>
      </p:sp>
      <p:sp>
        <p:nvSpPr>
          <p:cNvPr id="14" name="Shape 12"/>
          <p:cNvSpPr/>
          <p:nvPr/>
        </p:nvSpPr>
        <p:spPr>
          <a:xfrm>
            <a:off x="5897880" y="2167128"/>
            <a:ext cx="356616" cy="150876"/>
          </a:xfrm>
          <a:prstGeom prst="chevron">
            <a:avLst/>
          </a:prstGeom>
          <a:solidFill>
            <a:srgbClr val="0A8F62"/>
          </a:solidFill>
          <a:ln w="12700">
            <a:solidFill>
              <a:srgbClr val="0A8F62">
                <a:alpha val="0"/>
              </a:srgbClr>
            </a:solidFill>
            <a:prstDash val="solid"/>
          </a:ln>
        </p:spPr>
      </p:sp>
      <p:sp>
        <p:nvSpPr>
          <p:cNvPr id="15" name="Shape 13"/>
          <p:cNvSpPr/>
          <p:nvPr/>
        </p:nvSpPr>
        <p:spPr>
          <a:xfrm rot="7200000">
            <a:off x="6083046" y="2455164"/>
            <a:ext cx="356616" cy="150876"/>
          </a:xfrm>
          <a:prstGeom prst="chevron">
            <a:avLst/>
          </a:prstGeom>
          <a:solidFill>
            <a:srgbClr val="0A8F62"/>
          </a:solidFill>
          <a:ln w="12700">
            <a:solidFill>
              <a:srgbClr val="0A8F62">
                <a:alpha val="0"/>
              </a:srgbClr>
            </a:solidFill>
            <a:prstDash val="solid"/>
          </a:ln>
        </p:spPr>
      </p:sp>
      <p:sp>
        <p:nvSpPr>
          <p:cNvPr id="16" name="Shape 14"/>
          <p:cNvSpPr/>
          <p:nvPr/>
        </p:nvSpPr>
        <p:spPr>
          <a:xfrm rot="14400000">
            <a:off x="5705856" y="2455164"/>
            <a:ext cx="356616" cy="150876"/>
          </a:xfrm>
          <a:prstGeom prst="chevron">
            <a:avLst/>
          </a:prstGeom>
          <a:solidFill>
            <a:srgbClr val="0A8F62"/>
          </a:solidFill>
          <a:ln w="12700">
            <a:solidFill>
              <a:srgbClr val="0A8F62">
                <a:alpha val="0"/>
              </a:srgbClr>
            </a:solidFill>
            <a:prstDash val="solid"/>
          </a:ln>
        </p:spPr>
      </p:sp>
      <p:sp>
        <p:nvSpPr>
          <p:cNvPr id="17" name="Text 15"/>
          <p:cNvSpPr/>
          <p:nvPr/>
        </p:nvSpPr>
        <p:spPr>
          <a:xfrm>
            <a:off x="4617720" y="3145536"/>
            <a:ext cx="2944368" cy="566928"/>
          </a:xfrm>
          <a:prstGeom prst="rect">
            <a:avLst/>
          </a:prstGeom>
          <a:noFill/>
          <a:ln/>
        </p:spPr>
        <p:txBody>
          <a:bodyPr wrap="square" lIns="0" tIns="0" rIns="0" bIns="0" rtlCol="0" anchor="ctr">
            <a:normAutofit/>
          </a:bodyPr>
          <a:lstStyle/>
          <a:p>
            <a:pPr algn="ctr" indent="0" marL="0">
              <a:buNone/>
            </a:pPr>
            <a:r>
              <a:rPr lang="en-US" sz="3100" b="1" dirty="0">
                <a:solidFill>
                  <a:srgbClr val="0A8F62"/>
                </a:solidFill>
                <a:latin typeface="Aptos" pitchFamily="34" charset="0"/>
                <a:ea typeface="Aptos" pitchFamily="34" charset="-122"/>
                <a:cs typeface="Aptos" pitchFamily="34" charset="-120"/>
              </a:rPr>
              <a:t>ZERO</a:t>
            </a:r>
            <a:endParaRPr lang="en-US" sz="3100" dirty="0"/>
          </a:p>
        </p:txBody>
      </p:sp>
      <p:sp>
        <p:nvSpPr>
          <p:cNvPr id="18" name="Text 16"/>
          <p:cNvSpPr/>
          <p:nvPr/>
        </p:nvSpPr>
        <p:spPr>
          <a:xfrm>
            <a:off x="4663440" y="3785616"/>
            <a:ext cx="2852928" cy="320040"/>
          </a:xfrm>
          <a:prstGeom prst="rect">
            <a:avLst/>
          </a:prstGeom>
          <a:noFill/>
          <a:ln/>
        </p:spPr>
        <p:txBody>
          <a:bodyPr wrap="square" lIns="0" tIns="0" rIns="0" bIns="0" rtlCol="0" anchor="ctr">
            <a:normAutofit/>
          </a:bodyPr>
          <a:lstStyle/>
          <a:p>
            <a:pPr algn="ctr" indent="0" marL="0">
              <a:buNone/>
            </a:pPr>
            <a:r>
              <a:rPr lang="en-US" sz="1250" b="1" dirty="0">
                <a:solidFill>
                  <a:srgbClr val="111113"/>
                </a:solidFill>
                <a:latin typeface="Aptos" pitchFamily="34" charset="0"/>
                <a:ea typeface="Aptos" pitchFamily="34" charset="-122"/>
                <a:cs typeface="Aptos" pitchFamily="34" charset="-120"/>
              </a:rPr>
              <a:t>Waste to landfill</a:t>
            </a:r>
            <a:endParaRPr lang="en-US" sz="1250" dirty="0"/>
          </a:p>
        </p:txBody>
      </p:sp>
      <p:sp>
        <p:nvSpPr>
          <p:cNvPr id="19" name="Text 17"/>
          <p:cNvSpPr/>
          <p:nvPr/>
        </p:nvSpPr>
        <p:spPr>
          <a:xfrm>
            <a:off x="4764024" y="4224528"/>
            <a:ext cx="2651760" cy="566928"/>
          </a:xfrm>
          <a:prstGeom prst="rect">
            <a:avLst/>
          </a:prstGeom>
          <a:noFill/>
          <a:ln/>
        </p:spPr>
        <p:txBody>
          <a:bodyPr wrap="square" lIns="0" tIns="0" rIns="0" bIns="0" rtlCol="0" anchor="t">
            <a:normAutofit/>
          </a:bodyPr>
          <a:lstStyle/>
          <a:p>
            <a:pPr algn="ctr" indent="0" marL="0">
              <a:buNone/>
            </a:pPr>
            <a:r>
              <a:rPr lang="en-US" sz="880" dirty="0">
                <a:solidFill>
                  <a:srgbClr val="5F6368"/>
                </a:solidFill>
                <a:latin typeface="Aptos" pitchFamily="34" charset="0"/>
                <a:ea typeface="Aptos" pitchFamily="34" charset="-122"/>
                <a:cs typeface="Aptos" pitchFamily="34" charset="-120"/>
              </a:rPr>
              <a:t>Maintained by established final-assembly supplier sites.</a:t>
            </a:r>
            <a:endParaRPr lang="en-US" sz="880" dirty="0"/>
          </a:p>
        </p:txBody>
      </p:sp>
      <p:sp>
        <p:nvSpPr>
          <p:cNvPr id="20" name="Shape 18"/>
          <p:cNvSpPr/>
          <p:nvPr/>
        </p:nvSpPr>
        <p:spPr>
          <a:xfrm>
            <a:off x="8065008" y="1664208"/>
            <a:ext cx="3493008" cy="3456432"/>
          </a:xfrm>
          <a:prstGeom prst="roundRect">
            <a:avLst>
              <a:gd name="adj" fmla="val 3175"/>
            </a:avLst>
          </a:prstGeom>
          <a:solidFill>
            <a:srgbClr val="FFFFFF"/>
          </a:solidFill>
          <a:ln w="12700">
            <a:solidFill>
              <a:srgbClr val="D9DADD"/>
            </a:solidFill>
            <a:prstDash val="solid"/>
          </a:ln>
        </p:spPr>
      </p:sp>
      <p:sp>
        <p:nvSpPr>
          <p:cNvPr id="21" name="Shape 19"/>
          <p:cNvSpPr/>
          <p:nvPr/>
        </p:nvSpPr>
        <p:spPr>
          <a:xfrm>
            <a:off x="9317736" y="1975104"/>
            <a:ext cx="987552" cy="987552"/>
          </a:xfrm>
          <a:prstGeom prst="ellipse">
            <a:avLst/>
          </a:prstGeom>
          <a:solidFill>
            <a:srgbClr val="2CB7A7">
              <a:alpha val="12000"/>
            </a:srgbClr>
          </a:solidFill>
          <a:ln w="12700">
            <a:solidFill>
              <a:srgbClr val="2CB7A7">
                <a:alpha val="0"/>
              </a:srgbClr>
            </a:solidFill>
            <a:prstDash val="solid"/>
          </a:ln>
        </p:spPr>
      </p:sp>
      <p:sp>
        <p:nvSpPr>
          <p:cNvPr id="22" name="Shape 20"/>
          <p:cNvSpPr/>
          <p:nvPr/>
        </p:nvSpPr>
        <p:spPr>
          <a:xfrm rot="-1080000">
            <a:off x="9427464" y="2221992"/>
            <a:ext cx="637337" cy="412394"/>
          </a:xfrm>
          <a:prstGeom prst="arc">
            <a:avLst/>
          </a:prstGeom>
          <a:solidFill>
            <a:srgbClr val="2CB7A7">
              <a:alpha val="0"/>
            </a:srgbClr>
          </a:solidFill>
          <a:ln w="12700">
            <a:solidFill>
              <a:srgbClr val="2CB7A7"/>
            </a:solidFill>
            <a:prstDash val="solid"/>
          </a:ln>
        </p:spPr>
      </p:sp>
      <p:sp>
        <p:nvSpPr>
          <p:cNvPr id="23" name="Shape 21"/>
          <p:cNvSpPr/>
          <p:nvPr/>
        </p:nvSpPr>
        <p:spPr>
          <a:xfrm>
            <a:off x="9532437" y="2566904"/>
            <a:ext cx="457383" cy="-254935"/>
          </a:xfrm>
          <a:prstGeom prst="line">
            <a:avLst/>
          </a:prstGeom>
          <a:noFill/>
          <a:ln w="12700">
            <a:solidFill>
              <a:srgbClr val="2CB7A7"/>
            </a:solidFill>
            <a:prstDash val="solid"/>
          </a:ln>
        </p:spPr>
      </p:sp>
      <p:sp>
        <p:nvSpPr>
          <p:cNvPr id="24" name="Text 22"/>
          <p:cNvSpPr/>
          <p:nvPr/>
        </p:nvSpPr>
        <p:spPr>
          <a:xfrm>
            <a:off x="8339328" y="3145536"/>
            <a:ext cx="2944368" cy="566928"/>
          </a:xfrm>
          <a:prstGeom prst="rect">
            <a:avLst/>
          </a:prstGeom>
          <a:noFill/>
          <a:ln/>
        </p:spPr>
        <p:txBody>
          <a:bodyPr wrap="square" lIns="0" tIns="0" rIns="0" bIns="0" rtlCol="0" anchor="ctr">
            <a:normAutofit/>
          </a:bodyPr>
          <a:lstStyle/>
          <a:p>
            <a:pPr algn="ctr" indent="0" marL="0">
              <a:buNone/>
            </a:pPr>
            <a:r>
              <a:rPr lang="en-US" sz="3100" b="1" dirty="0">
                <a:solidFill>
                  <a:srgbClr val="2CB7A7"/>
                </a:solidFill>
                <a:latin typeface="Aptos" pitchFamily="34" charset="0"/>
                <a:ea typeface="Aptos" pitchFamily="34" charset="-122"/>
                <a:cs typeface="Aptos" pitchFamily="34" charset="-120"/>
              </a:rPr>
              <a:t>55%</a:t>
            </a:r>
            <a:endParaRPr lang="en-US" sz="3100" dirty="0"/>
          </a:p>
        </p:txBody>
      </p:sp>
      <p:sp>
        <p:nvSpPr>
          <p:cNvPr id="25" name="Text 23"/>
          <p:cNvSpPr/>
          <p:nvPr/>
        </p:nvSpPr>
        <p:spPr>
          <a:xfrm>
            <a:off x="8385048" y="3785616"/>
            <a:ext cx="2852928" cy="320040"/>
          </a:xfrm>
          <a:prstGeom prst="rect">
            <a:avLst/>
          </a:prstGeom>
          <a:noFill/>
          <a:ln/>
        </p:spPr>
        <p:txBody>
          <a:bodyPr wrap="square" lIns="0" tIns="0" rIns="0" bIns="0" rtlCol="0" anchor="ctr">
            <a:normAutofit/>
          </a:bodyPr>
          <a:lstStyle/>
          <a:p>
            <a:pPr algn="ctr" indent="0" marL="0">
              <a:buNone/>
            </a:pPr>
            <a:r>
              <a:rPr lang="en-US" sz="1250" b="1" dirty="0">
                <a:solidFill>
                  <a:srgbClr val="111113"/>
                </a:solidFill>
                <a:latin typeface="Aptos" pitchFamily="34" charset="0"/>
                <a:ea typeface="Aptos" pitchFamily="34" charset="-122"/>
                <a:cs typeface="Aptos" pitchFamily="34" charset="-120"/>
              </a:rPr>
              <a:t>Water replenishment</a:t>
            </a:r>
            <a:endParaRPr lang="en-US" sz="1250" dirty="0"/>
          </a:p>
        </p:txBody>
      </p:sp>
      <p:sp>
        <p:nvSpPr>
          <p:cNvPr id="26" name="Text 24"/>
          <p:cNvSpPr/>
          <p:nvPr/>
        </p:nvSpPr>
        <p:spPr>
          <a:xfrm>
            <a:off x="8485632" y="4224528"/>
            <a:ext cx="2651760" cy="566928"/>
          </a:xfrm>
          <a:prstGeom prst="rect">
            <a:avLst/>
          </a:prstGeom>
          <a:noFill/>
          <a:ln/>
        </p:spPr>
        <p:txBody>
          <a:bodyPr wrap="square" lIns="0" tIns="0" rIns="0" bIns="0" rtlCol="0" anchor="t">
            <a:normAutofit/>
          </a:bodyPr>
          <a:lstStyle/>
          <a:p>
            <a:pPr algn="ctr" indent="0" marL="0">
              <a:buNone/>
            </a:pPr>
            <a:r>
              <a:rPr lang="en-US" sz="880" dirty="0">
                <a:solidFill>
                  <a:srgbClr val="5F6368"/>
                </a:solidFill>
                <a:latin typeface="Aptos" pitchFamily="34" charset="0"/>
                <a:ea typeface="Aptos" pitchFamily="34" charset="-122"/>
                <a:cs typeface="Aptos" pitchFamily="34" charset="-120"/>
              </a:rPr>
              <a:t>Of global corporate freshwater withdrawals in 2025.</a:t>
            </a:r>
            <a:endParaRPr lang="en-US" sz="880" dirty="0"/>
          </a:p>
        </p:txBody>
      </p:sp>
      <p:sp>
        <p:nvSpPr>
          <p:cNvPr id="27" name="Shape 25"/>
          <p:cNvSpPr/>
          <p:nvPr/>
        </p:nvSpPr>
        <p:spPr>
          <a:xfrm>
            <a:off x="621792" y="5367528"/>
            <a:ext cx="10936224" cy="548640"/>
          </a:xfrm>
          <a:prstGeom prst="roundRect">
            <a:avLst>
              <a:gd name="adj" fmla="val 20000"/>
            </a:avLst>
          </a:prstGeom>
          <a:solidFill>
            <a:srgbClr val="E8EFEB"/>
          </a:solidFill>
          <a:ln w="12700">
            <a:solidFill>
              <a:srgbClr val="E8EFEB"/>
            </a:solidFill>
            <a:prstDash val="solid"/>
          </a:ln>
        </p:spPr>
      </p:sp>
      <p:sp>
        <p:nvSpPr>
          <p:cNvPr id="28" name="Text 26"/>
          <p:cNvSpPr/>
          <p:nvPr/>
        </p:nvSpPr>
        <p:spPr>
          <a:xfrm>
            <a:off x="905256" y="5513832"/>
            <a:ext cx="960120" cy="173736"/>
          </a:xfrm>
          <a:prstGeom prst="rect">
            <a:avLst/>
          </a:prstGeom>
          <a:noFill/>
          <a:ln/>
        </p:spPr>
        <p:txBody>
          <a:bodyPr wrap="square" lIns="0" tIns="0" rIns="0" bIns="0" rtlCol="0" anchor="ctr">
            <a:normAutofit/>
          </a:bodyPr>
          <a:lstStyle/>
          <a:p>
            <a:pPr algn="l" indent="0" marL="0">
              <a:buNone/>
            </a:pPr>
            <a:r>
              <a:rPr lang="en-US" sz="650" b="1" spc="100" kern="0" dirty="0">
                <a:solidFill>
                  <a:srgbClr val="086247"/>
                </a:solidFill>
                <a:latin typeface="Aptos" pitchFamily="34" charset="0"/>
                <a:ea typeface="Aptos" pitchFamily="34" charset="-122"/>
                <a:cs typeface="Aptos" pitchFamily="34" charset="-120"/>
              </a:rPr>
              <a:t>RISK LOGIC</a:t>
            </a:r>
            <a:endParaRPr lang="en-US" sz="650" dirty="0"/>
          </a:p>
        </p:txBody>
      </p:sp>
      <p:sp>
        <p:nvSpPr>
          <p:cNvPr id="29" name="Text 27"/>
          <p:cNvSpPr/>
          <p:nvPr/>
        </p:nvSpPr>
        <p:spPr>
          <a:xfrm>
            <a:off x="1856232" y="5468112"/>
            <a:ext cx="8961120" cy="246888"/>
          </a:xfrm>
          <a:prstGeom prst="rect">
            <a:avLst/>
          </a:prstGeom>
          <a:noFill/>
          <a:ln/>
        </p:spPr>
        <p:txBody>
          <a:bodyPr wrap="square" lIns="0" tIns="0" rIns="0" bIns="0" rtlCol="0" anchor="ctr">
            <a:normAutofit/>
          </a:bodyPr>
          <a:lstStyle/>
          <a:p>
            <a:pPr algn="l" indent="0" marL="0">
              <a:buNone/>
            </a:pPr>
            <a:r>
              <a:rPr lang="en-US" sz="1140" b="1" dirty="0">
                <a:solidFill>
                  <a:srgbClr val="111113"/>
                </a:solidFill>
                <a:latin typeface="Aptos" pitchFamily="34" charset="0"/>
                <a:ea typeface="Aptos" pitchFamily="34" charset="-122"/>
                <a:cs typeface="Aptos" pitchFamily="34" charset="-120"/>
              </a:rPr>
              <a:t>Less water dependence + less landfill exposure → lower disruption risk, utility pressure, and compliance cost.</a:t>
            </a:r>
            <a:endParaRPr lang="en-US" sz="1140" dirty="0"/>
          </a:p>
        </p:txBody>
      </p:sp>
      <p:sp>
        <p:nvSpPr>
          <p:cNvPr id="30" name="Text 28">
            <a:hlinkClick r:id="rId1" tooltip=""/>
          </p:cNvPr>
          <p:cNvSpPr/>
          <p:nvPr/>
        </p:nvSpPr>
        <p:spPr>
          <a:xfrm>
            <a:off x="594360" y="6245352"/>
            <a:ext cx="10881360" cy="128016"/>
          </a:xfrm>
          <a:prstGeom prst="rect">
            <a:avLst/>
          </a:prstGeom>
          <a:noFill/>
          <a:ln/>
        </p:spPr>
        <p:txBody>
          <a:bodyPr wrap="square" lIns="0" tIns="0" rIns="0" bIns="0" rtlCol="0" anchor="ctr">
            <a:normAutofit/>
          </a:bodyPr>
          <a:lstStyle/>
          <a:p>
            <a:pPr algn="l" indent="0" marL="0">
              <a:buNone/>
            </a:pPr>
            <a:r>
              <a:rPr lang="en-US" sz="570" i="1" u="sng" dirty="0">
                <a:solidFill>
                  <a:srgbClr val="77777C"/>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Apple 2026 Environmental Progress Report, pp. 10, 66–82; Apple Newsroom (Apr. 16, 2026). Zero-waste claim applies to established sites.</a:t>
            </a:r>
            <a:endParaRPr lang="en-US" sz="570" dirty="0"/>
          </a:p>
        </p:txBody>
      </p:sp>
      <p:sp>
        <p:nvSpPr>
          <p:cNvPr id="25" name="Slide Number Placeholder 0"/>
          <p:cNvSpPr>
            <a:spLocks noGrp="1"/>
          </p:cNvSpPr>
          <p:nvPr>
            <p:ph type="sldNum" sz="quarter" idx="4294967295"/>
          </p:nvPr>
        </p:nvSpPr>
        <p:spPr>
          <a:xfrm>
            <a:off x="11210544" y="6519672"/>
            <a:ext cx="411480" cy="146304"/>
          </a:xfrm>
          <a:prstGeom prst="rect">
            <a:avLst/>
          </a:prstGeom>
          <a:extLst>
            <a:ext uri="{C572A759-6A51-4108-AA02-DFA0A04FC94B}">
              <ma14:wrappingTextBoxFlag xmlns:ma14="http://schemas.microsoft.com/office/mac/drawingml/2011/main" val="0"/>
            </a:ext>
          </a:extLst>
        </p:spPr>
        <p:txBody>
          <a:bodyPr lIns="0" tIns="0" rIns="0" bIns="0"/>
          <a:lstStyle>
            <a:lvl1pPr>
              <a:defRPr sz="600">
                <a:solidFill>
                  <a:srgbClr val="6E6E73"/>
                </a:solidFill>
                <a:latin typeface="Aptos"/>
                <a:ea typeface="Aptos"/>
                <a:cs typeface="Apto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347472"/>
            <a:ext cx="4114800" cy="201168"/>
          </a:xfrm>
          <a:prstGeom prst="rect">
            <a:avLst/>
          </a:prstGeom>
          <a:noFill/>
          <a:ln/>
        </p:spPr>
        <p:txBody>
          <a:bodyPr wrap="square" lIns="0" tIns="0" rIns="0" bIns="0" rtlCol="0" anchor="ctr">
            <a:normAutofit/>
          </a:bodyPr>
          <a:lstStyle/>
          <a:p>
            <a:pPr algn="l" indent="0" marL="0">
              <a:buNone/>
            </a:pPr>
            <a:r>
              <a:rPr lang="en-US" sz="720" b="1" spc="135" kern="0" dirty="0">
                <a:solidFill>
                  <a:srgbClr val="086247"/>
                </a:solidFill>
                <a:latin typeface="Aptos" pitchFamily="34" charset="0"/>
                <a:ea typeface="Aptos" pitchFamily="34" charset="-122"/>
                <a:cs typeface="Aptos" pitchFamily="34" charset="-120"/>
              </a:rPr>
              <a:t>TARGETING EMISSIONS WHERE CUSTOMERS FEEL IT</a:t>
            </a:r>
            <a:endParaRPr lang="en-US" sz="720" dirty="0"/>
          </a:p>
        </p:txBody>
      </p:sp>
      <p:sp>
        <p:nvSpPr>
          <p:cNvPr id="3" name="Text 1"/>
          <p:cNvSpPr/>
          <p:nvPr/>
        </p:nvSpPr>
        <p:spPr>
          <a:xfrm>
            <a:off x="594360" y="649224"/>
            <a:ext cx="8046720" cy="548640"/>
          </a:xfrm>
          <a:prstGeom prst="rect">
            <a:avLst/>
          </a:prstGeom>
          <a:noFill/>
          <a:ln/>
        </p:spPr>
        <p:txBody>
          <a:bodyPr wrap="square" lIns="0" tIns="0" rIns="0" bIns="0" rtlCol="0" anchor="ctr">
            <a:normAutofit/>
          </a:bodyPr>
          <a:lstStyle/>
          <a:p>
            <a:pPr algn="l" indent="0" marL="0">
              <a:buNone/>
            </a:pPr>
            <a:r>
              <a:rPr lang="en-US" sz="2600" b="1" dirty="0">
                <a:solidFill>
                  <a:srgbClr val="111113"/>
                </a:solidFill>
                <a:latin typeface="Aptos" pitchFamily="34" charset="0"/>
                <a:ea typeface="Aptos" pitchFamily="34" charset="-122"/>
                <a:cs typeface="Aptos" pitchFamily="34" charset="-120"/>
              </a:rPr>
              <a:t>96% of the footprint sits in making, using, and moving products.</a:t>
            </a:r>
            <a:endParaRPr lang="en-US" sz="2600" dirty="0"/>
          </a:p>
        </p:txBody>
      </p:sp>
      <p:sp>
        <p:nvSpPr>
          <p:cNvPr id="4" name="Text 2"/>
          <p:cNvSpPr/>
          <p:nvPr/>
        </p:nvSpPr>
        <p:spPr>
          <a:xfrm>
            <a:off x="8961120" y="612648"/>
            <a:ext cx="2651760" cy="502920"/>
          </a:xfrm>
          <a:prstGeom prst="rect">
            <a:avLst/>
          </a:prstGeom>
          <a:noFill/>
          <a:ln/>
        </p:spPr>
        <p:txBody>
          <a:bodyPr wrap="square" lIns="0" tIns="0" rIns="0" bIns="0" rtlCol="0" anchor="b">
            <a:normAutofit/>
          </a:bodyPr>
          <a:lstStyle/>
          <a:p>
            <a:pPr algn="r" indent="0" marL="0">
              <a:buNone/>
            </a:pPr>
            <a:r>
              <a:rPr lang="en-US" sz="950" dirty="0">
                <a:solidFill>
                  <a:srgbClr val="5F6368"/>
                </a:solidFill>
                <a:latin typeface="Aptos" pitchFamily="34" charset="0"/>
                <a:ea typeface="Aptos" pitchFamily="34" charset="-122"/>
                <a:cs typeface="Aptos" pitchFamily="34" charset="-120"/>
              </a:rPr>
              <a:t>ENERGY EFFICIENCY IS A CUSTOMER VALUE PROPOSITION</a:t>
            </a:r>
            <a:endParaRPr lang="en-US" sz="950" dirty="0"/>
          </a:p>
        </p:txBody>
      </p:sp>
      <p:sp>
        <p:nvSpPr>
          <p:cNvPr id="5" name="Shape 3"/>
          <p:cNvSpPr/>
          <p:nvPr/>
        </p:nvSpPr>
        <p:spPr>
          <a:xfrm>
            <a:off x="594360" y="1298448"/>
            <a:ext cx="11018520" cy="0"/>
          </a:xfrm>
          <a:prstGeom prst="line">
            <a:avLst/>
          </a:prstGeom>
          <a:noFill/>
          <a:ln w="12700">
            <a:solidFill>
              <a:srgbClr val="D9DADD"/>
            </a:solidFill>
            <a:prstDash val="solid"/>
            <a:headEnd type="none"/>
            <a:tailEnd type="none"/>
          </a:ln>
        </p:spPr>
      </p:sp>
      <p:graphicFrame>
        <p:nvGraphicFramePr>
          <p:cNvPr id="6" name="Chart 0" descr=""/>
          <p:cNvGraphicFramePr/>
          <p:nvPr/>
        </p:nvGraphicFramePr>
        <p:xfrm>
          <a:off x="640080" y="1572768"/>
          <a:ext cx="5010912" cy="4315968"/>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2176272" y="2962656"/>
            <a:ext cx="1920240" cy="585216"/>
          </a:xfrm>
          <a:prstGeom prst="rect">
            <a:avLst/>
          </a:prstGeom>
          <a:noFill/>
          <a:ln/>
        </p:spPr>
        <p:txBody>
          <a:bodyPr wrap="square" lIns="0" tIns="0" rIns="0" bIns="0" rtlCol="0" anchor="ctr">
            <a:normAutofit/>
          </a:bodyPr>
          <a:lstStyle/>
          <a:p>
            <a:pPr algn="ctr" indent="0" marL="0">
              <a:buNone/>
            </a:pPr>
            <a:r>
              <a:rPr lang="en-US" sz="3400" b="1" dirty="0">
                <a:solidFill>
                  <a:srgbClr val="086247"/>
                </a:solidFill>
                <a:latin typeface="Aptos" pitchFamily="34" charset="0"/>
                <a:ea typeface="Aptos" pitchFamily="34" charset="-122"/>
                <a:cs typeface="Aptos" pitchFamily="34" charset="-120"/>
              </a:rPr>
              <a:t>53%</a:t>
            </a:r>
            <a:endParaRPr lang="en-US" sz="3400" dirty="0"/>
          </a:p>
        </p:txBody>
      </p:sp>
      <p:sp>
        <p:nvSpPr>
          <p:cNvPr id="8" name="Text 5"/>
          <p:cNvSpPr/>
          <p:nvPr/>
        </p:nvSpPr>
        <p:spPr>
          <a:xfrm>
            <a:off x="2212848" y="3566160"/>
            <a:ext cx="1847088" cy="219456"/>
          </a:xfrm>
          <a:prstGeom prst="rect">
            <a:avLst/>
          </a:prstGeom>
          <a:noFill/>
          <a:ln/>
        </p:spPr>
        <p:txBody>
          <a:bodyPr wrap="square" lIns="0" tIns="0" rIns="0" bIns="0" rtlCol="0" anchor="ctr">
            <a:normAutofit/>
          </a:bodyPr>
          <a:lstStyle/>
          <a:p>
            <a:pPr algn="ctr" indent="0" marL="0">
              <a:buNone/>
            </a:pPr>
            <a:r>
              <a:rPr lang="en-US" sz="710" b="1" spc="80" kern="0" dirty="0">
                <a:solidFill>
                  <a:srgbClr val="5F6368"/>
                </a:solidFill>
                <a:latin typeface="Aptos" pitchFamily="34" charset="0"/>
                <a:ea typeface="Aptos" pitchFamily="34" charset="-122"/>
                <a:cs typeface="Aptos" pitchFamily="34" charset="-120"/>
              </a:rPr>
              <a:t>MANUFACTURING</a:t>
            </a:r>
            <a:endParaRPr lang="en-US" sz="710" dirty="0"/>
          </a:p>
        </p:txBody>
      </p:sp>
      <p:sp>
        <p:nvSpPr>
          <p:cNvPr id="9" name="Shape 6"/>
          <p:cNvSpPr/>
          <p:nvPr/>
        </p:nvSpPr>
        <p:spPr>
          <a:xfrm>
            <a:off x="5623560" y="1856232"/>
            <a:ext cx="146304" cy="146304"/>
          </a:xfrm>
          <a:prstGeom prst="ellipse">
            <a:avLst/>
          </a:prstGeom>
          <a:solidFill>
            <a:srgbClr val="086247"/>
          </a:solidFill>
          <a:ln w="12700">
            <a:solidFill>
              <a:srgbClr val="086247">
                <a:alpha val="0"/>
              </a:srgbClr>
            </a:solidFill>
            <a:prstDash val="solid"/>
          </a:ln>
        </p:spPr>
      </p:sp>
      <p:sp>
        <p:nvSpPr>
          <p:cNvPr id="10" name="Text 7"/>
          <p:cNvSpPr/>
          <p:nvPr/>
        </p:nvSpPr>
        <p:spPr>
          <a:xfrm>
            <a:off x="5897880" y="1810512"/>
            <a:ext cx="566928" cy="228600"/>
          </a:xfrm>
          <a:prstGeom prst="rect">
            <a:avLst/>
          </a:prstGeom>
          <a:noFill/>
          <a:ln/>
        </p:spPr>
        <p:txBody>
          <a:bodyPr wrap="square" lIns="0" tIns="0" rIns="0" bIns="0" rtlCol="0" anchor="ctr">
            <a:normAutofit/>
          </a:bodyPr>
          <a:lstStyle/>
          <a:p>
            <a:pPr algn="l" indent="0" marL="0">
              <a:buNone/>
            </a:pPr>
            <a:r>
              <a:rPr lang="en-US" sz="1080" b="1" dirty="0">
                <a:solidFill>
                  <a:srgbClr val="086247"/>
                </a:solidFill>
                <a:latin typeface="Aptos" pitchFamily="34" charset="0"/>
                <a:ea typeface="Aptos" pitchFamily="34" charset="-122"/>
                <a:cs typeface="Aptos" pitchFamily="34" charset="-120"/>
              </a:rPr>
              <a:t>53%</a:t>
            </a:r>
            <a:endParaRPr lang="en-US" sz="1080" dirty="0"/>
          </a:p>
        </p:txBody>
      </p:sp>
      <p:sp>
        <p:nvSpPr>
          <p:cNvPr id="11" name="Text 8"/>
          <p:cNvSpPr/>
          <p:nvPr/>
        </p:nvSpPr>
        <p:spPr>
          <a:xfrm>
            <a:off x="6547104" y="1810512"/>
            <a:ext cx="2148840" cy="228600"/>
          </a:xfrm>
          <a:prstGeom prst="rect">
            <a:avLst/>
          </a:prstGeom>
          <a:noFill/>
          <a:ln/>
        </p:spPr>
        <p:txBody>
          <a:bodyPr wrap="square" lIns="0" tIns="0" rIns="0" bIns="0" rtlCol="0" anchor="ctr">
            <a:normAutofit/>
          </a:bodyPr>
          <a:lstStyle/>
          <a:p>
            <a:pPr algn="l" indent="0" marL="0">
              <a:buNone/>
            </a:pPr>
            <a:r>
              <a:rPr lang="en-US" sz="1020" dirty="0">
                <a:solidFill>
                  <a:srgbClr val="111113"/>
                </a:solidFill>
                <a:latin typeface="Aptos" pitchFamily="34" charset="0"/>
                <a:ea typeface="Aptos" pitchFamily="34" charset="-122"/>
                <a:cs typeface="Aptos" pitchFamily="34" charset="-120"/>
              </a:rPr>
              <a:t>Product manufacturing</a:t>
            </a:r>
            <a:endParaRPr lang="en-US" sz="1020" dirty="0"/>
          </a:p>
        </p:txBody>
      </p:sp>
      <p:sp>
        <p:nvSpPr>
          <p:cNvPr id="12" name="Shape 9"/>
          <p:cNvSpPr/>
          <p:nvPr/>
        </p:nvSpPr>
        <p:spPr>
          <a:xfrm>
            <a:off x="5623560" y="2386584"/>
            <a:ext cx="146304" cy="146304"/>
          </a:xfrm>
          <a:prstGeom prst="ellipse">
            <a:avLst/>
          </a:prstGeom>
          <a:solidFill>
            <a:srgbClr val="0A8F62"/>
          </a:solidFill>
          <a:ln w="12700">
            <a:solidFill>
              <a:srgbClr val="0A8F62">
                <a:alpha val="0"/>
              </a:srgbClr>
            </a:solidFill>
            <a:prstDash val="solid"/>
          </a:ln>
        </p:spPr>
      </p:sp>
      <p:sp>
        <p:nvSpPr>
          <p:cNvPr id="13" name="Text 10"/>
          <p:cNvSpPr/>
          <p:nvPr/>
        </p:nvSpPr>
        <p:spPr>
          <a:xfrm>
            <a:off x="5897880" y="2340864"/>
            <a:ext cx="566928" cy="228600"/>
          </a:xfrm>
          <a:prstGeom prst="rect">
            <a:avLst/>
          </a:prstGeom>
          <a:noFill/>
          <a:ln/>
        </p:spPr>
        <p:txBody>
          <a:bodyPr wrap="square" lIns="0" tIns="0" rIns="0" bIns="0" rtlCol="0" anchor="ctr">
            <a:normAutofit/>
          </a:bodyPr>
          <a:lstStyle/>
          <a:p>
            <a:pPr algn="l" indent="0" marL="0">
              <a:buNone/>
            </a:pPr>
            <a:r>
              <a:rPr lang="en-US" sz="1080" b="1" dirty="0">
                <a:solidFill>
                  <a:srgbClr val="0A8F62"/>
                </a:solidFill>
                <a:latin typeface="Aptos" pitchFamily="34" charset="0"/>
                <a:ea typeface="Aptos" pitchFamily="34" charset="-122"/>
                <a:cs typeface="Aptos" pitchFamily="34" charset="-120"/>
              </a:rPr>
              <a:t>27%</a:t>
            </a:r>
            <a:endParaRPr lang="en-US" sz="1080" dirty="0"/>
          </a:p>
        </p:txBody>
      </p:sp>
      <p:sp>
        <p:nvSpPr>
          <p:cNvPr id="14" name="Text 11"/>
          <p:cNvSpPr/>
          <p:nvPr/>
        </p:nvSpPr>
        <p:spPr>
          <a:xfrm>
            <a:off x="6547104" y="2340864"/>
            <a:ext cx="2148840" cy="228600"/>
          </a:xfrm>
          <a:prstGeom prst="rect">
            <a:avLst/>
          </a:prstGeom>
          <a:noFill/>
          <a:ln/>
        </p:spPr>
        <p:txBody>
          <a:bodyPr wrap="square" lIns="0" tIns="0" rIns="0" bIns="0" rtlCol="0" anchor="ctr">
            <a:normAutofit/>
          </a:bodyPr>
          <a:lstStyle/>
          <a:p>
            <a:pPr algn="l" indent="0" marL="0">
              <a:buNone/>
            </a:pPr>
            <a:r>
              <a:rPr lang="en-US" sz="1020" dirty="0">
                <a:solidFill>
                  <a:srgbClr val="111113"/>
                </a:solidFill>
                <a:latin typeface="Aptos" pitchFamily="34" charset="0"/>
                <a:ea typeface="Aptos" pitchFamily="34" charset="-122"/>
                <a:cs typeface="Aptos" pitchFamily="34" charset="-120"/>
              </a:rPr>
              <a:t>Product use</a:t>
            </a:r>
            <a:endParaRPr lang="en-US" sz="1020" dirty="0"/>
          </a:p>
        </p:txBody>
      </p:sp>
      <p:sp>
        <p:nvSpPr>
          <p:cNvPr id="15" name="Shape 12"/>
          <p:cNvSpPr/>
          <p:nvPr/>
        </p:nvSpPr>
        <p:spPr>
          <a:xfrm>
            <a:off x="5623560" y="2916936"/>
            <a:ext cx="146304" cy="146304"/>
          </a:xfrm>
          <a:prstGeom prst="ellipse">
            <a:avLst/>
          </a:prstGeom>
          <a:solidFill>
            <a:srgbClr val="2CB7A7"/>
          </a:solidFill>
          <a:ln w="12700">
            <a:solidFill>
              <a:srgbClr val="2CB7A7">
                <a:alpha val="0"/>
              </a:srgbClr>
            </a:solidFill>
            <a:prstDash val="solid"/>
          </a:ln>
        </p:spPr>
      </p:sp>
      <p:sp>
        <p:nvSpPr>
          <p:cNvPr id="16" name="Text 13"/>
          <p:cNvSpPr/>
          <p:nvPr/>
        </p:nvSpPr>
        <p:spPr>
          <a:xfrm>
            <a:off x="5897880" y="2871216"/>
            <a:ext cx="566928" cy="228600"/>
          </a:xfrm>
          <a:prstGeom prst="rect">
            <a:avLst/>
          </a:prstGeom>
          <a:noFill/>
          <a:ln/>
        </p:spPr>
        <p:txBody>
          <a:bodyPr wrap="square" lIns="0" tIns="0" rIns="0" bIns="0" rtlCol="0" anchor="ctr">
            <a:normAutofit/>
          </a:bodyPr>
          <a:lstStyle/>
          <a:p>
            <a:pPr algn="l" indent="0" marL="0">
              <a:buNone/>
            </a:pPr>
            <a:r>
              <a:rPr lang="en-US" sz="1080" b="1" dirty="0">
                <a:solidFill>
                  <a:srgbClr val="2CB7A7"/>
                </a:solidFill>
                <a:latin typeface="Aptos" pitchFamily="34" charset="0"/>
                <a:ea typeface="Aptos" pitchFamily="34" charset="-122"/>
                <a:cs typeface="Aptos" pitchFamily="34" charset="-120"/>
              </a:rPr>
              <a:t>16%</a:t>
            </a:r>
            <a:endParaRPr lang="en-US" sz="1080" dirty="0"/>
          </a:p>
        </p:txBody>
      </p:sp>
      <p:sp>
        <p:nvSpPr>
          <p:cNvPr id="17" name="Text 14"/>
          <p:cNvSpPr/>
          <p:nvPr/>
        </p:nvSpPr>
        <p:spPr>
          <a:xfrm>
            <a:off x="6547104" y="2871216"/>
            <a:ext cx="2148840" cy="228600"/>
          </a:xfrm>
          <a:prstGeom prst="rect">
            <a:avLst/>
          </a:prstGeom>
          <a:noFill/>
          <a:ln/>
        </p:spPr>
        <p:txBody>
          <a:bodyPr wrap="square" lIns="0" tIns="0" rIns="0" bIns="0" rtlCol="0" anchor="ctr">
            <a:normAutofit/>
          </a:bodyPr>
          <a:lstStyle/>
          <a:p>
            <a:pPr algn="l" indent="0" marL="0">
              <a:buNone/>
            </a:pPr>
            <a:r>
              <a:rPr lang="en-US" sz="1020" dirty="0">
                <a:solidFill>
                  <a:srgbClr val="111113"/>
                </a:solidFill>
                <a:latin typeface="Aptos" pitchFamily="34" charset="0"/>
                <a:ea typeface="Aptos" pitchFamily="34" charset="-122"/>
                <a:cs typeface="Aptos" pitchFamily="34" charset="-120"/>
              </a:rPr>
              <a:t>Product transport</a:t>
            </a:r>
            <a:endParaRPr lang="en-US" sz="1020" dirty="0"/>
          </a:p>
        </p:txBody>
      </p:sp>
      <p:sp>
        <p:nvSpPr>
          <p:cNvPr id="18" name="Shape 15"/>
          <p:cNvSpPr/>
          <p:nvPr/>
        </p:nvSpPr>
        <p:spPr>
          <a:xfrm>
            <a:off x="5623560" y="3447288"/>
            <a:ext cx="146304" cy="146304"/>
          </a:xfrm>
          <a:prstGeom prst="ellipse">
            <a:avLst/>
          </a:prstGeom>
          <a:solidFill>
            <a:srgbClr val="A9ADB3"/>
          </a:solidFill>
          <a:ln w="12700">
            <a:solidFill>
              <a:srgbClr val="A9ADB3">
                <a:alpha val="0"/>
              </a:srgbClr>
            </a:solidFill>
            <a:prstDash val="solid"/>
          </a:ln>
        </p:spPr>
      </p:sp>
      <p:sp>
        <p:nvSpPr>
          <p:cNvPr id="19" name="Text 16"/>
          <p:cNvSpPr/>
          <p:nvPr/>
        </p:nvSpPr>
        <p:spPr>
          <a:xfrm>
            <a:off x="5897880" y="3401568"/>
            <a:ext cx="566928" cy="228600"/>
          </a:xfrm>
          <a:prstGeom prst="rect">
            <a:avLst/>
          </a:prstGeom>
          <a:noFill/>
          <a:ln/>
        </p:spPr>
        <p:txBody>
          <a:bodyPr wrap="square" lIns="0" tIns="0" rIns="0" bIns="0" rtlCol="0" anchor="ctr">
            <a:normAutofit/>
          </a:bodyPr>
          <a:lstStyle/>
          <a:p>
            <a:pPr algn="l" indent="0" marL="0">
              <a:buNone/>
            </a:pPr>
            <a:r>
              <a:rPr lang="en-US" sz="1080" b="1" dirty="0">
                <a:solidFill>
                  <a:srgbClr val="A9ADB3"/>
                </a:solidFill>
                <a:latin typeface="Aptos" pitchFamily="34" charset="0"/>
                <a:ea typeface="Aptos" pitchFamily="34" charset="-122"/>
                <a:cs typeface="Aptos" pitchFamily="34" charset="-120"/>
              </a:rPr>
              <a:t>3%</a:t>
            </a:r>
            <a:endParaRPr lang="en-US" sz="1080" dirty="0"/>
          </a:p>
        </p:txBody>
      </p:sp>
      <p:sp>
        <p:nvSpPr>
          <p:cNvPr id="20" name="Text 17"/>
          <p:cNvSpPr/>
          <p:nvPr/>
        </p:nvSpPr>
        <p:spPr>
          <a:xfrm>
            <a:off x="6547104" y="3401568"/>
            <a:ext cx="2148840" cy="228600"/>
          </a:xfrm>
          <a:prstGeom prst="rect">
            <a:avLst/>
          </a:prstGeom>
          <a:noFill/>
          <a:ln/>
        </p:spPr>
        <p:txBody>
          <a:bodyPr wrap="square" lIns="0" tIns="0" rIns="0" bIns="0" rtlCol="0" anchor="ctr">
            <a:normAutofit/>
          </a:bodyPr>
          <a:lstStyle/>
          <a:p>
            <a:pPr algn="l" indent="0" marL="0">
              <a:buNone/>
            </a:pPr>
            <a:r>
              <a:rPr lang="en-US" sz="1020" dirty="0">
                <a:solidFill>
                  <a:srgbClr val="111113"/>
                </a:solidFill>
                <a:latin typeface="Aptos" pitchFamily="34" charset="0"/>
                <a:ea typeface="Aptos" pitchFamily="34" charset="-122"/>
                <a:cs typeface="Aptos" pitchFamily="34" charset="-120"/>
              </a:rPr>
              <a:t>Business operations</a:t>
            </a:r>
            <a:endParaRPr lang="en-US" sz="1020" dirty="0"/>
          </a:p>
        </p:txBody>
      </p:sp>
      <p:sp>
        <p:nvSpPr>
          <p:cNvPr id="21" name="Shape 18"/>
          <p:cNvSpPr/>
          <p:nvPr/>
        </p:nvSpPr>
        <p:spPr>
          <a:xfrm>
            <a:off x="5623560" y="3977640"/>
            <a:ext cx="146304" cy="146304"/>
          </a:xfrm>
          <a:prstGeom prst="ellipse">
            <a:avLst/>
          </a:prstGeom>
          <a:solidFill>
            <a:srgbClr val="D9DDDB"/>
          </a:solidFill>
          <a:ln w="12700">
            <a:solidFill>
              <a:srgbClr val="D9DDDB">
                <a:alpha val="0"/>
              </a:srgbClr>
            </a:solidFill>
            <a:prstDash val="solid"/>
          </a:ln>
        </p:spPr>
      </p:sp>
      <p:sp>
        <p:nvSpPr>
          <p:cNvPr id="22" name="Text 19"/>
          <p:cNvSpPr/>
          <p:nvPr/>
        </p:nvSpPr>
        <p:spPr>
          <a:xfrm>
            <a:off x="5897880" y="3931920"/>
            <a:ext cx="566928" cy="228600"/>
          </a:xfrm>
          <a:prstGeom prst="rect">
            <a:avLst/>
          </a:prstGeom>
          <a:noFill/>
          <a:ln/>
        </p:spPr>
        <p:txBody>
          <a:bodyPr wrap="square" lIns="0" tIns="0" rIns="0" bIns="0" rtlCol="0" anchor="ctr">
            <a:normAutofit/>
          </a:bodyPr>
          <a:lstStyle/>
          <a:p>
            <a:pPr algn="l" indent="0" marL="0">
              <a:buNone/>
            </a:pPr>
            <a:r>
              <a:rPr lang="en-US" sz="1080" b="1" dirty="0">
                <a:solidFill>
                  <a:srgbClr val="5F6368"/>
                </a:solidFill>
                <a:latin typeface="Aptos" pitchFamily="34" charset="0"/>
                <a:ea typeface="Aptos" pitchFamily="34" charset="-122"/>
                <a:cs typeface="Aptos" pitchFamily="34" charset="-120"/>
              </a:rPr>
              <a:t>&lt;1%</a:t>
            </a:r>
            <a:endParaRPr lang="en-US" sz="1080" dirty="0"/>
          </a:p>
        </p:txBody>
      </p:sp>
      <p:sp>
        <p:nvSpPr>
          <p:cNvPr id="23" name="Text 20"/>
          <p:cNvSpPr/>
          <p:nvPr/>
        </p:nvSpPr>
        <p:spPr>
          <a:xfrm>
            <a:off x="6547104" y="3931920"/>
            <a:ext cx="2148840" cy="228600"/>
          </a:xfrm>
          <a:prstGeom prst="rect">
            <a:avLst/>
          </a:prstGeom>
          <a:noFill/>
          <a:ln/>
        </p:spPr>
        <p:txBody>
          <a:bodyPr wrap="square" lIns="0" tIns="0" rIns="0" bIns="0" rtlCol="0" anchor="ctr">
            <a:normAutofit/>
          </a:bodyPr>
          <a:lstStyle/>
          <a:p>
            <a:pPr algn="l" indent="0" marL="0">
              <a:buNone/>
            </a:pPr>
            <a:r>
              <a:rPr lang="en-US" sz="1020" dirty="0">
                <a:solidFill>
                  <a:srgbClr val="111113"/>
                </a:solidFill>
                <a:latin typeface="Aptos" pitchFamily="34" charset="0"/>
                <a:ea typeface="Aptos" pitchFamily="34" charset="-122"/>
                <a:cs typeface="Aptos" pitchFamily="34" charset="-120"/>
              </a:rPr>
              <a:t>End-of-life</a:t>
            </a:r>
            <a:endParaRPr lang="en-US" sz="1020" dirty="0"/>
          </a:p>
        </p:txBody>
      </p:sp>
      <p:sp>
        <p:nvSpPr>
          <p:cNvPr id="24" name="Shape 21"/>
          <p:cNvSpPr/>
          <p:nvPr/>
        </p:nvSpPr>
        <p:spPr>
          <a:xfrm>
            <a:off x="8823960" y="1700784"/>
            <a:ext cx="2697480" cy="2615184"/>
          </a:xfrm>
          <a:prstGeom prst="roundRect">
            <a:avLst>
              <a:gd name="adj" fmla="val 4196"/>
            </a:avLst>
          </a:prstGeom>
          <a:solidFill>
            <a:srgbClr val="086247"/>
          </a:solidFill>
          <a:ln w="12700">
            <a:solidFill>
              <a:srgbClr val="086247"/>
            </a:solidFill>
            <a:prstDash val="solid"/>
          </a:ln>
        </p:spPr>
      </p:sp>
      <p:sp>
        <p:nvSpPr>
          <p:cNvPr id="25" name="Shape 22"/>
          <p:cNvSpPr/>
          <p:nvPr/>
        </p:nvSpPr>
        <p:spPr>
          <a:xfrm>
            <a:off x="9107424" y="1975104"/>
            <a:ext cx="1325880" cy="274320"/>
          </a:xfrm>
          <a:prstGeom prst="roundRect">
            <a:avLst>
              <a:gd name="adj" fmla="val 26667"/>
            </a:avLst>
          </a:prstGeom>
          <a:solidFill>
            <a:srgbClr val="B9F240"/>
          </a:solidFill>
          <a:ln w="12700">
            <a:solidFill>
              <a:srgbClr val="B9F240">
                <a:alpha val="0"/>
              </a:srgbClr>
            </a:solidFill>
            <a:prstDash val="solid"/>
          </a:ln>
        </p:spPr>
      </p:sp>
      <p:sp>
        <p:nvSpPr>
          <p:cNvPr id="26" name="Text 23"/>
          <p:cNvSpPr/>
          <p:nvPr/>
        </p:nvSpPr>
        <p:spPr>
          <a:xfrm>
            <a:off x="9180576" y="1993392"/>
            <a:ext cx="1179576" cy="219456"/>
          </a:xfrm>
          <a:prstGeom prst="rect">
            <a:avLst/>
          </a:prstGeom>
          <a:noFill/>
          <a:ln/>
        </p:spPr>
        <p:txBody>
          <a:bodyPr wrap="square" lIns="0" tIns="0" rIns="0" bIns="0" rtlCol="0" anchor="ctr">
            <a:normAutofit/>
          </a:bodyPr>
          <a:lstStyle/>
          <a:p>
            <a:pPr algn="ctr" indent="0" marL="0">
              <a:buNone/>
            </a:pPr>
            <a:r>
              <a:rPr lang="en-US" sz="650" b="1" spc="80" kern="0" dirty="0">
                <a:solidFill>
                  <a:srgbClr val="086247"/>
                </a:solidFill>
                <a:latin typeface="Aptos" pitchFamily="34" charset="0"/>
                <a:ea typeface="Aptos" pitchFamily="34" charset="-122"/>
                <a:cs typeface="Aptos" pitchFamily="34" charset="-120"/>
              </a:rPr>
              <a:t>SALES MESSAGE</a:t>
            </a:r>
            <a:endParaRPr lang="en-US" sz="650" dirty="0"/>
          </a:p>
        </p:txBody>
      </p:sp>
      <p:sp>
        <p:nvSpPr>
          <p:cNvPr id="27" name="Text 24"/>
          <p:cNvSpPr/>
          <p:nvPr/>
        </p:nvSpPr>
        <p:spPr>
          <a:xfrm>
            <a:off x="9107424" y="2432304"/>
            <a:ext cx="2084832" cy="713232"/>
          </a:xfrm>
          <a:prstGeom prst="rect">
            <a:avLst/>
          </a:prstGeom>
          <a:noFill/>
          <a:ln/>
        </p:spPr>
        <p:txBody>
          <a:bodyPr wrap="square" lIns="0" tIns="0" rIns="0" bIns="0" rtlCol="0" anchor="t">
            <a:normAutofit/>
          </a:bodyPr>
          <a:lstStyle/>
          <a:p>
            <a:pPr algn="l" indent="0" marL="0">
              <a:buNone/>
            </a:pPr>
            <a:r>
              <a:rPr lang="en-US" sz="1700" b="1" dirty="0">
                <a:solidFill>
                  <a:srgbClr val="FFFFFF"/>
                </a:solidFill>
                <a:latin typeface="Aptos" pitchFamily="34" charset="0"/>
                <a:ea typeface="Aptos" pitchFamily="34" charset="-122"/>
                <a:cs typeface="Aptos" pitchFamily="34" charset="-120"/>
              </a:rPr>
              <a:t>Apple Silicon turns</a:t>
            </a:r>
            <a:endParaRPr lang="en-US" sz="1700" dirty="0"/>
          </a:p>
          <a:p>
            <a:pPr algn="l" indent="0" marL="0">
              <a:buNone/>
            </a:pPr>
            <a:r>
              <a:rPr lang="en-US" sz="1700" b="1" dirty="0">
                <a:solidFill>
                  <a:srgbClr val="FFFFFF"/>
                </a:solidFill>
                <a:latin typeface="Aptos" pitchFamily="34" charset="0"/>
                <a:ea typeface="Aptos" pitchFamily="34" charset="-122"/>
                <a:cs typeface="Aptos" pitchFamily="34" charset="-120"/>
              </a:rPr>
              <a:t>27% into buyer value.</a:t>
            </a:r>
            <a:endParaRPr lang="en-US" sz="1700" dirty="0"/>
          </a:p>
        </p:txBody>
      </p:sp>
      <p:sp>
        <p:nvSpPr>
          <p:cNvPr id="28" name="Text 25"/>
          <p:cNvSpPr/>
          <p:nvPr/>
        </p:nvSpPr>
        <p:spPr>
          <a:xfrm>
            <a:off x="9107424" y="3310128"/>
            <a:ext cx="2084832" cy="621792"/>
          </a:xfrm>
          <a:prstGeom prst="rect">
            <a:avLst/>
          </a:prstGeom>
          <a:noFill/>
          <a:ln/>
        </p:spPr>
        <p:txBody>
          <a:bodyPr wrap="square" lIns="0" tIns="0" rIns="0" bIns="0" rtlCol="0" anchor="t">
            <a:normAutofit/>
          </a:bodyPr>
          <a:lstStyle/>
          <a:p>
            <a:pPr algn="l" indent="0" marL="0">
              <a:buNone/>
            </a:pPr>
            <a:r>
              <a:rPr lang="en-US" sz="880" dirty="0">
                <a:solidFill>
                  <a:srgbClr val="D6E7DF"/>
                </a:solidFill>
                <a:latin typeface="Aptos" pitchFamily="34" charset="0"/>
                <a:ea typeface="Aptos" pitchFamily="34" charset="-122"/>
                <a:cs typeface="Aptos" pitchFamily="34" charset="-120"/>
              </a:rPr>
              <a:t>Lower device energy demand supports operating-cost and downstream-emissions goals.</a:t>
            </a:r>
            <a:endParaRPr lang="en-US" sz="880" dirty="0"/>
          </a:p>
        </p:txBody>
      </p:sp>
      <p:sp>
        <p:nvSpPr>
          <p:cNvPr id="29" name="Shape 26"/>
          <p:cNvSpPr/>
          <p:nvPr/>
        </p:nvSpPr>
        <p:spPr>
          <a:xfrm>
            <a:off x="5614416" y="4617720"/>
            <a:ext cx="5907024" cy="1161288"/>
          </a:xfrm>
          <a:prstGeom prst="roundRect">
            <a:avLst>
              <a:gd name="adj" fmla="val 9449"/>
            </a:avLst>
          </a:prstGeom>
          <a:solidFill>
            <a:srgbClr val="E8EFEB"/>
          </a:solidFill>
          <a:ln w="12700">
            <a:solidFill>
              <a:srgbClr val="E8EFEB"/>
            </a:solidFill>
            <a:prstDash val="solid"/>
          </a:ln>
        </p:spPr>
      </p:sp>
      <p:sp>
        <p:nvSpPr>
          <p:cNvPr id="30" name="Text 27"/>
          <p:cNvSpPr/>
          <p:nvPr/>
        </p:nvSpPr>
        <p:spPr>
          <a:xfrm>
            <a:off x="5907024" y="4837176"/>
            <a:ext cx="2011680" cy="182880"/>
          </a:xfrm>
          <a:prstGeom prst="rect">
            <a:avLst/>
          </a:prstGeom>
          <a:noFill/>
          <a:ln/>
        </p:spPr>
        <p:txBody>
          <a:bodyPr wrap="square" lIns="0" tIns="0" rIns="0" bIns="0" rtlCol="0" anchor="ctr">
            <a:normAutofit/>
          </a:bodyPr>
          <a:lstStyle/>
          <a:p>
            <a:pPr algn="l" indent="0" marL="0">
              <a:buNone/>
            </a:pPr>
            <a:r>
              <a:rPr lang="en-US" sz="640" b="1" spc="90" kern="0" dirty="0">
                <a:solidFill>
                  <a:srgbClr val="086247"/>
                </a:solidFill>
                <a:latin typeface="Aptos" pitchFamily="34" charset="0"/>
                <a:ea typeface="Aptos" pitchFamily="34" charset="-122"/>
                <a:cs typeface="Aptos" pitchFamily="34" charset="-120"/>
              </a:rPr>
              <a:t>COMMERCIAL TRANSLATION</a:t>
            </a:r>
            <a:endParaRPr lang="en-US" sz="640" dirty="0"/>
          </a:p>
        </p:txBody>
      </p:sp>
      <p:sp>
        <p:nvSpPr>
          <p:cNvPr id="31" name="Text 28"/>
          <p:cNvSpPr/>
          <p:nvPr/>
        </p:nvSpPr>
        <p:spPr>
          <a:xfrm>
            <a:off x="5907024" y="5148072"/>
            <a:ext cx="5166360" cy="347472"/>
          </a:xfrm>
          <a:prstGeom prst="rect">
            <a:avLst/>
          </a:prstGeom>
          <a:noFill/>
          <a:ln/>
        </p:spPr>
        <p:txBody>
          <a:bodyPr wrap="square" lIns="0" tIns="0" rIns="0" bIns="0" rtlCol="0" anchor="ctr">
            <a:normAutofit/>
          </a:bodyPr>
          <a:lstStyle/>
          <a:p>
            <a:pPr algn="l" indent="0" marL="0">
              <a:buNone/>
            </a:pPr>
            <a:r>
              <a:rPr lang="en-US" sz="1220" b="1" dirty="0">
                <a:solidFill>
                  <a:srgbClr val="111113"/>
                </a:solidFill>
                <a:latin typeface="Aptos" pitchFamily="34" charset="0"/>
                <a:ea typeface="Aptos" pitchFamily="34" charset="-122"/>
                <a:cs typeface="Aptos" pitchFamily="34" charset="-120"/>
              </a:rPr>
              <a:t>Sell the lifecycle: embodied carbon at purchase + energy efficiency throughout deployment.</a:t>
            </a:r>
            <a:endParaRPr lang="en-US" sz="1220" dirty="0"/>
          </a:p>
        </p:txBody>
      </p:sp>
      <p:sp>
        <p:nvSpPr>
          <p:cNvPr id="32" name="Text 29">
            <a:hlinkClick r:id="rId2" tooltip=""/>
          </p:cNvPr>
          <p:cNvSpPr/>
          <p:nvPr/>
        </p:nvSpPr>
        <p:spPr>
          <a:xfrm>
            <a:off x="594360" y="6245352"/>
            <a:ext cx="10881360" cy="128016"/>
          </a:xfrm>
          <a:prstGeom prst="rect">
            <a:avLst/>
          </a:prstGeom>
          <a:noFill/>
          <a:ln/>
        </p:spPr>
        <p:txBody>
          <a:bodyPr wrap="square" lIns="0" tIns="0" rIns="0" bIns="0" rtlCol="0" anchor="ctr">
            <a:normAutofit/>
          </a:bodyPr>
          <a:lstStyle/>
          <a:p>
            <a:pPr algn="l" indent="0" marL="0">
              <a:buNone/>
            </a:pPr>
            <a:r>
              <a:rPr lang="en-US" sz="570" i="1" u="sng" dirty="0">
                <a:solidFill>
                  <a:srgbClr val="77777C"/>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Source: Apple 2026 Environmental Progress Report, pp. 11, 42–50. Percentages shown are shares of gross footprint and may exceed 100% due to rounding.</a:t>
            </a:r>
            <a:endParaRPr lang="en-US" sz="570" dirty="0"/>
          </a:p>
        </p:txBody>
      </p:sp>
      <p:sp>
        <p:nvSpPr>
          <p:cNvPr id="25" name="Slide Number Placeholder 0"/>
          <p:cNvSpPr>
            <a:spLocks noGrp="1"/>
          </p:cNvSpPr>
          <p:nvPr>
            <p:ph type="sldNum" sz="quarter" idx="4294967295"/>
          </p:nvPr>
        </p:nvSpPr>
        <p:spPr>
          <a:xfrm>
            <a:off x="11210544" y="6519672"/>
            <a:ext cx="411480" cy="146304"/>
          </a:xfrm>
          <a:prstGeom prst="rect">
            <a:avLst/>
          </a:prstGeom>
          <a:extLst>
            <a:ext uri="{C572A759-6A51-4108-AA02-DFA0A04FC94B}">
              <ma14:wrappingTextBoxFlag xmlns:ma14="http://schemas.microsoft.com/office/mac/drawingml/2011/main" val="0"/>
            </a:ext>
          </a:extLst>
        </p:spPr>
        <p:txBody>
          <a:bodyPr lIns="0" tIns="0" rIns="0" bIns="0"/>
          <a:lstStyle>
            <a:lvl1pPr>
              <a:defRPr sz="600">
                <a:solidFill>
                  <a:srgbClr val="6E6E73"/>
                </a:solidFill>
                <a:latin typeface="Aptos"/>
                <a:ea typeface="Aptos"/>
                <a:cs typeface="Apto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347472"/>
            <a:ext cx="4114800" cy="201168"/>
          </a:xfrm>
          <a:prstGeom prst="rect">
            <a:avLst/>
          </a:prstGeom>
          <a:noFill/>
          <a:ln/>
        </p:spPr>
        <p:txBody>
          <a:bodyPr wrap="square" lIns="0" tIns="0" rIns="0" bIns="0" rtlCol="0" anchor="ctr">
            <a:normAutofit/>
          </a:bodyPr>
          <a:lstStyle/>
          <a:p>
            <a:pPr algn="l" indent="0" marL="0">
              <a:buNone/>
            </a:pPr>
            <a:r>
              <a:rPr lang="en-US" sz="720" b="1" spc="135" kern="0" dirty="0">
                <a:solidFill>
                  <a:srgbClr val="086247"/>
                </a:solidFill>
                <a:latin typeface="Aptos" pitchFamily="34" charset="0"/>
                <a:ea typeface="Aptos" pitchFamily="34" charset="-122"/>
                <a:cs typeface="Aptos" pitchFamily="34" charset="-120"/>
              </a:rPr>
              <a:t>FUNDING THE TRANSITION</a:t>
            </a:r>
            <a:endParaRPr lang="en-US" sz="720" dirty="0"/>
          </a:p>
        </p:txBody>
      </p:sp>
      <p:sp>
        <p:nvSpPr>
          <p:cNvPr id="3" name="Text 1"/>
          <p:cNvSpPr/>
          <p:nvPr/>
        </p:nvSpPr>
        <p:spPr>
          <a:xfrm>
            <a:off x="594360" y="649224"/>
            <a:ext cx="8046720" cy="548640"/>
          </a:xfrm>
          <a:prstGeom prst="rect">
            <a:avLst/>
          </a:prstGeom>
          <a:noFill/>
          <a:ln/>
        </p:spPr>
        <p:txBody>
          <a:bodyPr wrap="square" lIns="0" tIns="0" rIns="0" bIns="0" rtlCol="0" anchor="ctr">
            <a:normAutofit/>
          </a:bodyPr>
          <a:lstStyle/>
          <a:p>
            <a:pPr algn="l" indent="0" marL="0">
              <a:buNone/>
            </a:pPr>
            <a:r>
              <a:rPr lang="en-US" sz="2600" b="1" dirty="0">
                <a:solidFill>
                  <a:srgbClr val="111113"/>
                </a:solidFill>
                <a:latin typeface="Aptos" pitchFamily="34" charset="0"/>
                <a:ea typeface="Aptos" pitchFamily="34" charset="-122"/>
                <a:cs typeface="Aptos" pitchFamily="34" charset="-120"/>
              </a:rPr>
              <a:t>Environmental programs show scale; green finance shows durability.</a:t>
            </a:r>
            <a:endParaRPr lang="en-US" sz="2600" dirty="0"/>
          </a:p>
        </p:txBody>
      </p:sp>
      <p:sp>
        <p:nvSpPr>
          <p:cNvPr id="4" name="Text 2"/>
          <p:cNvSpPr/>
          <p:nvPr/>
        </p:nvSpPr>
        <p:spPr>
          <a:xfrm>
            <a:off x="8961120" y="612648"/>
            <a:ext cx="2651760" cy="502920"/>
          </a:xfrm>
          <a:prstGeom prst="rect">
            <a:avLst/>
          </a:prstGeom>
          <a:noFill/>
          <a:ln/>
        </p:spPr>
        <p:txBody>
          <a:bodyPr wrap="square" lIns="0" tIns="0" rIns="0" bIns="0" rtlCol="0" anchor="b">
            <a:normAutofit/>
          </a:bodyPr>
          <a:lstStyle/>
          <a:p>
            <a:pPr algn="r" indent="0" marL="0">
              <a:buNone/>
            </a:pPr>
            <a:r>
              <a:rPr lang="en-US" sz="950" dirty="0">
                <a:solidFill>
                  <a:srgbClr val="5F6368"/>
                </a:solidFill>
                <a:latin typeface="Aptos" pitchFamily="34" charset="0"/>
                <a:ea typeface="Aptos" pitchFamily="34" charset="-122"/>
                <a:cs typeface="Aptos" pitchFamily="34" charset="-120"/>
              </a:rPr>
              <a:t>CAPITAL + EXECUTION → CREDIBLE LONG-TERM SIGNAL</a:t>
            </a:r>
            <a:endParaRPr lang="en-US" sz="950" dirty="0"/>
          </a:p>
        </p:txBody>
      </p:sp>
      <p:sp>
        <p:nvSpPr>
          <p:cNvPr id="5" name="Shape 3"/>
          <p:cNvSpPr/>
          <p:nvPr/>
        </p:nvSpPr>
        <p:spPr>
          <a:xfrm>
            <a:off x="594360" y="1298448"/>
            <a:ext cx="11018520" cy="0"/>
          </a:xfrm>
          <a:prstGeom prst="line">
            <a:avLst/>
          </a:prstGeom>
          <a:noFill/>
          <a:ln w="12700">
            <a:solidFill>
              <a:srgbClr val="D9DADD"/>
            </a:solidFill>
            <a:prstDash val="solid"/>
            <a:headEnd type="none"/>
            <a:tailEnd type="none"/>
          </a:ln>
        </p:spPr>
      </p:sp>
      <p:sp>
        <p:nvSpPr>
          <p:cNvPr id="6" name="Shape 4"/>
          <p:cNvSpPr/>
          <p:nvPr/>
        </p:nvSpPr>
        <p:spPr>
          <a:xfrm>
            <a:off x="621792" y="1572768"/>
            <a:ext cx="4800600" cy="4416552"/>
          </a:xfrm>
          <a:prstGeom prst="roundRect">
            <a:avLst>
              <a:gd name="adj" fmla="val 2484"/>
            </a:avLst>
          </a:prstGeom>
          <a:solidFill>
            <a:srgbClr val="086247"/>
          </a:solidFill>
          <a:ln w="12700">
            <a:solidFill>
              <a:srgbClr val="086247"/>
            </a:solidFill>
            <a:prstDash val="solid"/>
          </a:ln>
        </p:spPr>
      </p:sp>
      <p:sp>
        <p:nvSpPr>
          <p:cNvPr id="7" name="Text 5"/>
          <p:cNvSpPr/>
          <p:nvPr/>
        </p:nvSpPr>
        <p:spPr>
          <a:xfrm>
            <a:off x="960120" y="1874520"/>
            <a:ext cx="4069080" cy="1051560"/>
          </a:xfrm>
          <a:prstGeom prst="rect">
            <a:avLst/>
          </a:prstGeom>
          <a:noFill/>
          <a:ln/>
        </p:spPr>
        <p:txBody>
          <a:bodyPr wrap="square" lIns="0" tIns="0" rIns="0" bIns="0" rtlCol="0" anchor="ctr">
            <a:normAutofit/>
          </a:bodyPr>
          <a:lstStyle/>
          <a:p>
            <a:pPr algn="l" indent="0" marL="0">
              <a:buNone/>
            </a:pPr>
            <a:r>
              <a:rPr lang="en-US" sz="6100" b="1" dirty="0">
                <a:solidFill>
                  <a:srgbClr val="B9F240"/>
                </a:solidFill>
                <a:latin typeface="Aptos" pitchFamily="34" charset="0"/>
                <a:ea typeface="Aptos" pitchFamily="34" charset="-122"/>
                <a:cs typeface="Aptos" pitchFamily="34" charset="-120"/>
              </a:rPr>
              <a:t>43M</a:t>
            </a:r>
            <a:endParaRPr lang="en-US" sz="6100" dirty="0"/>
          </a:p>
        </p:txBody>
      </p:sp>
      <p:sp>
        <p:nvSpPr>
          <p:cNvPr id="8" name="Text 6"/>
          <p:cNvSpPr/>
          <p:nvPr/>
        </p:nvSpPr>
        <p:spPr>
          <a:xfrm>
            <a:off x="996696" y="2862072"/>
            <a:ext cx="3611880" cy="438912"/>
          </a:xfrm>
          <a:prstGeom prst="rect">
            <a:avLst/>
          </a:prstGeom>
          <a:noFill/>
          <a:ln/>
        </p:spPr>
        <p:txBody>
          <a:bodyPr wrap="square" lIns="0" tIns="0" rIns="0" bIns="0" rtlCol="0" anchor="ctr">
            <a:normAutofit/>
          </a:bodyPr>
          <a:lstStyle/>
          <a:p>
            <a:pPr algn="l" indent="0" marL="0">
              <a:buNone/>
            </a:pPr>
            <a:r>
              <a:rPr lang="en-US" sz="1750" b="1" dirty="0">
                <a:solidFill>
                  <a:srgbClr val="FFFFFF"/>
                </a:solidFill>
                <a:latin typeface="Aptos" pitchFamily="34" charset="0"/>
                <a:ea typeface="Aptos" pitchFamily="34" charset="-122"/>
                <a:cs typeface="Aptos" pitchFamily="34" charset="-120"/>
              </a:rPr>
              <a:t>metric tons CO₂e avoided</a:t>
            </a:r>
            <a:endParaRPr lang="en-US" sz="1750" dirty="0"/>
          </a:p>
        </p:txBody>
      </p:sp>
      <p:sp>
        <p:nvSpPr>
          <p:cNvPr id="9" name="Text 7"/>
          <p:cNvSpPr/>
          <p:nvPr/>
        </p:nvSpPr>
        <p:spPr>
          <a:xfrm>
            <a:off x="996696" y="3456432"/>
            <a:ext cx="3520440" cy="640080"/>
          </a:xfrm>
          <a:prstGeom prst="rect">
            <a:avLst/>
          </a:prstGeom>
          <a:noFill/>
          <a:ln/>
        </p:spPr>
        <p:txBody>
          <a:bodyPr wrap="square" lIns="0" tIns="0" rIns="0" bIns="0" rtlCol="0" anchor="t">
            <a:normAutofit/>
          </a:bodyPr>
          <a:lstStyle/>
          <a:p>
            <a:pPr algn="l" indent="0" marL="0">
              <a:buNone/>
            </a:pPr>
            <a:r>
              <a:rPr lang="en-US" sz="1000" dirty="0">
                <a:solidFill>
                  <a:srgbClr val="D5E5DE"/>
                </a:solidFill>
                <a:latin typeface="Aptos" pitchFamily="34" charset="0"/>
                <a:ea typeface="Aptos" pitchFamily="34" charset="-122"/>
                <a:cs typeface="Aptos" pitchFamily="34" charset="-120"/>
              </a:rPr>
              <a:t>Estimated impact of FY2025 environmental programs across all scopes.</a:t>
            </a:r>
            <a:endParaRPr lang="en-US" sz="1000" dirty="0"/>
          </a:p>
        </p:txBody>
      </p:sp>
      <p:sp>
        <p:nvSpPr>
          <p:cNvPr id="10" name="Shape 8"/>
          <p:cNvSpPr/>
          <p:nvPr/>
        </p:nvSpPr>
        <p:spPr>
          <a:xfrm>
            <a:off x="996696" y="4343400"/>
            <a:ext cx="3977640" cy="0"/>
          </a:xfrm>
          <a:prstGeom prst="line">
            <a:avLst/>
          </a:prstGeom>
          <a:noFill/>
          <a:ln w="12700">
            <a:solidFill>
              <a:srgbClr val="5D8F7C"/>
            </a:solidFill>
            <a:prstDash val="solid"/>
            <a:headEnd type="none"/>
            <a:tailEnd type="none"/>
          </a:ln>
        </p:spPr>
      </p:sp>
      <p:sp>
        <p:nvSpPr>
          <p:cNvPr id="11" name="Text 9"/>
          <p:cNvSpPr/>
          <p:nvPr/>
        </p:nvSpPr>
        <p:spPr>
          <a:xfrm>
            <a:off x="996696" y="4608576"/>
            <a:ext cx="1069848" cy="429768"/>
          </a:xfrm>
          <a:prstGeom prst="rect">
            <a:avLst/>
          </a:prstGeom>
          <a:noFill/>
          <a:ln/>
        </p:spPr>
        <p:txBody>
          <a:bodyPr wrap="square" lIns="0" tIns="0" rIns="0" bIns="0" rtlCol="0" anchor="ctr">
            <a:normAutofit/>
          </a:bodyPr>
          <a:lstStyle/>
          <a:p>
            <a:pPr algn="l" indent="0" marL="0">
              <a:buNone/>
            </a:pPr>
            <a:r>
              <a:rPr lang="en-US" sz="2400" b="1" dirty="0">
                <a:solidFill>
                  <a:srgbClr val="FFFFFF"/>
                </a:solidFill>
                <a:latin typeface="Aptos" pitchFamily="34" charset="0"/>
                <a:ea typeface="Aptos" pitchFamily="34" charset="-122"/>
                <a:cs typeface="Aptos" pitchFamily="34" charset="-120"/>
              </a:rPr>
              <a:t>78%</a:t>
            </a:r>
            <a:endParaRPr lang="en-US" sz="2400" dirty="0"/>
          </a:p>
        </p:txBody>
      </p:sp>
      <p:sp>
        <p:nvSpPr>
          <p:cNvPr id="12" name="Text 10"/>
          <p:cNvSpPr/>
          <p:nvPr/>
        </p:nvSpPr>
        <p:spPr>
          <a:xfrm>
            <a:off x="2084832" y="4645152"/>
            <a:ext cx="2505456" cy="310896"/>
          </a:xfrm>
          <a:prstGeom prst="rect">
            <a:avLst/>
          </a:prstGeom>
          <a:noFill/>
          <a:ln/>
        </p:spPr>
        <p:txBody>
          <a:bodyPr wrap="square" lIns="0" tIns="0" rIns="0" bIns="0" rtlCol="0" anchor="ctr">
            <a:normAutofit/>
          </a:bodyPr>
          <a:lstStyle/>
          <a:p>
            <a:pPr algn="l" indent="0" marL="0">
              <a:buNone/>
            </a:pPr>
            <a:r>
              <a:rPr lang="en-US" sz="1010" dirty="0">
                <a:solidFill>
                  <a:srgbClr val="D5E5DE"/>
                </a:solidFill>
                <a:latin typeface="Aptos" pitchFamily="34" charset="0"/>
                <a:ea typeface="Aptos" pitchFamily="34" charset="-122"/>
                <a:cs typeface="Aptos" pitchFamily="34" charset="-120"/>
              </a:rPr>
              <a:t>revenue growth since 2015</a:t>
            </a:r>
            <a:endParaRPr lang="en-US" sz="1010" dirty="0"/>
          </a:p>
        </p:txBody>
      </p:sp>
      <p:sp>
        <p:nvSpPr>
          <p:cNvPr id="13" name="Text 11"/>
          <p:cNvSpPr/>
          <p:nvPr/>
        </p:nvSpPr>
        <p:spPr>
          <a:xfrm>
            <a:off x="996696" y="5166360"/>
            <a:ext cx="3493008" cy="274320"/>
          </a:xfrm>
          <a:prstGeom prst="rect">
            <a:avLst/>
          </a:prstGeom>
          <a:noFill/>
          <a:ln/>
        </p:spPr>
        <p:txBody>
          <a:bodyPr wrap="square" lIns="0" tIns="0" rIns="0" bIns="0" rtlCol="0" anchor="ctr">
            <a:normAutofit/>
          </a:bodyPr>
          <a:lstStyle/>
          <a:p>
            <a:pPr algn="l" indent="0" marL="0">
              <a:buNone/>
            </a:pPr>
            <a:r>
              <a:rPr lang="en-US" sz="1040" b="1" dirty="0">
                <a:solidFill>
                  <a:srgbClr val="B9F240"/>
                </a:solidFill>
                <a:latin typeface="Aptos" pitchFamily="34" charset="0"/>
                <a:ea typeface="Aptos" pitchFamily="34" charset="-122"/>
                <a:cs typeface="Aptos" pitchFamily="34" charset="-120"/>
              </a:rPr>
              <a:t>while gross emissions fell &gt;60%</a:t>
            </a:r>
            <a:endParaRPr lang="en-US" sz="1040" dirty="0"/>
          </a:p>
        </p:txBody>
      </p:sp>
      <p:sp>
        <p:nvSpPr>
          <p:cNvPr id="14" name="Shape 12"/>
          <p:cNvSpPr/>
          <p:nvPr/>
        </p:nvSpPr>
        <p:spPr>
          <a:xfrm>
            <a:off x="5715000" y="1572768"/>
            <a:ext cx="5852160" cy="4416552"/>
          </a:xfrm>
          <a:prstGeom prst="roundRect">
            <a:avLst>
              <a:gd name="adj" fmla="val 2484"/>
            </a:avLst>
          </a:prstGeom>
          <a:solidFill>
            <a:srgbClr val="FFFFFF"/>
          </a:solidFill>
          <a:ln w="12700">
            <a:solidFill>
              <a:srgbClr val="D9DADD"/>
            </a:solidFill>
            <a:prstDash val="solid"/>
          </a:ln>
        </p:spPr>
      </p:sp>
      <p:sp>
        <p:nvSpPr>
          <p:cNvPr id="15" name="Shape 13"/>
          <p:cNvSpPr/>
          <p:nvPr/>
        </p:nvSpPr>
        <p:spPr>
          <a:xfrm>
            <a:off x="6199632" y="1938528"/>
            <a:ext cx="4352544" cy="2176272"/>
          </a:xfrm>
          <a:prstGeom prst="roundRect">
            <a:avLst>
              <a:gd name="adj" fmla="val 5042"/>
            </a:avLst>
          </a:prstGeom>
          <a:solidFill>
            <a:srgbClr val="F8FAF9"/>
          </a:solidFill>
          <a:ln w="12700">
            <a:solidFill>
              <a:srgbClr val="A7B8B0"/>
            </a:solidFill>
            <a:prstDash val="solid"/>
          </a:ln>
          <a:effectLst>
            <a:outerShdw sx="100000" sy="100000" kx="0" ky="0" algn="bl" rotWithShape="0" blurRad="25400" dist="50800" dir="2700000">
              <a:srgbClr val="000000">
                <a:alpha val="12000"/>
              </a:srgbClr>
            </a:outerShdw>
          </a:effectLst>
        </p:spPr>
      </p:sp>
      <p:sp>
        <p:nvSpPr>
          <p:cNvPr id="16" name="Text 14"/>
          <p:cNvSpPr/>
          <p:nvPr/>
        </p:nvSpPr>
        <p:spPr>
          <a:xfrm>
            <a:off x="6510528" y="2221992"/>
            <a:ext cx="2468880" cy="256032"/>
          </a:xfrm>
          <a:prstGeom prst="rect">
            <a:avLst/>
          </a:prstGeom>
          <a:noFill/>
          <a:ln/>
        </p:spPr>
        <p:txBody>
          <a:bodyPr wrap="square" lIns="0" tIns="0" rIns="0" bIns="0" rtlCol="0" anchor="ctr">
            <a:normAutofit/>
          </a:bodyPr>
          <a:lstStyle/>
          <a:p>
            <a:pPr algn="l" indent="0" marL="0">
              <a:buNone/>
            </a:pPr>
            <a:r>
              <a:rPr lang="en-US" sz="900" b="1" spc="115" kern="0" dirty="0">
                <a:solidFill>
                  <a:srgbClr val="086247"/>
                </a:solidFill>
                <a:latin typeface="Aptos" pitchFamily="34" charset="0"/>
                <a:ea typeface="Aptos" pitchFamily="34" charset="-122"/>
                <a:cs typeface="Aptos" pitchFamily="34" charset="-120"/>
              </a:rPr>
              <a:t>APPLE GREEN BONDS</a:t>
            </a:r>
            <a:endParaRPr lang="en-US" sz="900" dirty="0"/>
          </a:p>
        </p:txBody>
      </p:sp>
      <p:sp>
        <p:nvSpPr>
          <p:cNvPr id="17" name="Text 15"/>
          <p:cNvSpPr/>
          <p:nvPr/>
        </p:nvSpPr>
        <p:spPr>
          <a:xfrm>
            <a:off x="6510528" y="2651760"/>
            <a:ext cx="1920240" cy="621792"/>
          </a:xfrm>
          <a:prstGeom prst="rect">
            <a:avLst/>
          </a:prstGeom>
          <a:noFill/>
          <a:ln/>
        </p:spPr>
        <p:txBody>
          <a:bodyPr wrap="square" lIns="0" tIns="0" rIns="0" bIns="0" rtlCol="0" anchor="ctr">
            <a:normAutofit/>
          </a:bodyPr>
          <a:lstStyle/>
          <a:p>
            <a:pPr algn="l" indent="0" marL="0">
              <a:buNone/>
            </a:pPr>
            <a:r>
              <a:rPr lang="en-US" sz="3600" b="1" dirty="0">
                <a:solidFill>
                  <a:srgbClr val="111113"/>
                </a:solidFill>
                <a:latin typeface="Aptos" pitchFamily="34" charset="0"/>
                <a:ea typeface="Aptos" pitchFamily="34" charset="-122"/>
                <a:cs typeface="Aptos" pitchFamily="34" charset="-120"/>
              </a:rPr>
              <a:t>$4.7B</a:t>
            </a:r>
            <a:endParaRPr lang="en-US" sz="3600" dirty="0"/>
          </a:p>
        </p:txBody>
      </p:sp>
      <p:sp>
        <p:nvSpPr>
          <p:cNvPr id="18" name="Text 16"/>
          <p:cNvSpPr/>
          <p:nvPr/>
        </p:nvSpPr>
        <p:spPr>
          <a:xfrm>
            <a:off x="6547104" y="3264408"/>
            <a:ext cx="2011680" cy="228600"/>
          </a:xfrm>
          <a:prstGeom prst="rect">
            <a:avLst/>
          </a:prstGeom>
          <a:noFill/>
          <a:ln/>
        </p:spPr>
        <p:txBody>
          <a:bodyPr wrap="square" lIns="0" tIns="0" rIns="0" bIns="0" rtlCol="0" anchor="ctr">
            <a:normAutofit/>
          </a:bodyPr>
          <a:lstStyle/>
          <a:p>
            <a:pPr algn="l" indent="0" marL="0">
              <a:buNone/>
            </a:pPr>
            <a:r>
              <a:rPr lang="en-US" sz="900" dirty="0">
                <a:solidFill>
                  <a:srgbClr val="5F6368"/>
                </a:solidFill>
                <a:latin typeface="Aptos" pitchFamily="34" charset="0"/>
                <a:ea typeface="Aptos" pitchFamily="34" charset="-122"/>
                <a:cs typeface="Aptos" pitchFamily="34" charset="-120"/>
              </a:rPr>
              <a:t>issued since 2016</a:t>
            </a:r>
            <a:endParaRPr lang="en-US" sz="900" dirty="0"/>
          </a:p>
        </p:txBody>
      </p:sp>
      <p:sp>
        <p:nvSpPr>
          <p:cNvPr id="19" name="Shape 17"/>
          <p:cNvSpPr/>
          <p:nvPr/>
        </p:nvSpPr>
        <p:spPr>
          <a:xfrm>
            <a:off x="9326880" y="2468880"/>
            <a:ext cx="713232" cy="713232"/>
          </a:xfrm>
          <a:prstGeom prst="ellipse">
            <a:avLst/>
          </a:prstGeom>
          <a:solidFill>
            <a:srgbClr val="DDF5EA"/>
          </a:solidFill>
          <a:ln w="12700">
            <a:solidFill>
              <a:srgbClr val="0A8F62"/>
            </a:solidFill>
            <a:prstDash val="solid"/>
          </a:ln>
        </p:spPr>
      </p:sp>
      <p:sp>
        <p:nvSpPr>
          <p:cNvPr id="20" name="Shape 18"/>
          <p:cNvSpPr/>
          <p:nvPr/>
        </p:nvSpPr>
        <p:spPr>
          <a:xfrm rot="-1080000">
            <a:off x="9473184" y="2688336"/>
            <a:ext cx="427482" cy="276606"/>
          </a:xfrm>
          <a:prstGeom prst="arc">
            <a:avLst/>
          </a:prstGeom>
          <a:solidFill>
            <a:srgbClr val="0A8F62">
              <a:alpha val="0"/>
            </a:srgbClr>
          </a:solidFill>
          <a:ln w="12700">
            <a:solidFill>
              <a:srgbClr val="0A8F62"/>
            </a:solidFill>
            <a:prstDash val="solid"/>
          </a:ln>
        </p:spPr>
      </p:sp>
      <p:sp>
        <p:nvSpPr>
          <p:cNvPr id="21" name="Shape 19"/>
          <p:cNvSpPr/>
          <p:nvPr/>
        </p:nvSpPr>
        <p:spPr>
          <a:xfrm>
            <a:off x="9543593" y="2919679"/>
            <a:ext cx="306781" cy="-170993"/>
          </a:xfrm>
          <a:prstGeom prst="line">
            <a:avLst/>
          </a:prstGeom>
          <a:noFill/>
          <a:ln w="12700">
            <a:solidFill>
              <a:srgbClr val="0A8F62"/>
            </a:solidFill>
            <a:prstDash val="solid"/>
          </a:ln>
        </p:spPr>
      </p:sp>
      <p:sp>
        <p:nvSpPr>
          <p:cNvPr id="22" name="Shape 20"/>
          <p:cNvSpPr/>
          <p:nvPr/>
        </p:nvSpPr>
        <p:spPr>
          <a:xfrm>
            <a:off x="6400800" y="5157216"/>
            <a:ext cx="685800" cy="-292608"/>
          </a:xfrm>
          <a:prstGeom prst="line">
            <a:avLst/>
          </a:prstGeom>
          <a:noFill/>
          <a:ln w="12700">
            <a:solidFill>
              <a:srgbClr val="0A8F62"/>
            </a:solidFill>
            <a:prstDash val="solid"/>
          </a:ln>
        </p:spPr>
      </p:sp>
      <p:sp>
        <p:nvSpPr>
          <p:cNvPr id="23" name="Shape 21"/>
          <p:cNvSpPr/>
          <p:nvPr/>
        </p:nvSpPr>
        <p:spPr>
          <a:xfrm>
            <a:off x="7086600" y="4864608"/>
            <a:ext cx="621792" cy="146304"/>
          </a:xfrm>
          <a:prstGeom prst="line">
            <a:avLst/>
          </a:prstGeom>
          <a:noFill/>
          <a:ln w="12700">
            <a:solidFill>
              <a:srgbClr val="0A8F62"/>
            </a:solidFill>
            <a:prstDash val="solid"/>
          </a:ln>
        </p:spPr>
      </p:sp>
      <p:sp>
        <p:nvSpPr>
          <p:cNvPr id="24" name="Shape 22"/>
          <p:cNvSpPr/>
          <p:nvPr/>
        </p:nvSpPr>
        <p:spPr>
          <a:xfrm>
            <a:off x="7708392" y="5010912"/>
            <a:ext cx="777240" cy="-475488"/>
          </a:xfrm>
          <a:prstGeom prst="line">
            <a:avLst/>
          </a:prstGeom>
          <a:noFill/>
          <a:ln w="12700">
            <a:solidFill>
              <a:srgbClr val="0A8F62"/>
            </a:solidFill>
            <a:prstDash val="solid"/>
          </a:ln>
        </p:spPr>
      </p:sp>
      <p:sp>
        <p:nvSpPr>
          <p:cNvPr id="25" name="Shape 23"/>
          <p:cNvSpPr/>
          <p:nvPr/>
        </p:nvSpPr>
        <p:spPr>
          <a:xfrm>
            <a:off x="8485632" y="4535424"/>
            <a:ext cx="841248" cy="109728"/>
          </a:xfrm>
          <a:prstGeom prst="line">
            <a:avLst/>
          </a:prstGeom>
          <a:noFill/>
          <a:ln w="12700">
            <a:solidFill>
              <a:srgbClr val="0A8F62"/>
            </a:solidFill>
            <a:prstDash val="solid"/>
          </a:ln>
        </p:spPr>
      </p:sp>
      <p:sp>
        <p:nvSpPr>
          <p:cNvPr id="26" name="Shape 24"/>
          <p:cNvSpPr/>
          <p:nvPr/>
        </p:nvSpPr>
        <p:spPr>
          <a:xfrm>
            <a:off x="9326880" y="4645152"/>
            <a:ext cx="1417320" cy="-502920"/>
          </a:xfrm>
          <a:prstGeom prst="line">
            <a:avLst/>
          </a:prstGeom>
          <a:noFill/>
          <a:ln w="12700">
            <a:solidFill>
              <a:srgbClr val="0A8F62"/>
            </a:solidFill>
            <a:prstDash val="solid"/>
          </a:ln>
        </p:spPr>
      </p:sp>
      <p:sp>
        <p:nvSpPr>
          <p:cNvPr id="27" name="Shape 25"/>
          <p:cNvSpPr/>
          <p:nvPr/>
        </p:nvSpPr>
        <p:spPr>
          <a:xfrm rot="-1260000">
            <a:off x="10625328" y="4023360"/>
            <a:ext cx="292608" cy="219456"/>
          </a:xfrm>
          <a:prstGeom prst="chevron">
            <a:avLst/>
          </a:prstGeom>
          <a:solidFill>
            <a:srgbClr val="0A8F62"/>
          </a:solidFill>
          <a:ln w="12700">
            <a:solidFill>
              <a:srgbClr val="0A8F62">
                <a:alpha val="0"/>
              </a:srgbClr>
            </a:solidFill>
            <a:prstDash val="solid"/>
          </a:ln>
        </p:spPr>
      </p:sp>
      <p:sp>
        <p:nvSpPr>
          <p:cNvPr id="28" name="Text 26"/>
          <p:cNvSpPr/>
          <p:nvPr/>
        </p:nvSpPr>
        <p:spPr>
          <a:xfrm>
            <a:off x="6400800" y="5321808"/>
            <a:ext cx="4343400" cy="256032"/>
          </a:xfrm>
          <a:prstGeom prst="rect">
            <a:avLst/>
          </a:prstGeom>
          <a:noFill/>
          <a:ln/>
        </p:spPr>
        <p:txBody>
          <a:bodyPr wrap="square" lIns="0" tIns="0" rIns="0" bIns="0" rtlCol="0" anchor="ctr">
            <a:normAutofit/>
          </a:bodyPr>
          <a:lstStyle/>
          <a:p>
            <a:pPr algn="l" indent="0" marL="0">
              <a:buNone/>
            </a:pPr>
            <a:r>
              <a:rPr lang="en-US" sz="1000" b="1" dirty="0">
                <a:solidFill>
                  <a:srgbClr val="086247"/>
                </a:solidFill>
                <a:latin typeface="Aptos" pitchFamily="34" charset="0"/>
                <a:ea typeface="Aptos" pitchFamily="34" charset="-122"/>
                <a:cs typeface="Aptos" pitchFamily="34" charset="-120"/>
              </a:rPr>
              <a:t>Capital aligned to a multi-year transition</a:t>
            </a:r>
            <a:endParaRPr lang="en-US" sz="1000" dirty="0"/>
          </a:p>
        </p:txBody>
      </p:sp>
      <p:sp>
        <p:nvSpPr>
          <p:cNvPr id="29" name="Text 27">
            <a:hlinkClick r:id="rId1" tooltip=""/>
          </p:cNvPr>
          <p:cNvSpPr/>
          <p:nvPr/>
        </p:nvSpPr>
        <p:spPr>
          <a:xfrm>
            <a:off x="594360" y="6245352"/>
            <a:ext cx="10881360" cy="128016"/>
          </a:xfrm>
          <a:prstGeom prst="rect">
            <a:avLst/>
          </a:prstGeom>
          <a:noFill/>
          <a:ln/>
        </p:spPr>
        <p:txBody>
          <a:bodyPr wrap="square" lIns="0" tIns="0" rIns="0" bIns="0" rtlCol="0" anchor="ctr">
            <a:normAutofit/>
          </a:bodyPr>
          <a:lstStyle/>
          <a:p>
            <a:pPr algn="l" indent="0" marL="0">
              <a:buNone/>
            </a:pPr>
            <a:r>
              <a:rPr lang="en-US" sz="570" i="1" u="sng" dirty="0">
                <a:solidFill>
                  <a:srgbClr val="77777C"/>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Apple 2026 Environmental Progress Report, pp. 11, 88–91; Apple Green Bond updates. Avoided emissions are estimated and not additive to baseline reductions.</a:t>
            </a:r>
            <a:endParaRPr lang="en-US" sz="570" dirty="0"/>
          </a:p>
        </p:txBody>
      </p:sp>
      <p:sp>
        <p:nvSpPr>
          <p:cNvPr id="25" name="Slide Number Placeholder 0"/>
          <p:cNvSpPr>
            <a:spLocks noGrp="1"/>
          </p:cNvSpPr>
          <p:nvPr>
            <p:ph type="sldNum" sz="quarter" idx="4294967295"/>
          </p:nvPr>
        </p:nvSpPr>
        <p:spPr>
          <a:xfrm>
            <a:off x="11210544" y="6519672"/>
            <a:ext cx="411480" cy="146304"/>
          </a:xfrm>
          <a:prstGeom prst="rect">
            <a:avLst/>
          </a:prstGeom>
          <a:extLst>
            <a:ext uri="{C572A759-6A51-4108-AA02-DFA0A04FC94B}">
              <ma14:wrappingTextBoxFlag xmlns:ma14="http://schemas.microsoft.com/office/mac/drawingml/2011/main" val="0"/>
            </a:ext>
          </a:extLst>
        </p:spPr>
        <p:txBody>
          <a:bodyPr lIns="0" tIns="0" rIns="0" bIns="0"/>
          <a:lstStyle>
            <a:lvl1pPr>
              <a:defRPr sz="600">
                <a:solidFill>
                  <a:srgbClr val="6E6E73"/>
                </a:solidFill>
                <a:latin typeface="Aptos"/>
                <a:ea typeface="Aptos"/>
                <a:cs typeface="Apto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347472"/>
            <a:ext cx="4114800" cy="201168"/>
          </a:xfrm>
          <a:prstGeom prst="rect">
            <a:avLst/>
          </a:prstGeom>
          <a:noFill/>
          <a:ln/>
        </p:spPr>
        <p:txBody>
          <a:bodyPr wrap="square" lIns="0" tIns="0" rIns="0" bIns="0" rtlCol="0" anchor="ctr">
            <a:normAutofit/>
          </a:bodyPr>
          <a:lstStyle/>
          <a:p>
            <a:pPr algn="l" indent="0" marL="0">
              <a:buNone/>
            </a:pPr>
            <a:r>
              <a:rPr lang="en-US" sz="720" b="1" spc="135" kern="0" dirty="0">
                <a:solidFill>
                  <a:srgbClr val="086247"/>
                </a:solidFill>
                <a:latin typeface="Aptos" pitchFamily="34" charset="0"/>
                <a:ea typeface="Aptos" pitchFamily="34" charset="-122"/>
                <a:cs typeface="Aptos" pitchFamily="34" charset="-120"/>
              </a:rPr>
              <a:t>LEVERAGE THE FY25 WINS</a:t>
            </a:r>
            <a:endParaRPr lang="en-US" sz="720" dirty="0"/>
          </a:p>
        </p:txBody>
      </p:sp>
      <p:sp>
        <p:nvSpPr>
          <p:cNvPr id="3" name="Text 1"/>
          <p:cNvSpPr/>
          <p:nvPr/>
        </p:nvSpPr>
        <p:spPr>
          <a:xfrm>
            <a:off x="594360" y="649224"/>
            <a:ext cx="8046720" cy="548640"/>
          </a:xfrm>
          <a:prstGeom prst="rect">
            <a:avLst/>
          </a:prstGeom>
          <a:noFill/>
          <a:ln/>
        </p:spPr>
        <p:txBody>
          <a:bodyPr wrap="square" lIns="0" tIns="0" rIns="0" bIns="0" rtlCol="0" anchor="ctr">
            <a:normAutofit/>
          </a:bodyPr>
          <a:lstStyle/>
          <a:p>
            <a:pPr algn="l" indent="0" marL="0">
              <a:buNone/>
            </a:pPr>
            <a:r>
              <a:rPr lang="en-US" sz="2600" b="1" dirty="0">
                <a:solidFill>
                  <a:srgbClr val="111113"/>
                </a:solidFill>
                <a:latin typeface="Aptos" pitchFamily="34" charset="0"/>
                <a:ea typeface="Aptos" pitchFamily="34" charset="-122"/>
                <a:cs typeface="Aptos" pitchFamily="34" charset="-120"/>
              </a:rPr>
              <a:t>Convert proof into pipeline — with precise, repeatable claims.</a:t>
            </a:r>
            <a:endParaRPr lang="en-US" sz="2600" dirty="0"/>
          </a:p>
        </p:txBody>
      </p:sp>
      <p:sp>
        <p:nvSpPr>
          <p:cNvPr id="4" name="Text 2"/>
          <p:cNvSpPr/>
          <p:nvPr/>
        </p:nvSpPr>
        <p:spPr>
          <a:xfrm>
            <a:off x="8961120" y="612648"/>
            <a:ext cx="2651760" cy="502920"/>
          </a:xfrm>
          <a:prstGeom prst="rect">
            <a:avLst/>
          </a:prstGeom>
          <a:noFill/>
          <a:ln/>
        </p:spPr>
        <p:txBody>
          <a:bodyPr wrap="square" lIns="0" tIns="0" rIns="0" bIns="0" rtlCol="0" anchor="b">
            <a:normAutofit/>
          </a:bodyPr>
          <a:lstStyle/>
          <a:p>
            <a:pPr algn="r" indent="0" marL="0">
              <a:buNone/>
            </a:pPr>
            <a:r>
              <a:rPr lang="en-US" sz="950" dirty="0">
                <a:solidFill>
                  <a:srgbClr val="5F6368"/>
                </a:solidFill>
                <a:latin typeface="Aptos" pitchFamily="34" charset="0"/>
                <a:ea typeface="Aptos" pitchFamily="34" charset="-122"/>
                <a:cs typeface="Aptos" pitchFamily="34" charset="-120"/>
              </a:rPr>
              <a:t>90-DAY GO-TO-MARKET ACTIVATION</a:t>
            </a:r>
            <a:endParaRPr lang="en-US" sz="950" dirty="0"/>
          </a:p>
        </p:txBody>
      </p:sp>
      <p:sp>
        <p:nvSpPr>
          <p:cNvPr id="5" name="Shape 3"/>
          <p:cNvSpPr/>
          <p:nvPr/>
        </p:nvSpPr>
        <p:spPr>
          <a:xfrm>
            <a:off x="594360" y="1298448"/>
            <a:ext cx="11018520" cy="0"/>
          </a:xfrm>
          <a:prstGeom prst="line">
            <a:avLst/>
          </a:prstGeom>
          <a:noFill/>
          <a:ln w="12700">
            <a:solidFill>
              <a:srgbClr val="D9DADD"/>
            </a:solidFill>
            <a:prstDash val="solid"/>
            <a:headEnd type="none"/>
            <a:tailEnd type="none"/>
          </a:ln>
        </p:spPr>
      </p:sp>
      <p:sp>
        <p:nvSpPr>
          <p:cNvPr id="6" name="Shape 4"/>
          <p:cNvSpPr/>
          <p:nvPr/>
        </p:nvSpPr>
        <p:spPr>
          <a:xfrm>
            <a:off x="621792" y="1691640"/>
            <a:ext cx="3337560" cy="4133088"/>
          </a:xfrm>
          <a:prstGeom prst="roundRect">
            <a:avLst>
              <a:gd name="adj" fmla="val 3288"/>
            </a:avLst>
          </a:prstGeom>
          <a:solidFill>
            <a:srgbClr val="086247"/>
          </a:solidFill>
          <a:ln w="12700">
            <a:solidFill>
              <a:srgbClr val="086247"/>
            </a:solidFill>
            <a:prstDash val="solid"/>
          </a:ln>
        </p:spPr>
      </p:sp>
      <p:sp>
        <p:nvSpPr>
          <p:cNvPr id="7" name="Text 5"/>
          <p:cNvSpPr/>
          <p:nvPr/>
        </p:nvSpPr>
        <p:spPr>
          <a:xfrm>
            <a:off x="896112" y="1984248"/>
            <a:ext cx="685800" cy="420624"/>
          </a:xfrm>
          <a:prstGeom prst="rect">
            <a:avLst/>
          </a:prstGeom>
          <a:noFill/>
          <a:ln/>
        </p:spPr>
        <p:txBody>
          <a:bodyPr wrap="square" lIns="0" tIns="0" rIns="0" bIns="0" rtlCol="0" anchor="ctr">
            <a:normAutofit/>
          </a:bodyPr>
          <a:lstStyle/>
          <a:p>
            <a:pPr algn="l" indent="0" marL="0">
              <a:buNone/>
            </a:pPr>
            <a:r>
              <a:rPr lang="en-US" sz="2200" b="1" dirty="0">
                <a:solidFill>
                  <a:srgbClr val="B9F240"/>
                </a:solidFill>
                <a:latin typeface="Aptos" pitchFamily="34" charset="0"/>
                <a:ea typeface="Aptos" pitchFamily="34" charset="-122"/>
                <a:cs typeface="Aptos" pitchFamily="34" charset="-120"/>
              </a:rPr>
              <a:t>01</a:t>
            </a:r>
            <a:endParaRPr lang="en-US" sz="2200" dirty="0"/>
          </a:p>
        </p:txBody>
      </p:sp>
      <p:sp>
        <p:nvSpPr>
          <p:cNvPr id="8" name="Shape 6"/>
          <p:cNvSpPr/>
          <p:nvPr/>
        </p:nvSpPr>
        <p:spPr>
          <a:xfrm>
            <a:off x="2221992" y="2048256"/>
            <a:ext cx="1417320" cy="274320"/>
          </a:xfrm>
          <a:prstGeom prst="roundRect">
            <a:avLst>
              <a:gd name="adj" fmla="val 26667"/>
            </a:avLst>
          </a:prstGeom>
          <a:solidFill>
            <a:srgbClr val="B9F240"/>
          </a:solidFill>
          <a:ln w="12700">
            <a:solidFill>
              <a:srgbClr val="B9F240">
                <a:alpha val="0"/>
              </a:srgbClr>
            </a:solidFill>
            <a:prstDash val="solid"/>
          </a:ln>
        </p:spPr>
      </p:sp>
      <p:sp>
        <p:nvSpPr>
          <p:cNvPr id="9" name="Text 7"/>
          <p:cNvSpPr/>
          <p:nvPr/>
        </p:nvSpPr>
        <p:spPr>
          <a:xfrm>
            <a:off x="2295144" y="2066544"/>
            <a:ext cx="1271016" cy="219456"/>
          </a:xfrm>
          <a:prstGeom prst="rect">
            <a:avLst/>
          </a:prstGeom>
          <a:noFill/>
          <a:ln/>
        </p:spPr>
        <p:txBody>
          <a:bodyPr wrap="square" lIns="0" tIns="0" rIns="0" bIns="0" rtlCol="0" anchor="ctr">
            <a:normAutofit/>
          </a:bodyPr>
          <a:lstStyle/>
          <a:p>
            <a:pPr algn="ctr" indent="0" marL="0">
              <a:buNone/>
            </a:pPr>
            <a:r>
              <a:rPr lang="en-US" sz="650" b="1" spc="80" kern="0" dirty="0">
                <a:solidFill>
                  <a:srgbClr val="086247"/>
                </a:solidFill>
                <a:latin typeface="Aptos" pitchFamily="34" charset="0"/>
                <a:ea typeface="Aptos" pitchFamily="34" charset="-122"/>
                <a:cs typeface="Aptos" pitchFamily="34" charset="-120"/>
              </a:rPr>
              <a:t>WIN RFPS</a:t>
            </a:r>
            <a:endParaRPr lang="en-US" sz="650" dirty="0"/>
          </a:p>
        </p:txBody>
      </p:sp>
      <p:sp>
        <p:nvSpPr>
          <p:cNvPr id="10" name="Text 8"/>
          <p:cNvSpPr/>
          <p:nvPr/>
        </p:nvSpPr>
        <p:spPr>
          <a:xfrm>
            <a:off x="896112" y="2633472"/>
            <a:ext cx="2606040" cy="475488"/>
          </a:xfrm>
          <a:prstGeom prst="rect">
            <a:avLst/>
          </a:prstGeom>
          <a:noFill/>
          <a:ln/>
        </p:spPr>
        <p:txBody>
          <a:bodyPr wrap="square" lIns="0" tIns="0" rIns="0" bIns="0" rtlCol="0" anchor="ctr">
            <a:normAutofit/>
          </a:bodyPr>
          <a:lstStyle/>
          <a:p>
            <a:pPr algn="l" indent="0" marL="0">
              <a:buNone/>
            </a:pPr>
            <a:r>
              <a:rPr lang="en-US" sz="2400" b="1" dirty="0">
                <a:solidFill>
                  <a:srgbClr val="FFFFFF"/>
                </a:solidFill>
                <a:latin typeface="Aptos" pitchFamily="34" charset="0"/>
                <a:ea typeface="Aptos" pitchFamily="34" charset="-122"/>
                <a:cs typeface="Aptos" pitchFamily="34" charset="-120"/>
              </a:rPr>
              <a:t>Enterprise</a:t>
            </a:r>
            <a:endParaRPr lang="en-US" sz="2400" dirty="0"/>
          </a:p>
        </p:txBody>
      </p:sp>
      <p:sp>
        <p:nvSpPr>
          <p:cNvPr id="11" name="Text 9"/>
          <p:cNvSpPr/>
          <p:nvPr/>
        </p:nvSpPr>
        <p:spPr>
          <a:xfrm>
            <a:off x="896112" y="3255264"/>
            <a:ext cx="2697480" cy="1005840"/>
          </a:xfrm>
          <a:prstGeom prst="rect">
            <a:avLst/>
          </a:prstGeom>
          <a:noFill/>
          <a:ln/>
        </p:spPr>
        <p:txBody>
          <a:bodyPr wrap="square" lIns="0" tIns="0" rIns="0" bIns="0" rtlCol="0" anchor="t">
            <a:normAutofit/>
          </a:bodyPr>
          <a:lstStyle/>
          <a:p>
            <a:pPr algn="l" indent="0" marL="0">
              <a:buNone/>
            </a:pPr>
            <a:r>
              <a:rPr lang="en-US" sz="1100" dirty="0">
                <a:solidFill>
                  <a:srgbClr val="FFFFFF"/>
                </a:solidFill>
                <a:latin typeface="Aptos" pitchFamily="34" charset="0"/>
                <a:ea typeface="Aptos" pitchFamily="34" charset="-122"/>
                <a:cs typeface="Aptos" pitchFamily="34" charset="-120"/>
              </a:rPr>
              <a:t>Add recycled-component, product-use, and Scope 3 proof points to account plans and procurement responses.</a:t>
            </a:r>
            <a:endParaRPr lang="en-US" sz="1100" dirty="0"/>
          </a:p>
        </p:txBody>
      </p:sp>
      <p:sp>
        <p:nvSpPr>
          <p:cNvPr id="12" name="Shape 10"/>
          <p:cNvSpPr/>
          <p:nvPr/>
        </p:nvSpPr>
        <p:spPr>
          <a:xfrm>
            <a:off x="896112" y="4617720"/>
            <a:ext cx="2697480" cy="0"/>
          </a:xfrm>
          <a:prstGeom prst="line">
            <a:avLst/>
          </a:prstGeom>
          <a:noFill/>
          <a:ln w="12700">
            <a:solidFill>
              <a:srgbClr val="8DC9AD"/>
            </a:solidFill>
            <a:prstDash val="solid"/>
            <a:headEnd type="none"/>
            <a:tailEnd type="none"/>
          </a:ln>
        </p:spPr>
      </p:sp>
      <p:sp>
        <p:nvSpPr>
          <p:cNvPr id="13" name="Text 11"/>
          <p:cNvSpPr/>
          <p:nvPr/>
        </p:nvSpPr>
        <p:spPr>
          <a:xfrm>
            <a:off x="896112" y="4846320"/>
            <a:ext cx="685800" cy="164592"/>
          </a:xfrm>
          <a:prstGeom prst="rect">
            <a:avLst/>
          </a:prstGeom>
          <a:noFill/>
          <a:ln/>
        </p:spPr>
        <p:txBody>
          <a:bodyPr wrap="square" lIns="0" tIns="0" rIns="0" bIns="0" rtlCol="0" anchor="ctr">
            <a:normAutofit/>
          </a:bodyPr>
          <a:lstStyle/>
          <a:p>
            <a:pPr algn="l" indent="0" marL="0">
              <a:buNone/>
            </a:pPr>
            <a:r>
              <a:rPr lang="en-US" sz="610" b="1" spc="80" kern="0" dirty="0">
                <a:solidFill>
                  <a:srgbClr val="FFFFFF"/>
                </a:solidFill>
                <a:latin typeface="Aptos" pitchFamily="34" charset="0"/>
                <a:ea typeface="Aptos" pitchFamily="34" charset="-122"/>
                <a:cs typeface="Aptos" pitchFamily="34" charset="-120"/>
              </a:rPr>
              <a:t>OWNER</a:t>
            </a:r>
            <a:endParaRPr lang="en-US" sz="610" dirty="0"/>
          </a:p>
        </p:txBody>
      </p:sp>
      <p:sp>
        <p:nvSpPr>
          <p:cNvPr id="14" name="Text 12"/>
          <p:cNvSpPr/>
          <p:nvPr/>
        </p:nvSpPr>
        <p:spPr>
          <a:xfrm>
            <a:off x="896112" y="5138928"/>
            <a:ext cx="2697480" cy="329184"/>
          </a:xfrm>
          <a:prstGeom prst="rect">
            <a:avLst/>
          </a:prstGeom>
          <a:noFill/>
          <a:ln/>
        </p:spPr>
        <p:txBody>
          <a:bodyPr wrap="square" lIns="0" tIns="0" rIns="0" bIns="0" rtlCol="0" anchor="ctr">
            <a:normAutofit/>
          </a:bodyPr>
          <a:lstStyle/>
          <a:p>
            <a:pPr algn="l" indent="0" marL="0">
              <a:buNone/>
            </a:pPr>
            <a:r>
              <a:rPr lang="en-US" sz="950" b="1" dirty="0">
                <a:solidFill>
                  <a:srgbClr val="FFFFFF"/>
                </a:solidFill>
                <a:latin typeface="Aptos" pitchFamily="34" charset="0"/>
                <a:ea typeface="Aptos" pitchFamily="34" charset="-122"/>
                <a:cs typeface="Aptos" pitchFamily="34" charset="-120"/>
              </a:rPr>
              <a:t>Sales Enablement + Enterprise</a:t>
            </a:r>
            <a:endParaRPr lang="en-US" sz="950" dirty="0"/>
          </a:p>
        </p:txBody>
      </p:sp>
      <p:sp>
        <p:nvSpPr>
          <p:cNvPr id="15" name="Shape 13"/>
          <p:cNvSpPr/>
          <p:nvPr/>
        </p:nvSpPr>
        <p:spPr>
          <a:xfrm>
            <a:off x="4270248" y="1691640"/>
            <a:ext cx="3337560" cy="4133088"/>
          </a:xfrm>
          <a:prstGeom prst="roundRect">
            <a:avLst>
              <a:gd name="adj" fmla="val 3288"/>
            </a:avLst>
          </a:prstGeom>
          <a:solidFill>
            <a:srgbClr val="0A8F62"/>
          </a:solidFill>
          <a:ln w="12700">
            <a:solidFill>
              <a:srgbClr val="0A8F62"/>
            </a:solidFill>
            <a:prstDash val="solid"/>
          </a:ln>
        </p:spPr>
      </p:sp>
      <p:sp>
        <p:nvSpPr>
          <p:cNvPr id="16" name="Text 14"/>
          <p:cNvSpPr/>
          <p:nvPr/>
        </p:nvSpPr>
        <p:spPr>
          <a:xfrm>
            <a:off x="4544568" y="1984248"/>
            <a:ext cx="685800" cy="420624"/>
          </a:xfrm>
          <a:prstGeom prst="rect">
            <a:avLst/>
          </a:prstGeom>
          <a:noFill/>
          <a:ln/>
        </p:spPr>
        <p:txBody>
          <a:bodyPr wrap="square" lIns="0" tIns="0" rIns="0" bIns="0" rtlCol="0" anchor="ctr">
            <a:normAutofit/>
          </a:bodyPr>
          <a:lstStyle/>
          <a:p>
            <a:pPr algn="l" indent="0" marL="0">
              <a:buNone/>
            </a:pPr>
            <a:r>
              <a:rPr lang="en-US" sz="2200" b="1" dirty="0">
                <a:solidFill>
                  <a:srgbClr val="DDF5EA"/>
                </a:solidFill>
                <a:latin typeface="Aptos" pitchFamily="34" charset="0"/>
                <a:ea typeface="Aptos" pitchFamily="34" charset="-122"/>
                <a:cs typeface="Aptos" pitchFamily="34" charset="-120"/>
              </a:rPr>
              <a:t>02</a:t>
            </a:r>
            <a:endParaRPr lang="en-US" sz="2200" dirty="0"/>
          </a:p>
        </p:txBody>
      </p:sp>
      <p:sp>
        <p:nvSpPr>
          <p:cNvPr id="17" name="Shape 15"/>
          <p:cNvSpPr/>
          <p:nvPr/>
        </p:nvSpPr>
        <p:spPr>
          <a:xfrm>
            <a:off x="5870448" y="2048256"/>
            <a:ext cx="1417320" cy="274320"/>
          </a:xfrm>
          <a:prstGeom prst="roundRect">
            <a:avLst>
              <a:gd name="adj" fmla="val 26667"/>
            </a:avLst>
          </a:prstGeom>
          <a:solidFill>
            <a:srgbClr val="DDF5EA"/>
          </a:solidFill>
          <a:ln w="12700">
            <a:solidFill>
              <a:srgbClr val="DDF5EA">
                <a:alpha val="0"/>
              </a:srgbClr>
            </a:solidFill>
            <a:prstDash val="solid"/>
          </a:ln>
        </p:spPr>
      </p:sp>
      <p:sp>
        <p:nvSpPr>
          <p:cNvPr id="18" name="Text 16"/>
          <p:cNvSpPr/>
          <p:nvPr/>
        </p:nvSpPr>
        <p:spPr>
          <a:xfrm>
            <a:off x="5943600" y="2066544"/>
            <a:ext cx="1271016" cy="219456"/>
          </a:xfrm>
          <a:prstGeom prst="rect">
            <a:avLst/>
          </a:prstGeom>
          <a:noFill/>
          <a:ln/>
        </p:spPr>
        <p:txBody>
          <a:bodyPr wrap="square" lIns="0" tIns="0" rIns="0" bIns="0" rtlCol="0" anchor="ctr">
            <a:normAutofit/>
          </a:bodyPr>
          <a:lstStyle/>
          <a:p>
            <a:pPr algn="ctr" indent="0" marL="0">
              <a:buNone/>
            </a:pPr>
            <a:r>
              <a:rPr lang="en-US" sz="650" b="1" spc="80" kern="0" dirty="0">
                <a:solidFill>
                  <a:srgbClr val="086247"/>
                </a:solidFill>
                <a:latin typeface="Aptos" pitchFamily="34" charset="0"/>
                <a:ea typeface="Aptos" pitchFamily="34" charset="-122"/>
                <a:cs typeface="Aptos" pitchFamily="34" charset="-120"/>
              </a:rPr>
              <a:t>MAKE IT HUMAN</a:t>
            </a:r>
            <a:endParaRPr lang="en-US" sz="650" dirty="0"/>
          </a:p>
        </p:txBody>
      </p:sp>
      <p:sp>
        <p:nvSpPr>
          <p:cNvPr id="19" name="Text 17"/>
          <p:cNvSpPr/>
          <p:nvPr/>
        </p:nvSpPr>
        <p:spPr>
          <a:xfrm>
            <a:off x="4544568" y="2633472"/>
            <a:ext cx="2606040" cy="475488"/>
          </a:xfrm>
          <a:prstGeom prst="rect">
            <a:avLst/>
          </a:prstGeom>
          <a:noFill/>
          <a:ln/>
        </p:spPr>
        <p:txBody>
          <a:bodyPr wrap="square" lIns="0" tIns="0" rIns="0" bIns="0" rtlCol="0" anchor="ctr">
            <a:normAutofit/>
          </a:bodyPr>
          <a:lstStyle/>
          <a:p>
            <a:pPr algn="l" indent="0" marL="0">
              <a:buNone/>
            </a:pPr>
            <a:r>
              <a:rPr lang="en-US" sz="2400" b="1" dirty="0">
                <a:solidFill>
                  <a:srgbClr val="FFFFFF"/>
                </a:solidFill>
                <a:latin typeface="Aptos" pitchFamily="34" charset="0"/>
                <a:ea typeface="Aptos" pitchFamily="34" charset="-122"/>
                <a:cs typeface="Aptos" pitchFamily="34" charset="-120"/>
              </a:rPr>
              <a:t>Retail</a:t>
            </a:r>
            <a:endParaRPr lang="en-US" sz="2400" dirty="0"/>
          </a:p>
        </p:txBody>
      </p:sp>
      <p:sp>
        <p:nvSpPr>
          <p:cNvPr id="20" name="Text 18"/>
          <p:cNvSpPr/>
          <p:nvPr/>
        </p:nvSpPr>
        <p:spPr>
          <a:xfrm>
            <a:off x="4544568" y="3255264"/>
            <a:ext cx="2697480" cy="1005840"/>
          </a:xfrm>
          <a:prstGeom prst="rect">
            <a:avLst/>
          </a:prstGeom>
          <a:noFill/>
          <a:ln/>
        </p:spPr>
        <p:txBody>
          <a:bodyPr wrap="square" lIns="0" tIns="0" rIns="0" bIns="0" rtlCol="0" anchor="t">
            <a:normAutofit/>
          </a:bodyPr>
          <a:lstStyle/>
          <a:p>
            <a:pPr algn="l" indent="0" marL="0">
              <a:buNone/>
            </a:pPr>
            <a:r>
              <a:rPr lang="en-US" sz="1100" dirty="0">
                <a:solidFill>
                  <a:srgbClr val="FFFFFF"/>
                </a:solidFill>
                <a:latin typeface="Aptos" pitchFamily="34" charset="0"/>
                <a:ea typeface="Aptos" pitchFamily="34" charset="-122"/>
                <a:cs typeface="Aptos" pitchFamily="34" charset="-120"/>
              </a:rPr>
              <a:t>Train teams on 17B gallons saved and the fiber-based unboxing story — with qualifiers embedded.</a:t>
            </a:r>
            <a:endParaRPr lang="en-US" sz="1100" dirty="0"/>
          </a:p>
        </p:txBody>
      </p:sp>
      <p:sp>
        <p:nvSpPr>
          <p:cNvPr id="21" name="Shape 19"/>
          <p:cNvSpPr/>
          <p:nvPr/>
        </p:nvSpPr>
        <p:spPr>
          <a:xfrm>
            <a:off x="4544568" y="4617720"/>
            <a:ext cx="2697480" cy="0"/>
          </a:xfrm>
          <a:prstGeom prst="line">
            <a:avLst/>
          </a:prstGeom>
          <a:noFill/>
          <a:ln w="12700">
            <a:solidFill>
              <a:srgbClr val="8DC9AD"/>
            </a:solidFill>
            <a:prstDash val="solid"/>
            <a:headEnd type="none"/>
            <a:tailEnd type="none"/>
          </a:ln>
        </p:spPr>
      </p:sp>
      <p:sp>
        <p:nvSpPr>
          <p:cNvPr id="22" name="Text 20"/>
          <p:cNvSpPr/>
          <p:nvPr/>
        </p:nvSpPr>
        <p:spPr>
          <a:xfrm>
            <a:off x="4544568" y="4846320"/>
            <a:ext cx="685800" cy="164592"/>
          </a:xfrm>
          <a:prstGeom prst="rect">
            <a:avLst/>
          </a:prstGeom>
          <a:noFill/>
          <a:ln/>
        </p:spPr>
        <p:txBody>
          <a:bodyPr wrap="square" lIns="0" tIns="0" rIns="0" bIns="0" rtlCol="0" anchor="ctr">
            <a:normAutofit/>
          </a:bodyPr>
          <a:lstStyle/>
          <a:p>
            <a:pPr algn="l" indent="0" marL="0">
              <a:buNone/>
            </a:pPr>
            <a:r>
              <a:rPr lang="en-US" sz="610" b="1" spc="80" kern="0" dirty="0">
                <a:solidFill>
                  <a:srgbClr val="FFFFFF"/>
                </a:solidFill>
                <a:latin typeface="Aptos" pitchFamily="34" charset="0"/>
                <a:ea typeface="Aptos" pitchFamily="34" charset="-122"/>
                <a:cs typeface="Aptos" pitchFamily="34" charset="-120"/>
              </a:rPr>
              <a:t>OWNER</a:t>
            </a:r>
            <a:endParaRPr lang="en-US" sz="610" dirty="0"/>
          </a:p>
        </p:txBody>
      </p:sp>
      <p:sp>
        <p:nvSpPr>
          <p:cNvPr id="23" name="Text 21"/>
          <p:cNvSpPr/>
          <p:nvPr/>
        </p:nvSpPr>
        <p:spPr>
          <a:xfrm>
            <a:off x="4544568" y="5138928"/>
            <a:ext cx="2697480" cy="329184"/>
          </a:xfrm>
          <a:prstGeom prst="rect">
            <a:avLst/>
          </a:prstGeom>
          <a:noFill/>
          <a:ln/>
        </p:spPr>
        <p:txBody>
          <a:bodyPr wrap="square" lIns="0" tIns="0" rIns="0" bIns="0" rtlCol="0" anchor="ctr">
            <a:normAutofit/>
          </a:bodyPr>
          <a:lstStyle/>
          <a:p>
            <a:pPr algn="l" indent="0" marL="0">
              <a:buNone/>
            </a:pPr>
            <a:r>
              <a:rPr lang="en-US" sz="950" b="1" dirty="0">
                <a:solidFill>
                  <a:srgbClr val="FFFFFF"/>
                </a:solidFill>
                <a:latin typeface="Aptos" pitchFamily="34" charset="0"/>
                <a:ea typeface="Aptos" pitchFamily="34" charset="-122"/>
                <a:cs typeface="Aptos" pitchFamily="34" charset="-120"/>
              </a:rPr>
              <a:t>Retail Learning + Comms</a:t>
            </a:r>
            <a:endParaRPr lang="en-US" sz="950" dirty="0"/>
          </a:p>
        </p:txBody>
      </p:sp>
      <p:sp>
        <p:nvSpPr>
          <p:cNvPr id="24" name="Shape 22"/>
          <p:cNvSpPr/>
          <p:nvPr/>
        </p:nvSpPr>
        <p:spPr>
          <a:xfrm>
            <a:off x="7918704" y="1691640"/>
            <a:ext cx="3337560" cy="4133088"/>
          </a:xfrm>
          <a:prstGeom prst="roundRect">
            <a:avLst>
              <a:gd name="adj" fmla="val 3288"/>
            </a:avLst>
          </a:prstGeom>
          <a:solidFill>
            <a:srgbClr val="E1ECE6"/>
          </a:solidFill>
          <a:ln w="12700">
            <a:solidFill>
              <a:srgbClr val="E1ECE6"/>
            </a:solidFill>
            <a:prstDash val="solid"/>
          </a:ln>
        </p:spPr>
      </p:sp>
      <p:sp>
        <p:nvSpPr>
          <p:cNvPr id="25" name="Text 23"/>
          <p:cNvSpPr/>
          <p:nvPr/>
        </p:nvSpPr>
        <p:spPr>
          <a:xfrm>
            <a:off x="8193024" y="1984248"/>
            <a:ext cx="685800" cy="420624"/>
          </a:xfrm>
          <a:prstGeom prst="rect">
            <a:avLst/>
          </a:prstGeom>
          <a:noFill/>
          <a:ln/>
        </p:spPr>
        <p:txBody>
          <a:bodyPr wrap="square" lIns="0" tIns="0" rIns="0" bIns="0" rtlCol="0" anchor="ctr">
            <a:normAutofit/>
          </a:bodyPr>
          <a:lstStyle/>
          <a:p>
            <a:pPr algn="l" indent="0" marL="0">
              <a:buNone/>
            </a:pPr>
            <a:r>
              <a:rPr lang="en-US" sz="2200" b="1" dirty="0">
                <a:solidFill>
                  <a:srgbClr val="086247"/>
                </a:solidFill>
                <a:latin typeface="Aptos" pitchFamily="34" charset="0"/>
                <a:ea typeface="Aptos" pitchFamily="34" charset="-122"/>
                <a:cs typeface="Aptos" pitchFamily="34" charset="-120"/>
              </a:rPr>
              <a:t>03</a:t>
            </a:r>
            <a:endParaRPr lang="en-US" sz="2200" dirty="0"/>
          </a:p>
        </p:txBody>
      </p:sp>
      <p:sp>
        <p:nvSpPr>
          <p:cNvPr id="26" name="Shape 24"/>
          <p:cNvSpPr/>
          <p:nvPr/>
        </p:nvSpPr>
        <p:spPr>
          <a:xfrm>
            <a:off x="9518904" y="2048256"/>
            <a:ext cx="1417320" cy="274320"/>
          </a:xfrm>
          <a:prstGeom prst="roundRect">
            <a:avLst>
              <a:gd name="adj" fmla="val 26667"/>
            </a:avLst>
          </a:prstGeom>
          <a:solidFill>
            <a:srgbClr val="086247"/>
          </a:solidFill>
          <a:ln w="12700">
            <a:solidFill>
              <a:srgbClr val="086247">
                <a:alpha val="0"/>
              </a:srgbClr>
            </a:solidFill>
            <a:prstDash val="solid"/>
          </a:ln>
        </p:spPr>
      </p:sp>
      <p:sp>
        <p:nvSpPr>
          <p:cNvPr id="27" name="Text 25"/>
          <p:cNvSpPr/>
          <p:nvPr/>
        </p:nvSpPr>
        <p:spPr>
          <a:xfrm>
            <a:off x="9592056" y="2066544"/>
            <a:ext cx="1271016" cy="219456"/>
          </a:xfrm>
          <a:prstGeom prst="rect">
            <a:avLst/>
          </a:prstGeom>
          <a:noFill/>
          <a:ln/>
        </p:spPr>
        <p:txBody>
          <a:bodyPr wrap="square" lIns="0" tIns="0" rIns="0" bIns="0" rtlCol="0" anchor="ctr">
            <a:normAutofit/>
          </a:bodyPr>
          <a:lstStyle/>
          <a:p>
            <a:pPr algn="ctr" indent="0" marL="0">
              <a:buNone/>
            </a:pPr>
            <a:r>
              <a:rPr lang="en-US" sz="650" b="1" spc="80" kern="0" dirty="0">
                <a:solidFill>
                  <a:srgbClr val="FFFFFF"/>
                </a:solidFill>
                <a:latin typeface="Aptos" pitchFamily="34" charset="0"/>
                <a:ea typeface="Aptos" pitchFamily="34" charset="-122"/>
                <a:cs typeface="Aptos" pitchFamily="34" charset="-120"/>
              </a:rPr>
              <a:t>PREMIUMIZE PROOF</a:t>
            </a:r>
            <a:endParaRPr lang="en-US" sz="650" dirty="0"/>
          </a:p>
        </p:txBody>
      </p:sp>
      <p:sp>
        <p:nvSpPr>
          <p:cNvPr id="28" name="Text 26"/>
          <p:cNvSpPr/>
          <p:nvPr/>
        </p:nvSpPr>
        <p:spPr>
          <a:xfrm>
            <a:off x="8193024" y="2633472"/>
            <a:ext cx="2606040" cy="475488"/>
          </a:xfrm>
          <a:prstGeom prst="rect">
            <a:avLst/>
          </a:prstGeom>
          <a:noFill/>
          <a:ln/>
        </p:spPr>
        <p:txBody>
          <a:bodyPr wrap="square" lIns="0" tIns="0" rIns="0" bIns="0" rtlCol="0" anchor="ctr">
            <a:normAutofit/>
          </a:bodyPr>
          <a:lstStyle/>
          <a:p>
            <a:pPr algn="l" indent="0" marL="0">
              <a:buNone/>
            </a:pPr>
            <a:r>
              <a:rPr lang="en-US" sz="2400" b="1" dirty="0">
                <a:solidFill>
                  <a:srgbClr val="111113"/>
                </a:solidFill>
                <a:latin typeface="Aptos" pitchFamily="34" charset="0"/>
                <a:ea typeface="Aptos" pitchFamily="34" charset="-122"/>
                <a:cs typeface="Aptos" pitchFamily="34" charset="-120"/>
              </a:rPr>
              <a:t>Marketing</a:t>
            </a:r>
            <a:endParaRPr lang="en-US" sz="2400" dirty="0"/>
          </a:p>
        </p:txBody>
      </p:sp>
      <p:sp>
        <p:nvSpPr>
          <p:cNvPr id="29" name="Text 27"/>
          <p:cNvSpPr/>
          <p:nvPr/>
        </p:nvSpPr>
        <p:spPr>
          <a:xfrm>
            <a:off x="8193024" y="3255264"/>
            <a:ext cx="2697480" cy="1005840"/>
          </a:xfrm>
          <a:prstGeom prst="rect">
            <a:avLst/>
          </a:prstGeom>
          <a:noFill/>
          <a:ln/>
        </p:spPr>
        <p:txBody>
          <a:bodyPr wrap="square" lIns="0" tIns="0" rIns="0" bIns="0" rtlCol="0" anchor="t">
            <a:normAutofit/>
          </a:bodyPr>
          <a:lstStyle/>
          <a:p>
            <a:pPr algn="l" indent="0" marL="0">
              <a:buNone/>
            </a:pPr>
            <a:r>
              <a:rPr lang="en-US" sz="1100" dirty="0">
                <a:solidFill>
                  <a:srgbClr val="111113"/>
                </a:solidFill>
                <a:latin typeface="Aptos" pitchFamily="34" charset="0"/>
                <a:ea typeface="Aptos" pitchFamily="34" charset="-122"/>
                <a:cs typeface="Aptos" pitchFamily="34" charset="-120"/>
              </a:rPr>
              <a:t>Build a campaign around material innovation and packaging as design leadership, not sacrifice.</a:t>
            </a:r>
            <a:endParaRPr lang="en-US" sz="1100" dirty="0"/>
          </a:p>
        </p:txBody>
      </p:sp>
      <p:sp>
        <p:nvSpPr>
          <p:cNvPr id="30" name="Shape 28"/>
          <p:cNvSpPr/>
          <p:nvPr/>
        </p:nvSpPr>
        <p:spPr>
          <a:xfrm>
            <a:off x="8193024" y="4617720"/>
            <a:ext cx="2697480" cy="0"/>
          </a:xfrm>
          <a:prstGeom prst="line">
            <a:avLst/>
          </a:prstGeom>
          <a:noFill/>
          <a:ln w="12700">
            <a:solidFill>
              <a:srgbClr val="B7CFC3"/>
            </a:solidFill>
            <a:prstDash val="solid"/>
            <a:headEnd type="none"/>
            <a:tailEnd type="none"/>
          </a:ln>
        </p:spPr>
      </p:sp>
      <p:sp>
        <p:nvSpPr>
          <p:cNvPr id="31" name="Text 29"/>
          <p:cNvSpPr/>
          <p:nvPr/>
        </p:nvSpPr>
        <p:spPr>
          <a:xfrm>
            <a:off x="8193024" y="4846320"/>
            <a:ext cx="685800" cy="164592"/>
          </a:xfrm>
          <a:prstGeom prst="rect">
            <a:avLst/>
          </a:prstGeom>
          <a:noFill/>
          <a:ln/>
        </p:spPr>
        <p:txBody>
          <a:bodyPr wrap="square" lIns="0" tIns="0" rIns="0" bIns="0" rtlCol="0" anchor="ctr">
            <a:normAutofit/>
          </a:bodyPr>
          <a:lstStyle/>
          <a:p>
            <a:pPr algn="l" indent="0" marL="0">
              <a:buNone/>
            </a:pPr>
            <a:r>
              <a:rPr lang="en-US" sz="610" b="1" spc="80" kern="0" dirty="0">
                <a:solidFill>
                  <a:srgbClr val="111113"/>
                </a:solidFill>
                <a:latin typeface="Aptos" pitchFamily="34" charset="0"/>
                <a:ea typeface="Aptos" pitchFamily="34" charset="-122"/>
                <a:cs typeface="Aptos" pitchFamily="34" charset="-120"/>
              </a:rPr>
              <a:t>OWNER</a:t>
            </a:r>
            <a:endParaRPr lang="en-US" sz="610" dirty="0"/>
          </a:p>
        </p:txBody>
      </p:sp>
      <p:sp>
        <p:nvSpPr>
          <p:cNvPr id="32" name="Text 30"/>
          <p:cNvSpPr/>
          <p:nvPr/>
        </p:nvSpPr>
        <p:spPr>
          <a:xfrm>
            <a:off x="8193024" y="5138928"/>
            <a:ext cx="2697480" cy="329184"/>
          </a:xfrm>
          <a:prstGeom prst="rect">
            <a:avLst/>
          </a:prstGeom>
          <a:noFill/>
          <a:ln/>
        </p:spPr>
        <p:txBody>
          <a:bodyPr wrap="square" lIns="0" tIns="0" rIns="0" bIns="0" rtlCol="0" anchor="ctr">
            <a:normAutofit/>
          </a:bodyPr>
          <a:lstStyle/>
          <a:p>
            <a:pPr algn="l" indent="0" marL="0">
              <a:buNone/>
            </a:pPr>
            <a:r>
              <a:rPr lang="en-US" sz="950" b="1" dirty="0">
                <a:solidFill>
                  <a:srgbClr val="111113"/>
                </a:solidFill>
                <a:latin typeface="Aptos" pitchFamily="34" charset="0"/>
                <a:ea typeface="Aptos" pitchFamily="34" charset="-122"/>
                <a:cs typeface="Aptos" pitchFamily="34" charset="-120"/>
              </a:rPr>
              <a:t>Product Marketing + Brand</a:t>
            </a:r>
            <a:endParaRPr lang="en-US" sz="950" dirty="0"/>
          </a:p>
        </p:txBody>
      </p:sp>
      <p:sp>
        <p:nvSpPr>
          <p:cNvPr id="33" name="Shape 31"/>
          <p:cNvSpPr/>
          <p:nvPr/>
        </p:nvSpPr>
        <p:spPr>
          <a:xfrm>
            <a:off x="3867912" y="3438144"/>
            <a:ext cx="438912" cy="594360"/>
          </a:xfrm>
          <a:prstGeom prst="chevron">
            <a:avLst/>
          </a:prstGeom>
          <a:solidFill>
            <a:srgbClr val="F5F5F7"/>
          </a:solidFill>
          <a:ln w="12700">
            <a:solidFill>
              <a:srgbClr val="F5F5F7">
                <a:alpha val="0"/>
              </a:srgbClr>
            </a:solidFill>
            <a:prstDash val="solid"/>
          </a:ln>
        </p:spPr>
      </p:sp>
      <p:sp>
        <p:nvSpPr>
          <p:cNvPr id="34" name="Shape 32"/>
          <p:cNvSpPr/>
          <p:nvPr/>
        </p:nvSpPr>
        <p:spPr>
          <a:xfrm>
            <a:off x="7516368" y="3438144"/>
            <a:ext cx="438912" cy="594360"/>
          </a:xfrm>
          <a:prstGeom prst="chevron">
            <a:avLst/>
          </a:prstGeom>
          <a:solidFill>
            <a:srgbClr val="F5F5F7"/>
          </a:solidFill>
          <a:ln w="12700">
            <a:solidFill>
              <a:srgbClr val="F5F5F7">
                <a:alpha val="0"/>
              </a:srgbClr>
            </a:solidFill>
            <a:prstDash val="solid"/>
          </a:ln>
        </p:spPr>
      </p:sp>
      <p:sp>
        <p:nvSpPr>
          <p:cNvPr id="35" name="Text 33"/>
          <p:cNvSpPr/>
          <p:nvPr/>
        </p:nvSpPr>
        <p:spPr>
          <a:xfrm>
            <a:off x="749808" y="5971032"/>
            <a:ext cx="10698480" cy="237744"/>
          </a:xfrm>
          <a:prstGeom prst="rect">
            <a:avLst/>
          </a:prstGeom>
          <a:noFill/>
          <a:ln/>
        </p:spPr>
        <p:txBody>
          <a:bodyPr wrap="square" lIns="0" tIns="0" rIns="0" bIns="0" rtlCol="0" anchor="ctr">
            <a:normAutofit/>
          </a:bodyPr>
          <a:lstStyle/>
          <a:p>
            <a:pPr algn="ctr" indent="0" marL="0">
              <a:buNone/>
            </a:pPr>
            <a:r>
              <a:rPr lang="en-US" sz="1100" b="1" dirty="0">
                <a:solidFill>
                  <a:srgbClr val="086247"/>
                </a:solidFill>
                <a:latin typeface="Aptos" pitchFamily="34" charset="0"/>
                <a:ea typeface="Aptos" pitchFamily="34" charset="-122"/>
                <a:cs typeface="Aptos" pitchFamily="34" charset="-120"/>
              </a:rPr>
              <a:t>Decision requested: authorize claim library, sales enablement sprint, and Q3/Q4 campaign integration.</a:t>
            </a:r>
            <a:endParaRPr lang="en-US" sz="1100" dirty="0"/>
          </a:p>
        </p:txBody>
      </p:sp>
      <p:sp>
        <p:nvSpPr>
          <p:cNvPr id="36" name="Text 34">
            <a:hlinkClick r:id="rId1" tooltip=""/>
          </p:cNvPr>
          <p:cNvSpPr/>
          <p:nvPr/>
        </p:nvSpPr>
        <p:spPr>
          <a:xfrm>
            <a:off x="594360" y="6245352"/>
            <a:ext cx="10881360" cy="128016"/>
          </a:xfrm>
          <a:prstGeom prst="rect">
            <a:avLst/>
          </a:prstGeom>
          <a:noFill/>
          <a:ln/>
        </p:spPr>
        <p:txBody>
          <a:bodyPr wrap="square" lIns="0" tIns="0" rIns="0" bIns="0" rtlCol="0" anchor="ctr">
            <a:normAutofit/>
          </a:bodyPr>
          <a:lstStyle/>
          <a:p>
            <a:pPr algn="l" indent="0" marL="0">
              <a:buNone/>
            </a:pPr>
            <a:r>
              <a:rPr lang="en-US" sz="570" i="1" u="sng" dirty="0">
                <a:solidFill>
                  <a:srgbClr val="77777C"/>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foundation: Apple 2026 Environmental Progress Report and Apple Newsroom (Apr. 16, 2026). All external claims should retain report qualifiers.</a:t>
            </a:r>
            <a:endParaRPr lang="en-US" sz="570" dirty="0"/>
          </a:p>
        </p:txBody>
      </p:sp>
      <p:sp>
        <p:nvSpPr>
          <p:cNvPr id="25" name="Slide Number Placeholder 0"/>
          <p:cNvSpPr>
            <a:spLocks noGrp="1"/>
          </p:cNvSpPr>
          <p:nvPr>
            <p:ph type="sldNum" sz="quarter" idx="4294967295"/>
          </p:nvPr>
        </p:nvSpPr>
        <p:spPr>
          <a:xfrm>
            <a:off x="11210544" y="6519672"/>
            <a:ext cx="411480" cy="146304"/>
          </a:xfrm>
          <a:prstGeom prst="rect">
            <a:avLst/>
          </a:prstGeom>
          <a:extLst>
            <a:ext uri="{C572A759-6A51-4108-AA02-DFA0A04FC94B}">
              <ma14:wrappingTextBoxFlag xmlns:ma14="http://schemas.microsoft.com/office/mac/drawingml/2011/main" val="0"/>
            </a:ext>
          </a:extLst>
        </p:spPr>
        <p:txBody>
          <a:bodyPr lIns="0" tIns="0" rIns="0" bIns="0"/>
          <a:lstStyle>
            <a:lvl1pPr>
              <a:defRPr sz="600">
                <a:solidFill>
                  <a:srgbClr val="6E6E73"/>
                </a:solidFill>
                <a:latin typeface="Aptos"/>
                <a:ea typeface="Aptos"/>
                <a:cs typeface="Aptos"/>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Cubic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Apple FY2025: Environmental Progress as a Business &amp; Sales Driver</dc:title>
  <dc:subject>Apple FY2025 environmental progress as a business and sales driver</dc:subject>
  <dc:creator>Cubic</dc:creator>
  <cp:lastModifiedBy>Cubic</cp:lastModifiedBy>
  <cp:revision>1</cp:revision>
  <dcterms:created xsi:type="dcterms:W3CDTF">2026-08-14T16:58:46Z</dcterms:created>
  <dcterms:modified xsi:type="dcterms:W3CDTF">2026-08-14T16:58:46Z</dcterms:modified>
</cp:coreProperties>
</file>